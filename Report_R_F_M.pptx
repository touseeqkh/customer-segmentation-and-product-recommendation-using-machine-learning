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3"/>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10691800" cx="7559675"/>
  <p:notesSz cx="6858000" cy="9144000"/>
  <p:embeddedFontLst>
    <p:embeddedFont>
      <p:font typeface="Manrope"/>
      <p:regular r:id="rId30"/>
      <p:bold r:id="rId31"/>
    </p:embeddedFont>
    <p:embeddedFont>
      <p:font typeface="Didact Gothic"/>
      <p:regular r:id="rId32"/>
    </p:embeddedFont>
    <p:embeddedFont>
      <p:font typeface="Oswal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anrope-bold.fntdata"/><Relationship Id="rId30" Type="http://schemas.openxmlformats.org/officeDocument/2006/relationships/font" Target="fonts/Manrope-regular.fntdata"/><Relationship Id="rId11" Type="http://schemas.openxmlformats.org/officeDocument/2006/relationships/slide" Target="slides/slide4.xml"/><Relationship Id="rId33" Type="http://schemas.openxmlformats.org/officeDocument/2006/relationships/font" Target="fonts/Oswald-regular.fntdata"/><Relationship Id="rId10" Type="http://schemas.openxmlformats.org/officeDocument/2006/relationships/slide" Target="slides/slide3.xml"/><Relationship Id="rId32" Type="http://schemas.openxmlformats.org/officeDocument/2006/relationships/font" Target="fonts/DidactGothic-regular.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Oswald-bold.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1" name="Google Shape;44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3" name="Google Shape;543;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7" name="Google Shape;557;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2" name="Google Shape;572;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7" name="Google Shape;587;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1" name="Google Shape;621;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5" name="Google Shape;64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2"/>
          <p:cNvSpPr txBox="1"/>
          <p:nvPr>
            <p:ph idx="1" type="subTitle"/>
          </p:nvPr>
        </p:nvSpPr>
        <p:spPr>
          <a:xfrm>
            <a:off x="685800" y="1564560"/>
            <a:ext cx="6188040" cy="26402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 name="Shape 13"/>
        <p:cNvGrpSpPr/>
        <p:nvPr/>
      </p:nvGrpSpPr>
      <p:grpSpPr>
        <a:xfrm>
          <a:off x="0" y="0"/>
          <a:ext cx="0" cy="0"/>
          <a:chOff x="0" y="0"/>
          <a:chExt cx="0" cy="0"/>
        </a:xfrm>
      </p:grpSpPr>
      <p:sp>
        <p:nvSpPr>
          <p:cNvPr id="14" name="Google Shape;14;p4"/>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
          <p:cNvSpPr txBox="1"/>
          <p:nvPr>
            <p:ph idx="1" type="body"/>
          </p:nvPr>
        </p:nvSpPr>
        <p:spPr>
          <a:xfrm>
            <a:off x="685800" y="1564560"/>
            <a:ext cx="618804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 name="Shape 16"/>
        <p:cNvGrpSpPr/>
        <p:nvPr/>
      </p:nvGrpSpPr>
      <p:grpSpPr>
        <a:xfrm>
          <a:off x="0" y="0"/>
          <a:ext cx="0" cy="0"/>
          <a:chOff x="0" y="0"/>
          <a:chExt cx="0" cy="0"/>
        </a:xfrm>
      </p:grpSpPr>
      <p:sp>
        <p:nvSpPr>
          <p:cNvPr id="17" name="Google Shape;17;p5"/>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5"/>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6"/>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 name="Shape 22"/>
        <p:cNvGrpSpPr/>
        <p:nvPr/>
      </p:nvGrpSpPr>
      <p:grpSpPr>
        <a:xfrm>
          <a:off x="0" y="0"/>
          <a:ext cx="0" cy="0"/>
          <a:chOff x="0" y="0"/>
          <a:chExt cx="0" cy="0"/>
        </a:xfrm>
      </p:grpSpPr>
      <p:sp>
        <p:nvSpPr>
          <p:cNvPr id="23" name="Google Shape;23;p7"/>
          <p:cNvSpPr txBox="1"/>
          <p:nvPr>
            <p:ph idx="1" type="subTitle"/>
          </p:nvPr>
        </p:nvSpPr>
        <p:spPr>
          <a:xfrm>
            <a:off x="685800" y="667080"/>
            <a:ext cx="6188040" cy="37994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 name="Shape 24"/>
        <p:cNvGrpSpPr/>
        <p:nvPr/>
      </p:nvGrpSpPr>
      <p:grpSpPr>
        <a:xfrm>
          <a:off x="0" y="0"/>
          <a:ext cx="0" cy="0"/>
          <a:chOff x="0" y="0"/>
          <a:chExt cx="0" cy="0"/>
        </a:xfrm>
      </p:grpSpPr>
      <p:sp>
        <p:nvSpPr>
          <p:cNvPr id="25" name="Google Shape;25;p8"/>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8"/>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8"/>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9"/>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9"/>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9"/>
          <p:cNvSpPr txBox="1"/>
          <p:nvPr>
            <p:ph idx="3"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4" name="Shape 34"/>
        <p:cNvGrpSpPr/>
        <p:nvPr/>
      </p:nvGrpSpPr>
      <p:grpSpPr>
        <a:xfrm>
          <a:off x="0" y="0"/>
          <a:ext cx="0" cy="0"/>
          <a:chOff x="0" y="0"/>
          <a:chExt cx="0" cy="0"/>
        </a:xfrm>
      </p:grpSpPr>
      <p:sp>
        <p:nvSpPr>
          <p:cNvPr id="35" name="Google Shape;35;p10"/>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0"/>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0"/>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10"/>
          <p:cNvSpPr txBox="1"/>
          <p:nvPr>
            <p:ph idx="3"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9" name="Shape 39"/>
        <p:cNvGrpSpPr/>
        <p:nvPr/>
      </p:nvGrpSpPr>
      <p:grpSpPr>
        <a:xfrm>
          <a:off x="0" y="0"/>
          <a:ext cx="0" cy="0"/>
          <a:chOff x="0" y="0"/>
          <a:chExt cx="0" cy="0"/>
        </a:xfrm>
      </p:grpSpPr>
      <p:sp>
        <p:nvSpPr>
          <p:cNvPr id="40" name="Google Shape;40;p11"/>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1"/>
          <p:cNvSpPr txBox="1"/>
          <p:nvPr>
            <p:ph idx="1" type="body"/>
          </p:nvPr>
        </p:nvSpPr>
        <p:spPr>
          <a:xfrm>
            <a:off x="685800" y="156456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11"/>
          <p:cNvSpPr txBox="1"/>
          <p:nvPr>
            <p:ph idx="2"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3" name="Shape 43"/>
        <p:cNvGrpSpPr/>
        <p:nvPr/>
      </p:nvGrpSpPr>
      <p:grpSpPr>
        <a:xfrm>
          <a:off x="0" y="0"/>
          <a:ext cx="0" cy="0"/>
          <a:chOff x="0" y="0"/>
          <a:chExt cx="0" cy="0"/>
        </a:xfrm>
      </p:grpSpPr>
      <p:sp>
        <p:nvSpPr>
          <p:cNvPr id="44" name="Google Shape;44;p1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2"/>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12"/>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12"/>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12"/>
          <p:cNvSpPr txBox="1"/>
          <p:nvPr>
            <p:ph idx="4"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9" name="Shape 49"/>
        <p:cNvGrpSpPr/>
        <p:nvPr/>
      </p:nvGrpSpPr>
      <p:grpSpPr>
        <a:xfrm>
          <a:off x="0" y="0"/>
          <a:ext cx="0" cy="0"/>
          <a:chOff x="0" y="0"/>
          <a:chExt cx="0" cy="0"/>
        </a:xfrm>
      </p:grpSpPr>
      <p:sp>
        <p:nvSpPr>
          <p:cNvPr id="50" name="Google Shape;50;p13"/>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3"/>
          <p:cNvSpPr txBox="1"/>
          <p:nvPr>
            <p:ph idx="1" type="body"/>
          </p:nvPr>
        </p:nvSpPr>
        <p:spPr>
          <a:xfrm>
            <a:off x="68580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13"/>
          <p:cNvSpPr txBox="1"/>
          <p:nvPr>
            <p:ph idx="2" type="body"/>
          </p:nvPr>
        </p:nvSpPr>
        <p:spPr>
          <a:xfrm>
            <a:off x="277812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13"/>
          <p:cNvSpPr txBox="1"/>
          <p:nvPr>
            <p:ph idx="3" type="body"/>
          </p:nvPr>
        </p:nvSpPr>
        <p:spPr>
          <a:xfrm>
            <a:off x="487044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13"/>
          <p:cNvSpPr txBox="1"/>
          <p:nvPr>
            <p:ph idx="4" type="body"/>
          </p:nvPr>
        </p:nvSpPr>
        <p:spPr>
          <a:xfrm>
            <a:off x="68580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13"/>
          <p:cNvSpPr txBox="1"/>
          <p:nvPr>
            <p:ph idx="5" type="body"/>
          </p:nvPr>
        </p:nvSpPr>
        <p:spPr>
          <a:xfrm>
            <a:off x="277812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13"/>
          <p:cNvSpPr txBox="1"/>
          <p:nvPr>
            <p:ph idx="6" type="body"/>
          </p:nvPr>
        </p:nvSpPr>
        <p:spPr>
          <a:xfrm>
            <a:off x="487044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0" name="Shape 70"/>
        <p:cNvGrpSpPr/>
        <p:nvPr/>
      </p:nvGrpSpPr>
      <p:grpSpPr>
        <a:xfrm>
          <a:off x="0" y="0"/>
          <a:ext cx="0" cy="0"/>
          <a:chOff x="0" y="0"/>
          <a:chExt cx="0" cy="0"/>
        </a:xfrm>
      </p:grpSpPr>
      <p:sp>
        <p:nvSpPr>
          <p:cNvPr id="71" name="Google Shape;71;p16"/>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 type="body"/>
          </p:nvPr>
        </p:nvSpPr>
        <p:spPr>
          <a:xfrm>
            <a:off x="685800" y="1564560"/>
            <a:ext cx="618804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3" name="Shape 73"/>
        <p:cNvGrpSpPr/>
        <p:nvPr/>
      </p:nvGrpSpPr>
      <p:grpSpPr>
        <a:xfrm>
          <a:off x="0" y="0"/>
          <a:ext cx="0" cy="0"/>
          <a:chOff x="0" y="0"/>
          <a:chExt cx="0" cy="0"/>
        </a:xfrm>
      </p:grpSpPr>
      <p:sp>
        <p:nvSpPr>
          <p:cNvPr id="74" name="Google Shape;74;p17"/>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7"/>
          <p:cNvSpPr txBox="1"/>
          <p:nvPr>
            <p:ph idx="1" type="subTitle"/>
          </p:nvPr>
        </p:nvSpPr>
        <p:spPr>
          <a:xfrm>
            <a:off x="685800" y="1564560"/>
            <a:ext cx="6188040" cy="26402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8"/>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9" name="Google Shape;79;p18"/>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685800" y="667080"/>
            <a:ext cx="6188040" cy="37994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1"/>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7" name="Google Shape;87;p21"/>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8" name="Google Shape;88;p21"/>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2"/>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2" name="Google Shape;92;p22"/>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3" name="Google Shape;93;p22"/>
          <p:cNvSpPr txBox="1"/>
          <p:nvPr>
            <p:ph idx="3"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3"/>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7" name="Google Shape;97;p23"/>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23"/>
          <p:cNvSpPr txBox="1"/>
          <p:nvPr>
            <p:ph idx="3"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4"/>
          <p:cNvSpPr txBox="1"/>
          <p:nvPr>
            <p:ph idx="1" type="body"/>
          </p:nvPr>
        </p:nvSpPr>
        <p:spPr>
          <a:xfrm>
            <a:off x="685800" y="156456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2" name="Google Shape;102;p24"/>
          <p:cNvSpPr txBox="1"/>
          <p:nvPr>
            <p:ph idx="2"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5"/>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6" name="Google Shape;106;p25"/>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7" name="Google Shape;107;p25"/>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8" name="Google Shape;108;p25"/>
          <p:cNvSpPr txBox="1"/>
          <p:nvPr>
            <p:ph idx="4"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6"/>
          <p:cNvSpPr txBox="1"/>
          <p:nvPr>
            <p:ph idx="1" type="body"/>
          </p:nvPr>
        </p:nvSpPr>
        <p:spPr>
          <a:xfrm>
            <a:off x="68580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2" name="Google Shape;112;p26"/>
          <p:cNvSpPr txBox="1"/>
          <p:nvPr>
            <p:ph idx="2" type="body"/>
          </p:nvPr>
        </p:nvSpPr>
        <p:spPr>
          <a:xfrm>
            <a:off x="277812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3" name="Google Shape;113;p26"/>
          <p:cNvSpPr txBox="1"/>
          <p:nvPr>
            <p:ph idx="3" type="body"/>
          </p:nvPr>
        </p:nvSpPr>
        <p:spPr>
          <a:xfrm>
            <a:off x="487044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4" name="Google Shape;114;p26"/>
          <p:cNvSpPr txBox="1"/>
          <p:nvPr>
            <p:ph idx="4" type="body"/>
          </p:nvPr>
        </p:nvSpPr>
        <p:spPr>
          <a:xfrm>
            <a:off x="68580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5" name="Google Shape;115;p26"/>
          <p:cNvSpPr txBox="1"/>
          <p:nvPr>
            <p:ph idx="5" type="body"/>
          </p:nvPr>
        </p:nvSpPr>
        <p:spPr>
          <a:xfrm>
            <a:off x="277812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6" name="Google Shape;116;p26"/>
          <p:cNvSpPr txBox="1"/>
          <p:nvPr>
            <p:ph idx="6" type="body"/>
          </p:nvPr>
        </p:nvSpPr>
        <p:spPr>
          <a:xfrm>
            <a:off x="487044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2" name="Shape 12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3" name="Shape 123"/>
        <p:cNvGrpSpPr/>
        <p:nvPr/>
      </p:nvGrpSpPr>
      <p:grpSpPr>
        <a:xfrm>
          <a:off x="0" y="0"/>
          <a:ext cx="0" cy="0"/>
          <a:chOff x="0" y="0"/>
          <a:chExt cx="0" cy="0"/>
        </a:xfrm>
      </p:grpSpPr>
      <p:sp>
        <p:nvSpPr>
          <p:cNvPr id="124" name="Google Shape;124;p29"/>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9"/>
          <p:cNvSpPr txBox="1"/>
          <p:nvPr>
            <p:ph idx="1" type="subTitle"/>
          </p:nvPr>
        </p:nvSpPr>
        <p:spPr>
          <a:xfrm>
            <a:off x="685800" y="1564560"/>
            <a:ext cx="6188040" cy="26402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6" name="Shape 126"/>
        <p:cNvGrpSpPr/>
        <p:nvPr/>
      </p:nvGrpSpPr>
      <p:grpSpPr>
        <a:xfrm>
          <a:off x="0" y="0"/>
          <a:ext cx="0" cy="0"/>
          <a:chOff x="0" y="0"/>
          <a:chExt cx="0" cy="0"/>
        </a:xfrm>
      </p:grpSpPr>
      <p:sp>
        <p:nvSpPr>
          <p:cNvPr id="127" name="Google Shape;127;p30"/>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0"/>
          <p:cNvSpPr txBox="1"/>
          <p:nvPr>
            <p:ph idx="1" type="body"/>
          </p:nvPr>
        </p:nvSpPr>
        <p:spPr>
          <a:xfrm>
            <a:off x="685800" y="1564560"/>
            <a:ext cx="618804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9" name="Shape 129"/>
        <p:cNvGrpSpPr/>
        <p:nvPr/>
      </p:nvGrpSpPr>
      <p:grpSpPr>
        <a:xfrm>
          <a:off x="0" y="0"/>
          <a:ext cx="0" cy="0"/>
          <a:chOff x="0" y="0"/>
          <a:chExt cx="0" cy="0"/>
        </a:xfrm>
      </p:grpSpPr>
      <p:sp>
        <p:nvSpPr>
          <p:cNvPr id="130" name="Google Shape;130;p31"/>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2" name="Google Shape;132;p31"/>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5" name="Shape 135"/>
        <p:cNvGrpSpPr/>
        <p:nvPr/>
      </p:nvGrpSpPr>
      <p:grpSpPr>
        <a:xfrm>
          <a:off x="0" y="0"/>
          <a:ext cx="0" cy="0"/>
          <a:chOff x="0" y="0"/>
          <a:chExt cx="0" cy="0"/>
        </a:xfrm>
      </p:grpSpPr>
      <p:sp>
        <p:nvSpPr>
          <p:cNvPr id="136" name="Google Shape;136;p33"/>
          <p:cNvSpPr txBox="1"/>
          <p:nvPr>
            <p:ph idx="1" type="subTitle"/>
          </p:nvPr>
        </p:nvSpPr>
        <p:spPr>
          <a:xfrm>
            <a:off x="685800" y="667080"/>
            <a:ext cx="6188040" cy="37994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7" name="Shape 137"/>
        <p:cNvGrpSpPr/>
        <p:nvPr/>
      </p:nvGrpSpPr>
      <p:grpSpPr>
        <a:xfrm>
          <a:off x="0" y="0"/>
          <a:ext cx="0" cy="0"/>
          <a:chOff x="0" y="0"/>
          <a:chExt cx="0" cy="0"/>
        </a:xfrm>
      </p:grpSpPr>
      <p:sp>
        <p:nvSpPr>
          <p:cNvPr id="138" name="Google Shape;138;p34"/>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4"/>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0" name="Google Shape;140;p34"/>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1" name="Google Shape;141;p34"/>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2" name="Shape 142"/>
        <p:cNvGrpSpPr/>
        <p:nvPr/>
      </p:nvGrpSpPr>
      <p:grpSpPr>
        <a:xfrm>
          <a:off x="0" y="0"/>
          <a:ext cx="0" cy="0"/>
          <a:chOff x="0" y="0"/>
          <a:chExt cx="0" cy="0"/>
        </a:xfrm>
      </p:grpSpPr>
      <p:sp>
        <p:nvSpPr>
          <p:cNvPr id="143" name="Google Shape;143;p35"/>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5"/>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5" name="Google Shape;145;p35"/>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6" name="Google Shape;146;p35"/>
          <p:cNvSpPr txBox="1"/>
          <p:nvPr>
            <p:ph idx="3"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7" name="Shape 147"/>
        <p:cNvGrpSpPr/>
        <p:nvPr/>
      </p:nvGrpSpPr>
      <p:grpSpPr>
        <a:xfrm>
          <a:off x="0" y="0"/>
          <a:ext cx="0" cy="0"/>
          <a:chOff x="0" y="0"/>
          <a:chExt cx="0" cy="0"/>
        </a:xfrm>
      </p:grpSpPr>
      <p:sp>
        <p:nvSpPr>
          <p:cNvPr id="148" name="Google Shape;148;p36"/>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6"/>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0" name="Google Shape;150;p36"/>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1" name="Google Shape;151;p36"/>
          <p:cNvSpPr txBox="1"/>
          <p:nvPr>
            <p:ph idx="3"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2" name="Shape 152"/>
        <p:cNvGrpSpPr/>
        <p:nvPr/>
      </p:nvGrpSpPr>
      <p:grpSpPr>
        <a:xfrm>
          <a:off x="0" y="0"/>
          <a:ext cx="0" cy="0"/>
          <a:chOff x="0" y="0"/>
          <a:chExt cx="0" cy="0"/>
        </a:xfrm>
      </p:grpSpPr>
      <p:sp>
        <p:nvSpPr>
          <p:cNvPr id="153" name="Google Shape;153;p37"/>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7"/>
          <p:cNvSpPr txBox="1"/>
          <p:nvPr>
            <p:ph idx="1" type="body"/>
          </p:nvPr>
        </p:nvSpPr>
        <p:spPr>
          <a:xfrm>
            <a:off x="685800" y="156456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5" name="Google Shape;155;p37"/>
          <p:cNvSpPr txBox="1"/>
          <p:nvPr>
            <p:ph idx="2"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6" name="Shape 156"/>
        <p:cNvGrpSpPr/>
        <p:nvPr/>
      </p:nvGrpSpPr>
      <p:grpSpPr>
        <a:xfrm>
          <a:off x="0" y="0"/>
          <a:ext cx="0" cy="0"/>
          <a:chOff x="0" y="0"/>
          <a:chExt cx="0" cy="0"/>
        </a:xfrm>
      </p:grpSpPr>
      <p:sp>
        <p:nvSpPr>
          <p:cNvPr id="157" name="Google Shape;157;p38"/>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8"/>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9" name="Google Shape;159;p38"/>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0" name="Google Shape;160;p38"/>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1" name="Google Shape;161;p38"/>
          <p:cNvSpPr txBox="1"/>
          <p:nvPr>
            <p:ph idx="4"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2" name="Shape 162"/>
        <p:cNvGrpSpPr/>
        <p:nvPr/>
      </p:nvGrpSpPr>
      <p:grpSpPr>
        <a:xfrm>
          <a:off x="0" y="0"/>
          <a:ext cx="0" cy="0"/>
          <a:chOff x="0" y="0"/>
          <a:chExt cx="0" cy="0"/>
        </a:xfrm>
      </p:grpSpPr>
      <p:sp>
        <p:nvSpPr>
          <p:cNvPr id="163" name="Google Shape;163;p39"/>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39"/>
          <p:cNvSpPr txBox="1"/>
          <p:nvPr>
            <p:ph idx="1" type="body"/>
          </p:nvPr>
        </p:nvSpPr>
        <p:spPr>
          <a:xfrm>
            <a:off x="68580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5" name="Google Shape;165;p39"/>
          <p:cNvSpPr txBox="1"/>
          <p:nvPr>
            <p:ph idx="2" type="body"/>
          </p:nvPr>
        </p:nvSpPr>
        <p:spPr>
          <a:xfrm>
            <a:off x="277812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6" name="Google Shape;166;p39"/>
          <p:cNvSpPr txBox="1"/>
          <p:nvPr>
            <p:ph idx="3" type="body"/>
          </p:nvPr>
        </p:nvSpPr>
        <p:spPr>
          <a:xfrm>
            <a:off x="487044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7" name="Google Shape;167;p39"/>
          <p:cNvSpPr txBox="1"/>
          <p:nvPr>
            <p:ph idx="4" type="body"/>
          </p:nvPr>
        </p:nvSpPr>
        <p:spPr>
          <a:xfrm>
            <a:off x="68580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8" name="Google Shape;168;p39"/>
          <p:cNvSpPr txBox="1"/>
          <p:nvPr>
            <p:ph idx="5" type="body"/>
          </p:nvPr>
        </p:nvSpPr>
        <p:spPr>
          <a:xfrm>
            <a:off x="277812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9" name="Google Shape;169;p39"/>
          <p:cNvSpPr txBox="1"/>
          <p:nvPr>
            <p:ph idx="6" type="body"/>
          </p:nvPr>
        </p:nvSpPr>
        <p:spPr>
          <a:xfrm>
            <a:off x="487044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8" name="Shape 178"/>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9" name="Shape 179"/>
        <p:cNvGrpSpPr/>
        <p:nvPr/>
      </p:nvGrpSpPr>
      <p:grpSpPr>
        <a:xfrm>
          <a:off x="0" y="0"/>
          <a:ext cx="0" cy="0"/>
          <a:chOff x="0" y="0"/>
          <a:chExt cx="0" cy="0"/>
        </a:xfrm>
      </p:grpSpPr>
      <p:sp>
        <p:nvSpPr>
          <p:cNvPr id="180" name="Google Shape;180;p4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42"/>
          <p:cNvSpPr txBox="1"/>
          <p:nvPr>
            <p:ph idx="1" type="subTitle"/>
          </p:nvPr>
        </p:nvSpPr>
        <p:spPr>
          <a:xfrm>
            <a:off x="685800" y="1564560"/>
            <a:ext cx="6188040" cy="26402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2" name="Shape 182"/>
        <p:cNvGrpSpPr/>
        <p:nvPr/>
      </p:nvGrpSpPr>
      <p:grpSpPr>
        <a:xfrm>
          <a:off x="0" y="0"/>
          <a:ext cx="0" cy="0"/>
          <a:chOff x="0" y="0"/>
          <a:chExt cx="0" cy="0"/>
        </a:xfrm>
      </p:grpSpPr>
      <p:sp>
        <p:nvSpPr>
          <p:cNvPr id="183" name="Google Shape;183;p43"/>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43"/>
          <p:cNvSpPr txBox="1"/>
          <p:nvPr>
            <p:ph idx="1" type="body"/>
          </p:nvPr>
        </p:nvSpPr>
        <p:spPr>
          <a:xfrm>
            <a:off x="685800" y="1564560"/>
            <a:ext cx="618804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5" name="Shape 185"/>
        <p:cNvGrpSpPr/>
        <p:nvPr/>
      </p:nvGrpSpPr>
      <p:grpSpPr>
        <a:xfrm>
          <a:off x="0" y="0"/>
          <a:ext cx="0" cy="0"/>
          <a:chOff x="0" y="0"/>
          <a:chExt cx="0" cy="0"/>
        </a:xfrm>
      </p:grpSpPr>
      <p:sp>
        <p:nvSpPr>
          <p:cNvPr id="186" name="Google Shape;186;p44"/>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44"/>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8" name="Google Shape;188;p44"/>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45"/>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1" name="Shape 191"/>
        <p:cNvGrpSpPr/>
        <p:nvPr/>
      </p:nvGrpSpPr>
      <p:grpSpPr>
        <a:xfrm>
          <a:off x="0" y="0"/>
          <a:ext cx="0" cy="0"/>
          <a:chOff x="0" y="0"/>
          <a:chExt cx="0" cy="0"/>
        </a:xfrm>
      </p:grpSpPr>
      <p:sp>
        <p:nvSpPr>
          <p:cNvPr id="192" name="Google Shape;192;p46"/>
          <p:cNvSpPr txBox="1"/>
          <p:nvPr>
            <p:ph idx="1" type="subTitle"/>
          </p:nvPr>
        </p:nvSpPr>
        <p:spPr>
          <a:xfrm>
            <a:off x="685800" y="667080"/>
            <a:ext cx="6188040" cy="37994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3" name="Shape 193"/>
        <p:cNvGrpSpPr/>
        <p:nvPr/>
      </p:nvGrpSpPr>
      <p:grpSpPr>
        <a:xfrm>
          <a:off x="0" y="0"/>
          <a:ext cx="0" cy="0"/>
          <a:chOff x="0" y="0"/>
          <a:chExt cx="0" cy="0"/>
        </a:xfrm>
      </p:grpSpPr>
      <p:sp>
        <p:nvSpPr>
          <p:cNvPr id="194" name="Google Shape;194;p47"/>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47"/>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6" name="Google Shape;196;p47"/>
          <p:cNvSpPr txBox="1"/>
          <p:nvPr>
            <p:ph idx="2" type="body"/>
          </p:nvPr>
        </p:nvSpPr>
        <p:spPr>
          <a:xfrm>
            <a:off x="385668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7" name="Google Shape;197;p47"/>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8" name="Shape 198"/>
        <p:cNvGrpSpPr/>
        <p:nvPr/>
      </p:nvGrpSpPr>
      <p:grpSpPr>
        <a:xfrm>
          <a:off x="0" y="0"/>
          <a:ext cx="0" cy="0"/>
          <a:chOff x="0" y="0"/>
          <a:chExt cx="0" cy="0"/>
        </a:xfrm>
      </p:grpSpPr>
      <p:sp>
        <p:nvSpPr>
          <p:cNvPr id="199" name="Google Shape;199;p48"/>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48"/>
          <p:cNvSpPr txBox="1"/>
          <p:nvPr>
            <p:ph idx="1" type="body"/>
          </p:nvPr>
        </p:nvSpPr>
        <p:spPr>
          <a:xfrm>
            <a:off x="685800" y="1564560"/>
            <a:ext cx="3019680" cy="26402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1" name="Google Shape;201;p48"/>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2" name="Google Shape;202;p48"/>
          <p:cNvSpPr txBox="1"/>
          <p:nvPr>
            <p:ph idx="3"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3" name="Shape 203"/>
        <p:cNvGrpSpPr/>
        <p:nvPr/>
      </p:nvGrpSpPr>
      <p:grpSpPr>
        <a:xfrm>
          <a:off x="0" y="0"/>
          <a:ext cx="0" cy="0"/>
          <a:chOff x="0" y="0"/>
          <a:chExt cx="0" cy="0"/>
        </a:xfrm>
      </p:grpSpPr>
      <p:sp>
        <p:nvSpPr>
          <p:cNvPr id="204" name="Google Shape;204;p49"/>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49"/>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6" name="Google Shape;206;p49"/>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7" name="Google Shape;207;p49"/>
          <p:cNvSpPr txBox="1"/>
          <p:nvPr>
            <p:ph idx="3"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8" name="Shape 208"/>
        <p:cNvGrpSpPr/>
        <p:nvPr/>
      </p:nvGrpSpPr>
      <p:grpSpPr>
        <a:xfrm>
          <a:off x="0" y="0"/>
          <a:ext cx="0" cy="0"/>
          <a:chOff x="0" y="0"/>
          <a:chExt cx="0" cy="0"/>
        </a:xfrm>
      </p:grpSpPr>
      <p:sp>
        <p:nvSpPr>
          <p:cNvPr id="209" name="Google Shape;209;p50"/>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50"/>
          <p:cNvSpPr txBox="1"/>
          <p:nvPr>
            <p:ph idx="1" type="body"/>
          </p:nvPr>
        </p:nvSpPr>
        <p:spPr>
          <a:xfrm>
            <a:off x="685800" y="156456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1" name="Google Shape;211;p50"/>
          <p:cNvSpPr txBox="1"/>
          <p:nvPr>
            <p:ph idx="2" type="body"/>
          </p:nvPr>
        </p:nvSpPr>
        <p:spPr>
          <a:xfrm>
            <a:off x="685800" y="2943720"/>
            <a:ext cx="61880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2" name="Shape 212"/>
        <p:cNvGrpSpPr/>
        <p:nvPr/>
      </p:nvGrpSpPr>
      <p:grpSpPr>
        <a:xfrm>
          <a:off x="0" y="0"/>
          <a:ext cx="0" cy="0"/>
          <a:chOff x="0" y="0"/>
          <a:chExt cx="0" cy="0"/>
        </a:xfrm>
      </p:grpSpPr>
      <p:sp>
        <p:nvSpPr>
          <p:cNvPr id="213" name="Google Shape;213;p51"/>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51"/>
          <p:cNvSpPr txBox="1"/>
          <p:nvPr>
            <p:ph idx="1" type="body"/>
          </p:nvPr>
        </p:nvSpPr>
        <p:spPr>
          <a:xfrm>
            <a:off x="68580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5" name="Google Shape;215;p51"/>
          <p:cNvSpPr txBox="1"/>
          <p:nvPr>
            <p:ph idx="2" type="body"/>
          </p:nvPr>
        </p:nvSpPr>
        <p:spPr>
          <a:xfrm>
            <a:off x="3856680" y="156456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6" name="Google Shape;216;p51"/>
          <p:cNvSpPr txBox="1"/>
          <p:nvPr>
            <p:ph idx="3" type="body"/>
          </p:nvPr>
        </p:nvSpPr>
        <p:spPr>
          <a:xfrm>
            <a:off x="68580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7" name="Google Shape;217;p51"/>
          <p:cNvSpPr txBox="1"/>
          <p:nvPr>
            <p:ph idx="4" type="body"/>
          </p:nvPr>
        </p:nvSpPr>
        <p:spPr>
          <a:xfrm>
            <a:off x="3856680" y="2943720"/>
            <a:ext cx="301968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8" name="Shape 218"/>
        <p:cNvGrpSpPr/>
        <p:nvPr/>
      </p:nvGrpSpPr>
      <p:grpSpPr>
        <a:xfrm>
          <a:off x="0" y="0"/>
          <a:ext cx="0" cy="0"/>
          <a:chOff x="0" y="0"/>
          <a:chExt cx="0" cy="0"/>
        </a:xfrm>
      </p:grpSpPr>
      <p:sp>
        <p:nvSpPr>
          <p:cNvPr id="219" name="Google Shape;219;p52"/>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52"/>
          <p:cNvSpPr txBox="1"/>
          <p:nvPr>
            <p:ph idx="1" type="body"/>
          </p:nvPr>
        </p:nvSpPr>
        <p:spPr>
          <a:xfrm>
            <a:off x="68580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1" name="Google Shape;221;p52"/>
          <p:cNvSpPr txBox="1"/>
          <p:nvPr>
            <p:ph idx="2" type="body"/>
          </p:nvPr>
        </p:nvSpPr>
        <p:spPr>
          <a:xfrm>
            <a:off x="277812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2" name="Google Shape;222;p52"/>
          <p:cNvSpPr txBox="1"/>
          <p:nvPr>
            <p:ph idx="3" type="body"/>
          </p:nvPr>
        </p:nvSpPr>
        <p:spPr>
          <a:xfrm>
            <a:off x="4870440" y="156456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3" name="Google Shape;223;p52"/>
          <p:cNvSpPr txBox="1"/>
          <p:nvPr>
            <p:ph idx="4" type="body"/>
          </p:nvPr>
        </p:nvSpPr>
        <p:spPr>
          <a:xfrm>
            <a:off x="68580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4" name="Google Shape;224;p52"/>
          <p:cNvSpPr txBox="1"/>
          <p:nvPr>
            <p:ph idx="5" type="body"/>
          </p:nvPr>
        </p:nvSpPr>
        <p:spPr>
          <a:xfrm>
            <a:off x="277812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5" name="Google Shape;225;p52"/>
          <p:cNvSpPr txBox="1"/>
          <p:nvPr>
            <p:ph idx="6" type="body"/>
          </p:nvPr>
        </p:nvSpPr>
        <p:spPr>
          <a:xfrm>
            <a:off x="4870440" y="2943720"/>
            <a:ext cx="1992240" cy="1259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2.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28000" y="5718240"/>
            <a:ext cx="6187680" cy="266472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7" name="Google Shape;7;p1"/>
          <p:cNvPicPr preferRelativeResize="0"/>
          <p:nvPr/>
        </p:nvPicPr>
        <p:blipFill rotWithShape="1">
          <a:blip r:embed="rId1">
            <a:alphaModFix/>
          </a:blip>
          <a:srcRect b="0" l="0" r="0" t="0"/>
          <a:stretch/>
        </p:blipFill>
        <p:spPr>
          <a:xfrm>
            <a:off x="0" y="0"/>
            <a:ext cx="7559640" cy="2523600"/>
          </a:xfrm>
          <a:prstGeom prst="rect">
            <a:avLst/>
          </a:prstGeom>
          <a:noFill/>
          <a:ln>
            <a:noFill/>
          </a:ln>
        </p:spPr>
      </p:pic>
      <p:sp>
        <p:nvSpPr>
          <p:cNvPr id="8" name="Google Shape;8;p1"/>
          <p:cNvSpPr txBox="1"/>
          <p:nvPr>
            <p:ph idx="1" type="body"/>
          </p:nvPr>
        </p:nvSpPr>
        <p:spPr>
          <a:xfrm>
            <a:off x="378000" y="2501640"/>
            <a:ext cx="6803640" cy="6201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7" name="Shape 57"/>
        <p:cNvGrpSpPr/>
        <p:nvPr/>
      </p:nvGrpSpPr>
      <p:grpSpPr>
        <a:xfrm>
          <a:off x="0" y="0"/>
          <a:ext cx="0" cy="0"/>
          <a:chOff x="0" y="0"/>
          <a:chExt cx="0" cy="0"/>
        </a:xfrm>
      </p:grpSpPr>
      <p:sp>
        <p:nvSpPr>
          <p:cNvPr id="58" name="Google Shape;58;p14"/>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14"/>
          <p:cNvSpPr txBox="1"/>
          <p:nvPr>
            <p:ph idx="2" type="title"/>
          </p:nvPr>
        </p:nvSpPr>
        <p:spPr>
          <a:xfrm>
            <a:off x="685800" y="2584440"/>
            <a:ext cx="1907640" cy="116784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14"/>
          <p:cNvSpPr txBox="1"/>
          <p:nvPr>
            <p:ph idx="3" type="title"/>
          </p:nvPr>
        </p:nvSpPr>
        <p:spPr>
          <a:xfrm>
            <a:off x="685800" y="4341240"/>
            <a:ext cx="1907640" cy="116784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4"/>
          <p:cNvSpPr txBox="1"/>
          <p:nvPr>
            <p:ph idx="4" type="title"/>
          </p:nvPr>
        </p:nvSpPr>
        <p:spPr>
          <a:xfrm>
            <a:off x="685800" y="6098040"/>
            <a:ext cx="1907640" cy="116784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4"/>
          <p:cNvSpPr txBox="1"/>
          <p:nvPr>
            <p:ph idx="5" type="title"/>
          </p:nvPr>
        </p:nvSpPr>
        <p:spPr>
          <a:xfrm>
            <a:off x="685800" y="7881840"/>
            <a:ext cx="1907640" cy="116784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14"/>
          <p:cNvSpPr/>
          <p:nvPr/>
        </p:nvSpPr>
        <p:spPr>
          <a:xfrm flipH="1">
            <a:off x="179280" y="87408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 name="Google Shape;64;p14"/>
          <p:cNvGrpSpPr/>
          <p:nvPr/>
        </p:nvGrpSpPr>
        <p:grpSpPr>
          <a:xfrm>
            <a:off x="-1440" y="9963360"/>
            <a:ext cx="7559640" cy="750600"/>
            <a:chOff x="-1440" y="9963360"/>
            <a:chExt cx="7559640" cy="750600"/>
          </a:xfrm>
        </p:grpSpPr>
        <p:sp>
          <p:nvSpPr>
            <p:cNvPr id="65" name="Google Shape;65;p14"/>
            <p:cNvSpPr/>
            <p:nvPr/>
          </p:nvSpPr>
          <p:spPr>
            <a:xfrm flipH="1">
              <a:off x="0" y="9963360"/>
              <a:ext cx="7556760" cy="7506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4"/>
            <p:cNvSpPr/>
            <p:nvPr/>
          </p:nvSpPr>
          <p:spPr>
            <a:xfrm flipH="1">
              <a:off x="-1440" y="10141560"/>
              <a:ext cx="7559640" cy="56952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 name="Google Shape;67;p14"/>
          <p:cNvSpPr txBox="1"/>
          <p:nvPr>
            <p:ph idx="12" type="sldNum"/>
          </p:nvPr>
        </p:nvSpPr>
        <p:spPr>
          <a:xfrm>
            <a:off x="7074360" y="9873720"/>
            <a:ext cx="453240" cy="81792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8" name="Google Shape;68;p14"/>
          <p:cNvSpPr txBox="1"/>
          <p:nvPr>
            <p:ph idx="1" type="body"/>
          </p:nvPr>
        </p:nvSpPr>
        <p:spPr>
          <a:xfrm>
            <a:off x="378000" y="2501640"/>
            <a:ext cx="6803640" cy="6201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17" name="Shape 117"/>
        <p:cNvGrpSpPr/>
        <p:nvPr/>
      </p:nvGrpSpPr>
      <p:grpSpPr>
        <a:xfrm>
          <a:off x="0" y="0"/>
          <a:ext cx="0" cy="0"/>
          <a:chOff x="0" y="0"/>
          <a:chExt cx="0" cy="0"/>
        </a:xfrm>
      </p:grpSpPr>
      <p:sp>
        <p:nvSpPr>
          <p:cNvPr id="118" name="Google Shape;118;p27"/>
          <p:cNvSpPr txBox="1"/>
          <p:nvPr>
            <p:ph type="title"/>
          </p:nvPr>
        </p:nvSpPr>
        <p:spPr>
          <a:xfrm>
            <a:off x="1035720" y="2747160"/>
            <a:ext cx="4715640" cy="79992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9" name="Google Shape;119;p27"/>
          <p:cNvSpPr txBox="1"/>
          <p:nvPr>
            <p:ph idx="2" type="title"/>
          </p:nvPr>
        </p:nvSpPr>
        <p:spPr>
          <a:xfrm>
            <a:off x="685800" y="511200"/>
            <a:ext cx="1996560" cy="195624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27"/>
          <p:cNvSpPr txBox="1"/>
          <p:nvPr>
            <p:ph idx="12" type="sldNum"/>
          </p:nvPr>
        </p:nvSpPr>
        <p:spPr>
          <a:xfrm>
            <a:off x="7074360" y="9873720"/>
            <a:ext cx="453240" cy="81792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272727"/>
                </a:solidFill>
                <a:latin typeface="Didact Gothic"/>
                <a:ea typeface="Didact Gothic"/>
                <a:cs typeface="Didact Gothic"/>
                <a:sym typeface="Didact Gothic"/>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21" name="Google Shape;121;p27"/>
          <p:cNvSpPr txBox="1"/>
          <p:nvPr>
            <p:ph idx="1" type="body"/>
          </p:nvPr>
        </p:nvSpPr>
        <p:spPr>
          <a:xfrm>
            <a:off x="378000" y="2501640"/>
            <a:ext cx="6803640" cy="6201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70" name="Shape 170"/>
        <p:cNvGrpSpPr/>
        <p:nvPr/>
      </p:nvGrpSpPr>
      <p:grpSpPr>
        <a:xfrm>
          <a:off x="0" y="0"/>
          <a:ext cx="0" cy="0"/>
          <a:chOff x="0" y="0"/>
          <a:chExt cx="0" cy="0"/>
        </a:xfrm>
      </p:grpSpPr>
      <p:sp>
        <p:nvSpPr>
          <p:cNvPr id="171" name="Google Shape;171;p40"/>
          <p:cNvSpPr txBox="1"/>
          <p:nvPr>
            <p:ph type="title"/>
          </p:nvPr>
        </p:nvSpPr>
        <p:spPr>
          <a:xfrm>
            <a:off x="685800" y="667080"/>
            <a:ext cx="6188040" cy="81936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2" name="Google Shape;172;p40"/>
          <p:cNvSpPr txBox="1"/>
          <p:nvPr>
            <p:ph idx="1" type="body"/>
          </p:nvPr>
        </p:nvSpPr>
        <p:spPr>
          <a:xfrm>
            <a:off x="685800" y="1564560"/>
            <a:ext cx="6188040" cy="264024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3" name="Google Shape;173;p40"/>
          <p:cNvSpPr/>
          <p:nvPr/>
        </p:nvSpPr>
        <p:spPr>
          <a:xfrm flipH="1">
            <a:off x="179280" y="87408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4" name="Google Shape;174;p40"/>
          <p:cNvGrpSpPr/>
          <p:nvPr/>
        </p:nvGrpSpPr>
        <p:grpSpPr>
          <a:xfrm>
            <a:off x="0" y="9963360"/>
            <a:ext cx="7559640" cy="750600"/>
            <a:chOff x="0" y="9963360"/>
            <a:chExt cx="7559640" cy="750600"/>
          </a:xfrm>
        </p:grpSpPr>
        <p:sp>
          <p:nvSpPr>
            <p:cNvPr id="175" name="Google Shape;175;p40"/>
            <p:cNvSpPr/>
            <p:nvPr/>
          </p:nvSpPr>
          <p:spPr>
            <a:xfrm>
              <a:off x="1080" y="9963360"/>
              <a:ext cx="7556760" cy="7506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0"/>
            <p:cNvSpPr/>
            <p:nvPr/>
          </p:nvSpPr>
          <p:spPr>
            <a:xfrm>
              <a:off x="0" y="10141560"/>
              <a:ext cx="7559640" cy="56952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7" name="Google Shape;177;p40"/>
          <p:cNvSpPr txBox="1"/>
          <p:nvPr>
            <p:ph idx="12" type="sldNum"/>
          </p:nvPr>
        </p:nvSpPr>
        <p:spPr>
          <a:xfrm>
            <a:off x="7074360" y="9873720"/>
            <a:ext cx="453240" cy="81792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91919"/>
                </a:solidFill>
                <a:latin typeface="Didact Gothic"/>
                <a:ea typeface="Didact Gothic"/>
                <a:cs typeface="Didact Gothic"/>
                <a:sym typeface="Didact Gothic"/>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14.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45.png"/><Relationship Id="rId4" Type="http://schemas.openxmlformats.org/officeDocument/2006/relationships/image" Target="../media/image48.png"/><Relationship Id="rId5" Type="http://schemas.openxmlformats.org/officeDocument/2006/relationships/image" Target="../media/image32.png"/><Relationship Id="rId6" Type="http://schemas.openxmlformats.org/officeDocument/2006/relationships/image" Target="../media/image44.png"/><Relationship Id="rId7"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9.png"/><Relationship Id="rId5"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image" Target="../media/image46.png"/></Relationships>
</file>

<file path=ppt/slides/_rels/slide22.xml.rels><?xml version="1.0" encoding="UTF-8" standalone="yes"?><Relationships xmlns="http://schemas.openxmlformats.org/package/2006/relationships"><Relationship Id="rId10" Type="http://schemas.openxmlformats.org/officeDocument/2006/relationships/hyperlink" Target="https://www.slideshare.net/slideshow/rfm-segmentation/46901188" TargetMode="External"/><Relationship Id="rId1" Type="http://schemas.openxmlformats.org/officeDocument/2006/relationships/slideLayout" Target="../slideLayouts/slideLayout37.xml"/><Relationship Id="rId2" Type="http://schemas.openxmlformats.org/officeDocument/2006/relationships/notesSlide" Target="../notesSlides/notesSlide22.xml"/><Relationship Id="rId3" Type="http://schemas.openxmlformats.org/officeDocument/2006/relationships/hyperlink" Target="https://www.slideshare.net/slideshow/rfm-segmentation/46901188#6" TargetMode="External"/><Relationship Id="rId4" Type="http://schemas.openxmlformats.org/officeDocument/2006/relationships/hyperlink" Target="https://towardsdatascience.com/recency-frequency-monetary-model-with-python-and-how-sephora-uses-it-to-optimize-their-google-d6a0707c5f17" TargetMode="External"/><Relationship Id="rId9" Type="http://schemas.openxmlformats.org/officeDocument/2006/relationships/hyperlink" Target="https://www.researchgate.net/figure/Flowchart-of-product-recommendation_fig4_365372515" TargetMode="External"/><Relationship Id="rId5" Type="http://schemas.openxmlformats.org/officeDocument/2006/relationships/hyperlink" Target="https://guillaume-martin.github.io/rfm-segmentation-with-python.html" TargetMode="External"/><Relationship Id="rId6" Type="http://schemas.openxmlformats.org/officeDocument/2006/relationships/hyperlink" Target="https://medium.com/@ilaydakursun/customer-segmentation-with-rfm-analysis-learn-more-about-your-customers-f12b348acbd" TargetMode="External"/><Relationship Id="rId7" Type="http://schemas.openxmlformats.org/officeDocument/2006/relationships/hyperlink" Target="https://towardsdatascience.com/find-your-best-customers-with-customer-segmentation-in-python-61d602f9eee6" TargetMode="External"/><Relationship Id="rId8" Type="http://schemas.openxmlformats.org/officeDocument/2006/relationships/hyperlink" Target="https://towardsdatascience.com/a-gentle-introduction-on-market-basket-analysis-association-rules-fa4b986a40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29" name="Shape 229"/>
        <p:cNvGrpSpPr/>
        <p:nvPr/>
      </p:nvGrpSpPr>
      <p:grpSpPr>
        <a:xfrm>
          <a:off x="0" y="0"/>
          <a:ext cx="0" cy="0"/>
          <a:chOff x="0" y="0"/>
          <a:chExt cx="0" cy="0"/>
        </a:xfrm>
      </p:grpSpPr>
      <p:sp>
        <p:nvSpPr>
          <p:cNvPr id="230" name="Google Shape;230;p53"/>
          <p:cNvSpPr txBox="1"/>
          <p:nvPr/>
        </p:nvSpPr>
        <p:spPr>
          <a:xfrm>
            <a:off x="825840" y="4698700"/>
            <a:ext cx="6187800" cy="2524200"/>
          </a:xfrm>
          <a:prstGeom prst="rect">
            <a:avLst/>
          </a:prstGeom>
          <a:noFill/>
          <a:ln>
            <a:noFill/>
          </a:ln>
          <a:effectLst>
            <a:outerShdw blurRad="114300" rotWithShape="0" algn="bl" dir="1620000" dist="47625">
              <a:srgbClr val="074EB9">
                <a:alpha val="5686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600"/>
              <a:buFont typeface="Arial"/>
              <a:buNone/>
            </a:pPr>
            <a:r>
              <a:rPr b="0" i="0" lang="en-US" sz="4800" u="none" cap="none" strike="noStrike">
                <a:solidFill>
                  <a:srgbClr val="BF9000"/>
                </a:solidFill>
                <a:latin typeface="Oswald"/>
                <a:ea typeface="Oswald"/>
                <a:cs typeface="Oswald"/>
                <a:sym typeface="Oswald"/>
              </a:rPr>
              <a:t>Project RFM:</a:t>
            </a:r>
            <a:endParaRPr b="0" i="0" sz="4800" u="none" cap="none" strike="noStrike">
              <a:solidFill>
                <a:srgbClr val="BF90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8600"/>
              <a:buFont typeface="Arial"/>
              <a:buNone/>
            </a:pPr>
            <a:r>
              <a:rPr b="0" i="0" lang="en-US" sz="4800" u="none" cap="none" strike="noStrike">
                <a:solidFill>
                  <a:srgbClr val="BF9000"/>
                </a:solidFill>
                <a:latin typeface="Oswald"/>
                <a:ea typeface="Oswald"/>
                <a:cs typeface="Oswald"/>
                <a:sym typeface="Oswald"/>
              </a:rPr>
              <a:t>Client Segmentation and Product Recommendation</a:t>
            </a:r>
            <a:endParaRPr b="0" i="0" sz="4800" u="none" cap="none" strike="noStrike">
              <a:solidFill>
                <a:srgbClr val="BF90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8600"/>
              <a:buFont typeface="Arial"/>
              <a:buNone/>
            </a:pPr>
            <a:r>
              <a:t/>
            </a:r>
            <a:endParaRPr b="0" i="0" sz="3000" u="none" cap="none" strike="noStrike">
              <a:solidFill>
                <a:srgbClr val="BF9000"/>
              </a:solidFill>
              <a:latin typeface="Oswald"/>
              <a:ea typeface="Oswald"/>
              <a:cs typeface="Oswald"/>
              <a:sym typeface="Oswald"/>
            </a:endParaRPr>
          </a:p>
        </p:txBody>
      </p:sp>
      <p:sp>
        <p:nvSpPr>
          <p:cNvPr id="231" name="Google Shape;231;p53"/>
          <p:cNvSpPr txBox="1"/>
          <p:nvPr/>
        </p:nvSpPr>
        <p:spPr>
          <a:xfrm>
            <a:off x="548300" y="7950600"/>
            <a:ext cx="6841500" cy="2524200"/>
          </a:xfrm>
          <a:prstGeom prst="rect">
            <a:avLst/>
          </a:prstGeom>
          <a:noFill/>
          <a:ln>
            <a:noFill/>
          </a:ln>
          <a:effectLst>
            <a:outerShdw blurRad="157163" rotWithShape="0" algn="bl" dir="2400000" dist="19050">
              <a:schemeClr val="accent1">
                <a:alpha val="49019"/>
              </a:schemeClr>
            </a:outerShdw>
          </a:effectLst>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4549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rPr b="1" lang="en-US" sz="1800">
                <a:solidFill>
                  <a:srgbClr val="045491"/>
                </a:solidFill>
                <a:latin typeface="Didact Gothic"/>
                <a:ea typeface="Didact Gothic"/>
                <a:cs typeface="Didact Gothic"/>
                <a:sym typeface="Didact Gothic"/>
              </a:rPr>
              <a:t>Project by</a:t>
            </a:r>
            <a:r>
              <a:rPr b="1" i="0" lang="en-US" sz="1800" u="none" cap="none" strike="noStrike">
                <a:solidFill>
                  <a:srgbClr val="045491"/>
                </a:solidFill>
                <a:latin typeface="Didact Gothic"/>
                <a:ea typeface="Didact Gothic"/>
                <a:cs typeface="Didact Gothic"/>
                <a:sym typeface="Didact Gothic"/>
              </a:rPr>
              <a:t> : </a:t>
            </a:r>
            <a:endParaRPr b="1" i="0" sz="1800" u="none" cap="none" strike="noStrike">
              <a:solidFill>
                <a:srgbClr val="04549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45491"/>
                </a:solidFill>
                <a:latin typeface="Didact Gothic"/>
                <a:ea typeface="Didact Gothic"/>
                <a:cs typeface="Didact Gothic"/>
                <a:sym typeface="Didact Gothic"/>
              </a:rPr>
              <a:t>Touseeq</a:t>
            </a:r>
            <a:r>
              <a:rPr lang="en-US" sz="1800">
                <a:solidFill>
                  <a:srgbClr val="045491"/>
                </a:solidFill>
                <a:latin typeface="Didact Gothic"/>
                <a:ea typeface="Didact Gothic"/>
                <a:cs typeface="Didact Gothic"/>
                <a:sym typeface="Didact Gothic"/>
              </a:rPr>
              <a:t> </a:t>
            </a:r>
            <a:r>
              <a:rPr lang="en-US" sz="1800">
                <a:solidFill>
                  <a:srgbClr val="045491"/>
                </a:solidFill>
                <a:latin typeface="Didact Gothic"/>
                <a:ea typeface="Didact Gothic"/>
                <a:cs typeface="Didact Gothic"/>
                <a:sym typeface="Didact Gothic"/>
              </a:rPr>
              <a:t>Danish</a:t>
            </a:r>
            <a:endParaRPr b="0" i="0" sz="1800" u="none" cap="none" strike="noStrike">
              <a:solidFill>
                <a:srgbClr val="04549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4549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45491"/>
              </a:solidFill>
              <a:latin typeface="Didact Gothic"/>
              <a:ea typeface="Didact Gothic"/>
              <a:cs typeface="Didact Gothic"/>
              <a:sym typeface="Didact Gothic"/>
            </a:endParaRPr>
          </a:p>
          <a:p>
            <a:pPr indent="457200" lvl="0" marL="3657600" marR="0" rtl="0" algn="l">
              <a:lnSpc>
                <a:spcPct val="100000"/>
              </a:lnSpc>
              <a:spcBef>
                <a:spcPts val="0"/>
              </a:spcBef>
              <a:spcAft>
                <a:spcPts val="0"/>
              </a:spcAft>
              <a:buClr>
                <a:srgbClr val="000000"/>
              </a:buClr>
              <a:buSzPts val="1800"/>
              <a:buFont typeface="Arial"/>
              <a:buNone/>
            </a:pPr>
            <a:r>
              <a:rPr b="1" i="0" lang="en-US" sz="1700" u="none" cap="none" strike="noStrike">
                <a:solidFill>
                  <a:srgbClr val="045491"/>
                </a:solidFill>
                <a:latin typeface="Didact Gothic"/>
                <a:ea typeface="Didact Gothic"/>
                <a:cs typeface="Didact Gothic"/>
                <a:sym typeface="Didact Gothic"/>
              </a:rPr>
              <a:t>       UCBL december 2024</a:t>
            </a:r>
            <a:endParaRPr b="1" i="0" sz="1700" u="none" cap="none" strike="noStrike">
              <a:solidFill>
                <a:srgbClr val="045491"/>
              </a:solidFill>
              <a:latin typeface="Didact Gothic"/>
              <a:ea typeface="Didact Gothic"/>
              <a:cs typeface="Didact Gothic"/>
              <a:sym typeface="Didact Gothic"/>
            </a:endParaRPr>
          </a:p>
        </p:txBody>
      </p:sp>
      <p:sp>
        <p:nvSpPr>
          <p:cNvPr id="232" name="Google Shape;232;p53"/>
          <p:cNvSpPr/>
          <p:nvPr/>
        </p:nvSpPr>
        <p:spPr>
          <a:xfrm rot="10800000">
            <a:off x="542203" y="4698707"/>
            <a:ext cx="6102" cy="3294378"/>
          </a:xfrm>
          <a:custGeom>
            <a:rect b="b" l="l" r="r" t="t"/>
            <a:pathLst>
              <a:path extrusionOk="0" h="21600" w="21600">
                <a:moveTo>
                  <a:pt x="0" y="0"/>
                </a:moveTo>
                <a:lnTo>
                  <a:pt x="21600" y="21600"/>
                </a:lnTo>
              </a:path>
            </a:pathLst>
          </a:custGeom>
          <a:noFill/>
          <a:ln cap="flat" cmpd="sng" w="19075">
            <a:solidFill>
              <a:srgbClr val="BF9000"/>
            </a:solidFill>
            <a:prstDash val="solid"/>
            <a:round/>
            <a:headEnd len="sm" w="sm" type="none"/>
            <a:tailEnd len="sm" w="sm" type="none"/>
          </a:ln>
          <a:effectLst>
            <a:outerShdw blurRad="57150" rotWithShape="0" algn="bl" dir="5940000" dist="133350">
              <a:srgbClr val="000000">
                <a:alpha val="49019"/>
              </a:srgbClr>
            </a:outerShdw>
          </a:effectLst>
        </p:spPr>
      </p:sp>
      <p:sp>
        <p:nvSpPr>
          <p:cNvPr id="233" name="Google Shape;233;p53"/>
          <p:cNvSpPr/>
          <p:nvPr/>
        </p:nvSpPr>
        <p:spPr>
          <a:xfrm rot="-10798800">
            <a:off x="-2520" y="2524680"/>
            <a:ext cx="7565760" cy="1691280"/>
          </a:xfrm>
          <a:prstGeom prst="rtTriangle">
            <a:avLst/>
          </a:prstGeom>
          <a:gradFill>
            <a:gsLst>
              <a:gs pos="0">
                <a:srgbClr val="D4E5F5"/>
              </a:gs>
              <a:gs pos="100000">
                <a:srgbClr val="70A4D5"/>
              </a:gs>
            </a:gsLst>
            <a:path path="circle">
              <a:fillToRect b="50%" l="50%" r="50%" t="50%"/>
            </a:path>
            <a:tileRect/>
          </a:gradFill>
          <a:ln cap="flat" cmpd="sng" w="9525">
            <a:solidFill>
              <a:srgbClr val="006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53"/>
          <p:cNvSpPr/>
          <p:nvPr/>
        </p:nvSpPr>
        <p:spPr>
          <a:xfrm>
            <a:off x="-5760" y="2406600"/>
            <a:ext cx="7565760" cy="116640"/>
          </a:xfrm>
          <a:prstGeom prst="rect">
            <a:avLst/>
          </a:prstGeom>
          <a:gradFill>
            <a:gsLst>
              <a:gs pos="0">
                <a:srgbClr val="428EFF"/>
              </a:gs>
              <a:gs pos="100000">
                <a:srgbClr val="074EB8"/>
              </a:gs>
            </a:gsLst>
            <a:lin ang="5400000" scaled="0"/>
          </a:gradFill>
          <a:ln cap="flat" cmpd="sng" w="9525">
            <a:solidFill>
              <a:srgbClr val="0066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3"/>
          <p:cNvSpPr/>
          <p:nvPr/>
        </p:nvSpPr>
        <p:spPr>
          <a:xfrm rot="-10799046">
            <a:off x="-3025" y="2524675"/>
            <a:ext cx="7566000" cy="1691700"/>
          </a:xfrm>
          <a:prstGeom prst="rtTriangle">
            <a:avLst/>
          </a:prstGeom>
          <a:solidFill>
            <a:srgbClr val="045491"/>
          </a:solidFill>
          <a:ln cap="flat" cmpd="sng" w="9525">
            <a:solidFill>
              <a:srgbClr val="0454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p:txBody>
      </p:sp>
      <p:sp>
        <p:nvSpPr>
          <p:cNvPr id="236" name="Google Shape;236;p53"/>
          <p:cNvSpPr/>
          <p:nvPr/>
        </p:nvSpPr>
        <p:spPr>
          <a:xfrm>
            <a:off x="-5825" y="2406650"/>
            <a:ext cx="7566000" cy="117000"/>
          </a:xfrm>
          <a:prstGeom prst="rect">
            <a:avLst/>
          </a:prstGeom>
          <a:gradFill>
            <a:gsLst>
              <a:gs pos="0">
                <a:srgbClr val="FFC102"/>
              </a:gs>
              <a:gs pos="100000">
                <a:srgbClr val="795C04"/>
              </a:gs>
            </a:gsLst>
            <a:path path="circle">
              <a:fillToRect b="50%" l="50%" r="50%" t="50%"/>
            </a:path>
            <a:tileRect/>
          </a:gradFill>
          <a:ln cap="flat" cmpd="sng" w="9525">
            <a:solidFill>
              <a:srgbClr val="0454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p:txBody>
      </p:sp>
      <p:pic>
        <p:nvPicPr>
          <p:cNvPr id="237" name="Google Shape;237;p53"/>
          <p:cNvPicPr preferRelativeResize="0"/>
          <p:nvPr/>
        </p:nvPicPr>
        <p:blipFill rotWithShape="1">
          <a:blip r:embed="rId3">
            <a:alphaModFix/>
          </a:blip>
          <a:srcRect b="-46864" l="0" r="0" t="0"/>
          <a:stretch/>
        </p:blipFill>
        <p:spPr>
          <a:xfrm>
            <a:off x="0" y="0"/>
            <a:ext cx="7559999" cy="3534662"/>
          </a:xfrm>
          <a:prstGeom prst="rect">
            <a:avLst/>
          </a:prstGeom>
          <a:noFill/>
          <a:ln>
            <a:noFill/>
          </a:ln>
        </p:spPr>
      </p:pic>
      <p:pic>
        <p:nvPicPr>
          <p:cNvPr id="238" name="Google Shape;238;p53"/>
          <p:cNvPicPr preferRelativeResize="0"/>
          <p:nvPr/>
        </p:nvPicPr>
        <p:blipFill rotWithShape="1">
          <a:blip r:embed="rId4">
            <a:alphaModFix/>
          </a:blip>
          <a:srcRect b="0" l="0" r="0" t="0"/>
          <a:stretch/>
        </p:blipFill>
        <p:spPr>
          <a:xfrm>
            <a:off x="5863474" y="8499325"/>
            <a:ext cx="1303450" cy="1367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4"/>
          <p:cNvSpPr txBox="1"/>
          <p:nvPr/>
        </p:nvSpPr>
        <p:spPr>
          <a:xfrm>
            <a:off x="550325" y="381325"/>
            <a:ext cx="6323700" cy="81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n-US" sz="3800" u="none" cap="none" strike="noStrike">
                <a:solidFill>
                  <a:srgbClr val="272727"/>
                </a:solidFill>
                <a:latin typeface="Manrope"/>
                <a:ea typeface="Manrope"/>
                <a:cs typeface="Manrope"/>
                <a:sym typeface="Manrope"/>
              </a:rPr>
              <a:t>Summary</a:t>
            </a:r>
            <a:endParaRPr b="0" i="0" sz="3800" u="none" cap="none" strike="noStrike">
              <a:solidFill>
                <a:srgbClr val="000000"/>
              </a:solidFill>
              <a:latin typeface="Arial"/>
              <a:ea typeface="Arial"/>
              <a:cs typeface="Arial"/>
              <a:sym typeface="Arial"/>
            </a:endParaRPr>
          </a:p>
        </p:txBody>
      </p:sp>
      <p:sp>
        <p:nvSpPr>
          <p:cNvPr id="244" name="Google Shape;244;p54"/>
          <p:cNvSpPr txBox="1"/>
          <p:nvPr/>
        </p:nvSpPr>
        <p:spPr>
          <a:xfrm>
            <a:off x="550325" y="1486375"/>
            <a:ext cx="6428700" cy="583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INTRODUCTION </a:t>
            </a:r>
            <a:endParaRPr b="0" i="0" sz="22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1. EXPLORATORY DATA ANALYSIS</a:t>
            </a:r>
            <a:endParaRPr b="0" i="0" sz="1400" u="none" cap="none" strike="noStrike">
              <a:solidFill>
                <a:schemeClr val="dk1"/>
              </a:solidFill>
              <a:latin typeface="Didact Gothic"/>
              <a:ea typeface="Didact Gothic"/>
              <a:cs typeface="Didact Gothic"/>
              <a:sym typeface="Didact Gothic"/>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2. PRE-PROCESSING OF DATA AND RFM</a:t>
            </a:r>
            <a:r>
              <a:rPr b="0" i="0" lang="en-US" sz="2100" u="none" cap="none" strike="noStrike">
                <a:solidFill>
                  <a:srgbClr val="000000"/>
                </a:solidFill>
                <a:latin typeface="Didact Gothic"/>
                <a:ea typeface="Didact Gothic"/>
                <a:cs typeface="Didact Gothic"/>
                <a:sym typeface="Didact Gothic"/>
              </a:rPr>
              <a:t>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3. ARTIFICIAL INTELLIGENCE MODEL</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4. APPLICATION DEVELOPMENT</a:t>
            </a:r>
            <a:r>
              <a:rPr b="0" i="0" lang="en-US" sz="2100" u="none" cap="none" strike="noStrike">
                <a:solidFill>
                  <a:srgbClr val="000000"/>
                </a:solidFill>
                <a:latin typeface="Didact Gothic"/>
                <a:ea typeface="Didact Gothic"/>
                <a:cs typeface="Didact Gothic"/>
                <a:sym typeface="Didact Gothic"/>
              </a:rPr>
              <a:t>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CONCLUSION</a:t>
            </a:r>
            <a:endParaRPr b="0" i="0" sz="2200" u="none" cap="none" strike="noStrike">
              <a:solidFill>
                <a:srgbClr val="000000"/>
              </a:solidFill>
              <a:latin typeface="Didact Gothic"/>
              <a:ea typeface="Didact Gothic"/>
              <a:cs typeface="Didact Gothic"/>
              <a:sym typeface="Didact Gothic"/>
            </a:endParaRPr>
          </a:p>
          <a:p>
            <a:pPr indent="0" lvl="0" marL="9144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Didact Gothic"/>
              <a:ea typeface="Didact Gothic"/>
              <a:cs typeface="Didact Gothic"/>
              <a:sym typeface="Didact Gothic"/>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Didact Gothic"/>
                <a:ea typeface="Didact Gothic"/>
                <a:cs typeface="Didact Gothic"/>
                <a:sym typeface="Didact Gothic"/>
              </a:rPr>
              <a:t>RESSOURCES</a:t>
            </a:r>
            <a:endParaRPr b="0" i="0" sz="22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Didact Gothic"/>
              <a:ea typeface="Didact Gothic"/>
              <a:cs typeface="Didact Gothic"/>
              <a:sym typeface="Didact Gothic"/>
            </a:endParaRPr>
          </a:p>
          <a:p>
            <a:pPr indent="0" lvl="0" marL="45720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highlight>
                <a:srgbClr val="FFFF00"/>
              </a:highlight>
              <a:latin typeface="Arial"/>
              <a:ea typeface="Arial"/>
              <a:cs typeface="Arial"/>
              <a:sym typeface="Arial"/>
            </a:endParaRPr>
          </a:p>
        </p:txBody>
      </p:sp>
      <p:sp>
        <p:nvSpPr>
          <p:cNvPr id="245" name="Google Shape;245;p54"/>
          <p:cNvSpPr/>
          <p:nvPr/>
        </p:nvSpPr>
        <p:spPr>
          <a:xfrm>
            <a:off x="46875" y="444500"/>
            <a:ext cx="550500" cy="910200"/>
          </a:xfrm>
          <a:prstGeom prst="rect">
            <a:avLst/>
          </a:prstGeom>
          <a:solidFill>
            <a:srgbClr val="F5F5F5"/>
          </a:solid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54"/>
          <p:cNvSpPr/>
          <p:nvPr/>
        </p:nvSpPr>
        <p:spPr>
          <a:xfrm flipH="1">
            <a:off x="220930" y="5797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pSp>
        <p:nvGrpSpPr>
          <p:cNvPr id="251" name="Google Shape;251;p55"/>
          <p:cNvGrpSpPr/>
          <p:nvPr/>
        </p:nvGrpSpPr>
        <p:grpSpPr>
          <a:xfrm>
            <a:off x="-1500" y="9788760"/>
            <a:ext cx="7559700" cy="925500"/>
            <a:chOff x="-1500" y="9788760"/>
            <a:chExt cx="7559700" cy="925500"/>
          </a:xfrm>
        </p:grpSpPr>
        <p:sp>
          <p:nvSpPr>
            <p:cNvPr id="252" name="Google Shape;252;p55"/>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55"/>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4" name="Google Shape;254;p55"/>
          <p:cNvSpPr txBox="1"/>
          <p:nvPr/>
        </p:nvSpPr>
        <p:spPr>
          <a:xfrm>
            <a:off x="509538" y="311400"/>
            <a:ext cx="6540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72727"/>
                </a:solidFill>
                <a:latin typeface="Manrope"/>
                <a:ea typeface="Manrope"/>
                <a:cs typeface="Manrope"/>
                <a:sym typeface="Manrope"/>
              </a:rPr>
              <a:t>INTRODUCTION</a:t>
            </a:r>
            <a:endParaRPr b="0" i="0" sz="3700" u="none" cap="none" strike="noStrike">
              <a:solidFill>
                <a:srgbClr val="000000"/>
              </a:solidFill>
              <a:latin typeface="Arial"/>
              <a:ea typeface="Arial"/>
              <a:cs typeface="Arial"/>
              <a:sym typeface="Arial"/>
            </a:endParaRPr>
          </a:p>
        </p:txBody>
      </p:sp>
      <p:sp>
        <p:nvSpPr>
          <p:cNvPr id="255" name="Google Shape;255;p55"/>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55"/>
          <p:cNvSpPr txBox="1"/>
          <p:nvPr/>
        </p:nvSpPr>
        <p:spPr>
          <a:xfrm>
            <a:off x="445800" y="1135813"/>
            <a:ext cx="3239700" cy="3600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Context</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In retail, understanding customer behavior is essential for creating personalized experiences and optimizing marketing efforts. Using customer data, companies can identify buying habits, predict future purchases, and recommend products that match their preferences. Using machine learning and data analytics, companies can not only understand what customers are doing now, but also predict what they will do next, helping to improve customer satisfaction and loyalty.</a:t>
            </a:r>
            <a:endParaRPr b="0" i="0" sz="1800" u="none" cap="none" strike="noStrike">
              <a:solidFill>
                <a:srgbClr val="000000"/>
              </a:solidFill>
              <a:latin typeface="Arial"/>
              <a:ea typeface="Arial"/>
              <a:cs typeface="Arial"/>
              <a:sym typeface="Arial"/>
            </a:endParaRPr>
          </a:p>
        </p:txBody>
      </p:sp>
      <p:grpSp>
        <p:nvGrpSpPr>
          <p:cNvPr id="257" name="Google Shape;257;p55"/>
          <p:cNvGrpSpPr/>
          <p:nvPr/>
        </p:nvGrpSpPr>
        <p:grpSpPr>
          <a:xfrm>
            <a:off x="3796551" y="4091601"/>
            <a:ext cx="3584875" cy="146869"/>
            <a:chOff x="0" y="4397412"/>
            <a:chExt cx="4600713" cy="150450"/>
          </a:xfrm>
        </p:grpSpPr>
        <p:sp>
          <p:nvSpPr>
            <p:cNvPr id="258" name="Google Shape;258;p55"/>
            <p:cNvSpPr/>
            <p:nvPr/>
          </p:nvSpPr>
          <p:spPr>
            <a:xfrm>
              <a:off x="0" y="4397412"/>
              <a:ext cx="4600713" cy="2416"/>
            </a:xfrm>
            <a:custGeom>
              <a:rect b="b" l="l" r="r" t="t"/>
              <a:pathLst>
                <a:path extrusionOk="0" h="69" w="131402">
                  <a:moveTo>
                    <a:pt x="0" y="1"/>
                  </a:moveTo>
                  <a:lnTo>
                    <a:pt x="0" y="69"/>
                  </a:lnTo>
                  <a:lnTo>
                    <a:pt x="131401" y="69"/>
                  </a:lnTo>
                  <a:lnTo>
                    <a:pt x="131401"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55"/>
            <p:cNvSpPr/>
            <p:nvPr/>
          </p:nvSpPr>
          <p:spPr>
            <a:xfrm>
              <a:off x="755786" y="4545586"/>
              <a:ext cx="305519" cy="2276"/>
            </a:xfrm>
            <a:custGeom>
              <a:rect b="b" l="l" r="r" t="t"/>
              <a:pathLst>
                <a:path extrusionOk="0" h="65" w="8726">
                  <a:moveTo>
                    <a:pt x="0" y="0"/>
                  </a:moveTo>
                  <a:lnTo>
                    <a:pt x="0" y="65"/>
                  </a:lnTo>
                  <a:lnTo>
                    <a:pt x="8726" y="65"/>
                  </a:lnTo>
                  <a:lnTo>
                    <a:pt x="8726" y="0"/>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5"/>
            <p:cNvSpPr/>
            <p:nvPr/>
          </p:nvSpPr>
          <p:spPr>
            <a:xfrm>
              <a:off x="1619552" y="4536412"/>
              <a:ext cx="497808" cy="2276"/>
            </a:xfrm>
            <a:custGeom>
              <a:rect b="b" l="l" r="r" t="t"/>
              <a:pathLst>
                <a:path extrusionOk="0" h="65" w="14218">
                  <a:moveTo>
                    <a:pt x="0" y="0"/>
                  </a:moveTo>
                  <a:lnTo>
                    <a:pt x="0" y="65"/>
                  </a:lnTo>
                  <a:lnTo>
                    <a:pt x="14217" y="65"/>
                  </a:lnTo>
                  <a:lnTo>
                    <a:pt x="14217" y="0"/>
                  </a:lnTo>
                  <a:close/>
                </a:path>
              </a:pathLst>
            </a:custGeom>
            <a:solidFill>
              <a:srgbClr val="FAFAFA"/>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5"/>
            <p:cNvSpPr/>
            <p:nvPr/>
          </p:nvSpPr>
          <p:spPr>
            <a:xfrm>
              <a:off x="1070481" y="4460119"/>
              <a:ext cx="175833" cy="2311"/>
            </a:xfrm>
            <a:custGeom>
              <a:rect b="b" l="l" r="r" t="t"/>
              <a:pathLst>
                <a:path extrusionOk="0" h="66" w="5022">
                  <a:moveTo>
                    <a:pt x="1" y="1"/>
                  </a:moveTo>
                  <a:lnTo>
                    <a:pt x="1" y="65"/>
                  </a:lnTo>
                  <a:lnTo>
                    <a:pt x="5022" y="65"/>
                  </a:lnTo>
                  <a:lnTo>
                    <a:pt x="5022"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55"/>
            <p:cNvSpPr/>
            <p:nvPr/>
          </p:nvSpPr>
          <p:spPr>
            <a:xfrm>
              <a:off x="2732853" y="4514424"/>
              <a:ext cx="418259" cy="2276"/>
            </a:xfrm>
            <a:custGeom>
              <a:rect b="b" l="l" r="r" t="t"/>
              <a:pathLst>
                <a:path extrusionOk="0" h="65" w="11946">
                  <a:moveTo>
                    <a:pt x="0" y="0"/>
                  </a:moveTo>
                  <a:lnTo>
                    <a:pt x="0" y="65"/>
                  </a:lnTo>
                  <a:lnTo>
                    <a:pt x="11946" y="65"/>
                  </a:lnTo>
                  <a:lnTo>
                    <a:pt x="11946" y="0"/>
                  </a:lnTo>
                  <a:close/>
                </a:path>
              </a:pathLst>
            </a:custGeom>
            <a:solidFill>
              <a:srgbClr val="FAFAFA"/>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55"/>
          <p:cNvGrpSpPr/>
          <p:nvPr/>
        </p:nvGrpSpPr>
        <p:grpSpPr>
          <a:xfrm>
            <a:off x="4402488" y="1178984"/>
            <a:ext cx="2741483" cy="2691942"/>
            <a:chOff x="5215723" y="1479118"/>
            <a:chExt cx="3081703" cy="2757573"/>
          </a:xfrm>
        </p:grpSpPr>
        <p:grpSp>
          <p:nvGrpSpPr>
            <p:cNvPr id="264" name="Google Shape;264;p55"/>
            <p:cNvGrpSpPr/>
            <p:nvPr/>
          </p:nvGrpSpPr>
          <p:grpSpPr>
            <a:xfrm>
              <a:off x="5215723" y="1707350"/>
              <a:ext cx="3081703" cy="2529341"/>
              <a:chOff x="5150194" y="1591500"/>
              <a:chExt cx="3081703" cy="2529341"/>
            </a:xfrm>
          </p:grpSpPr>
          <p:sp>
            <p:nvSpPr>
              <p:cNvPr id="265" name="Google Shape;265;p55"/>
              <p:cNvSpPr/>
              <p:nvPr/>
            </p:nvSpPr>
            <p:spPr>
              <a:xfrm>
                <a:off x="5150194" y="1591500"/>
                <a:ext cx="1147444" cy="2529341"/>
              </a:xfrm>
              <a:custGeom>
                <a:rect b="b" l="l" r="r" t="t"/>
                <a:pathLst>
                  <a:path extrusionOk="0" h="64368" w="4654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5"/>
              <p:cNvSpPr/>
              <p:nvPr/>
            </p:nvSpPr>
            <p:spPr>
              <a:xfrm>
                <a:off x="6402990" y="1591500"/>
                <a:ext cx="1828907" cy="2529341"/>
              </a:xfrm>
              <a:custGeom>
                <a:rect b="b" l="l" r="r" t="t"/>
                <a:pathLst>
                  <a:path extrusionOk="0" h="64368" w="46543">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 name="Google Shape;267;p55"/>
            <p:cNvGrpSpPr/>
            <p:nvPr/>
          </p:nvGrpSpPr>
          <p:grpSpPr>
            <a:xfrm>
              <a:off x="5723516" y="1479118"/>
              <a:ext cx="2288423" cy="1787927"/>
              <a:chOff x="5723516" y="1479118"/>
              <a:chExt cx="2288423" cy="1787927"/>
            </a:xfrm>
          </p:grpSpPr>
          <p:sp>
            <p:nvSpPr>
              <p:cNvPr id="268" name="Google Shape;268;p55"/>
              <p:cNvSpPr/>
              <p:nvPr/>
            </p:nvSpPr>
            <p:spPr>
              <a:xfrm>
                <a:off x="5723516" y="1479118"/>
                <a:ext cx="2288423" cy="291294"/>
              </a:xfrm>
              <a:custGeom>
                <a:rect b="b" l="l" r="r" t="t"/>
                <a:pathLst>
                  <a:path extrusionOk="0" h="7413" w="58237">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rgbClr val="43434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55"/>
              <p:cNvSpPr/>
              <p:nvPr/>
            </p:nvSpPr>
            <p:spPr>
              <a:xfrm>
                <a:off x="6229445" y="1572681"/>
                <a:ext cx="104407" cy="104368"/>
              </a:xfrm>
              <a:custGeom>
                <a:rect b="b" l="l" r="r" t="t"/>
                <a:pathLst>
                  <a:path extrusionOk="0" h="2656" w="2657">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55"/>
              <p:cNvSpPr/>
              <p:nvPr/>
            </p:nvSpPr>
            <p:spPr>
              <a:xfrm>
                <a:off x="6044560" y="1572681"/>
                <a:ext cx="104407" cy="104368"/>
              </a:xfrm>
              <a:custGeom>
                <a:rect b="b" l="l" r="r" t="t"/>
                <a:pathLst>
                  <a:path extrusionOk="0" h="2656" w="2657">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55"/>
              <p:cNvSpPr/>
              <p:nvPr/>
            </p:nvSpPr>
            <p:spPr>
              <a:xfrm>
                <a:off x="5859635" y="1572681"/>
                <a:ext cx="104407" cy="104368"/>
              </a:xfrm>
              <a:custGeom>
                <a:rect b="b" l="l" r="r" t="t"/>
                <a:pathLst>
                  <a:path extrusionOk="0" h="2656" w="2657">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rgbClr val="C1E5F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5"/>
              <p:cNvSpPr/>
              <p:nvPr/>
            </p:nvSpPr>
            <p:spPr>
              <a:xfrm>
                <a:off x="5723516" y="1770377"/>
                <a:ext cx="2288423" cy="1496668"/>
              </a:xfrm>
              <a:custGeom>
                <a:rect b="b" l="l" r="r" t="t"/>
                <a:pathLst>
                  <a:path extrusionOk="0" h="38088" w="58237">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3" name="Google Shape;273;p55"/>
          <p:cNvGrpSpPr/>
          <p:nvPr/>
        </p:nvGrpSpPr>
        <p:grpSpPr>
          <a:xfrm>
            <a:off x="3671562" y="2956060"/>
            <a:ext cx="1086255" cy="1191156"/>
            <a:chOff x="4394088" y="3299519"/>
            <a:chExt cx="1221060" cy="1220197"/>
          </a:xfrm>
        </p:grpSpPr>
        <p:sp>
          <p:nvSpPr>
            <p:cNvPr id="274" name="Google Shape;274;p55"/>
            <p:cNvSpPr/>
            <p:nvPr/>
          </p:nvSpPr>
          <p:spPr>
            <a:xfrm>
              <a:off x="5004504" y="3380350"/>
              <a:ext cx="610644" cy="1139359"/>
            </a:xfrm>
            <a:custGeom>
              <a:rect b="b" l="l" r="r" t="t"/>
              <a:pathLst>
                <a:path extrusionOk="0" h="28995" w="15540">
                  <a:moveTo>
                    <a:pt x="7768" y="1"/>
                  </a:moveTo>
                  <a:lnTo>
                    <a:pt x="5740" y="3515"/>
                  </a:lnTo>
                  <a:cubicBezTo>
                    <a:pt x="9175" y="5492"/>
                    <a:pt x="11486" y="9203"/>
                    <a:pt x="11486" y="13457"/>
                  </a:cubicBezTo>
                  <a:cubicBezTo>
                    <a:pt x="11486" y="19799"/>
                    <a:pt x="6343" y="24939"/>
                    <a:pt x="1" y="24939"/>
                  </a:cubicBezTo>
                  <a:lnTo>
                    <a:pt x="1" y="28995"/>
                  </a:lnTo>
                  <a:cubicBezTo>
                    <a:pt x="8579" y="28995"/>
                    <a:pt x="15539" y="22035"/>
                    <a:pt x="15539" y="13457"/>
                  </a:cubicBezTo>
                  <a:cubicBezTo>
                    <a:pt x="15539" y="7707"/>
                    <a:pt x="12412" y="2685"/>
                    <a:pt x="7768" y="1"/>
                  </a:cubicBez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5"/>
            <p:cNvSpPr/>
            <p:nvPr/>
          </p:nvSpPr>
          <p:spPr>
            <a:xfrm>
              <a:off x="4394088" y="3909150"/>
              <a:ext cx="610448" cy="610566"/>
            </a:xfrm>
            <a:custGeom>
              <a:rect b="b" l="l" r="r" t="t"/>
              <a:pathLst>
                <a:path extrusionOk="0" h="15538" w="15535">
                  <a:moveTo>
                    <a:pt x="0" y="0"/>
                  </a:moveTo>
                  <a:cubicBezTo>
                    <a:pt x="0" y="4117"/>
                    <a:pt x="1641" y="8076"/>
                    <a:pt x="4551" y="10984"/>
                  </a:cubicBezTo>
                  <a:cubicBezTo>
                    <a:pt x="7462" y="13894"/>
                    <a:pt x="11418" y="15538"/>
                    <a:pt x="15535" y="15538"/>
                  </a:cubicBezTo>
                  <a:lnTo>
                    <a:pt x="15535" y="11482"/>
                  </a:lnTo>
                  <a:cubicBezTo>
                    <a:pt x="9196" y="11482"/>
                    <a:pt x="4053" y="6342"/>
                    <a:pt x="4053" y="0"/>
                  </a:cubicBez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55"/>
            <p:cNvSpPr/>
            <p:nvPr/>
          </p:nvSpPr>
          <p:spPr>
            <a:xfrm>
              <a:off x="4394088" y="3299519"/>
              <a:ext cx="915691" cy="609662"/>
            </a:xfrm>
            <a:custGeom>
              <a:rect b="b" l="l" r="r" t="t"/>
              <a:pathLst>
                <a:path extrusionOk="0" h="15515" w="23303">
                  <a:moveTo>
                    <a:pt x="15601" y="0"/>
                  </a:moveTo>
                  <a:cubicBezTo>
                    <a:pt x="10214" y="0"/>
                    <a:pt x="4947" y="2787"/>
                    <a:pt x="2078" y="7750"/>
                  </a:cubicBezTo>
                  <a:cubicBezTo>
                    <a:pt x="721" y="10104"/>
                    <a:pt x="0" y="12790"/>
                    <a:pt x="0" y="15514"/>
                  </a:cubicBezTo>
                  <a:lnTo>
                    <a:pt x="4053" y="15514"/>
                  </a:lnTo>
                  <a:cubicBezTo>
                    <a:pt x="4053" y="9168"/>
                    <a:pt x="9196" y="4031"/>
                    <a:pt x="15535" y="4031"/>
                  </a:cubicBezTo>
                  <a:cubicBezTo>
                    <a:pt x="17627" y="4031"/>
                    <a:pt x="19590" y="4588"/>
                    <a:pt x="21274" y="5572"/>
                  </a:cubicBezTo>
                  <a:lnTo>
                    <a:pt x="23302" y="2058"/>
                  </a:lnTo>
                  <a:cubicBezTo>
                    <a:pt x="20882" y="662"/>
                    <a:pt x="18227" y="0"/>
                    <a:pt x="15601" y="0"/>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7" name="Google Shape;277;p55"/>
          <p:cNvSpPr/>
          <p:nvPr/>
        </p:nvSpPr>
        <p:spPr>
          <a:xfrm>
            <a:off x="3991952" y="3462715"/>
            <a:ext cx="2307" cy="5831"/>
          </a:xfrm>
          <a:custGeom>
            <a:rect b="b" l="l" r="r" t="t"/>
            <a:pathLst>
              <a:path extrusionOk="0" h="152" w="66">
                <a:moveTo>
                  <a:pt x="65" y="1"/>
                </a:moveTo>
                <a:cubicBezTo>
                  <a:pt x="54" y="1"/>
                  <a:pt x="40" y="4"/>
                  <a:pt x="29" y="12"/>
                </a:cubicBezTo>
                <a:cubicBezTo>
                  <a:pt x="4" y="30"/>
                  <a:pt x="0" y="65"/>
                  <a:pt x="19" y="90"/>
                </a:cubicBezTo>
                <a:cubicBezTo>
                  <a:pt x="32" y="112"/>
                  <a:pt x="50" y="130"/>
                  <a:pt x="65" y="152"/>
                </a:cubicBezTo>
                <a:lnTo>
                  <a:pt x="6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5"/>
          <p:cNvSpPr/>
          <p:nvPr/>
        </p:nvSpPr>
        <p:spPr>
          <a:xfrm>
            <a:off x="6926820" y="2933697"/>
            <a:ext cx="2272" cy="4833"/>
          </a:xfrm>
          <a:custGeom>
            <a:rect b="b" l="l" r="r" t="t"/>
            <a:pathLst>
              <a:path extrusionOk="0" h="126" w="65">
                <a:moveTo>
                  <a:pt x="0" y="0"/>
                </a:moveTo>
                <a:lnTo>
                  <a:pt x="0" y="126"/>
                </a:lnTo>
                <a:cubicBezTo>
                  <a:pt x="18" y="126"/>
                  <a:pt x="36" y="116"/>
                  <a:pt x="47" y="98"/>
                </a:cubicBezTo>
                <a:cubicBezTo>
                  <a:pt x="65" y="73"/>
                  <a:pt x="58" y="36"/>
                  <a:pt x="29" y="18"/>
                </a:cubicBezTo>
                <a:cubicBezTo>
                  <a:pt x="18" y="15"/>
                  <a:pt x="11" y="8"/>
                  <a:pt x="0" y="0"/>
                </a:cubicBezTo>
                <a:close/>
              </a:path>
            </a:pathLst>
          </a:custGeom>
          <a:solidFill>
            <a:srgbClr val="FEF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5"/>
          <p:cNvSpPr/>
          <p:nvPr/>
        </p:nvSpPr>
        <p:spPr>
          <a:xfrm>
            <a:off x="3991952" y="2419109"/>
            <a:ext cx="2307" cy="4718"/>
          </a:xfrm>
          <a:custGeom>
            <a:rect b="b" l="l" r="r" t="t"/>
            <a:pathLst>
              <a:path extrusionOk="0" h="123" w="66">
                <a:moveTo>
                  <a:pt x="65" y="0"/>
                </a:moveTo>
                <a:cubicBezTo>
                  <a:pt x="54" y="4"/>
                  <a:pt x="47" y="7"/>
                  <a:pt x="37" y="15"/>
                </a:cubicBezTo>
                <a:cubicBezTo>
                  <a:pt x="11" y="29"/>
                  <a:pt x="0" y="65"/>
                  <a:pt x="15" y="90"/>
                </a:cubicBezTo>
                <a:cubicBezTo>
                  <a:pt x="25" y="111"/>
                  <a:pt x="44" y="122"/>
                  <a:pt x="65" y="122"/>
                </a:cubicBezTo>
                <a:lnTo>
                  <a:pt x="65" y="0"/>
                </a:lnTo>
                <a:close/>
              </a:path>
            </a:pathLst>
          </a:custGeom>
          <a:solidFill>
            <a:srgbClr val="D6E4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5"/>
          <p:cNvSpPr/>
          <p:nvPr/>
        </p:nvSpPr>
        <p:spPr>
          <a:xfrm>
            <a:off x="6926820" y="2339855"/>
            <a:ext cx="2272" cy="5831"/>
          </a:xfrm>
          <a:custGeom>
            <a:rect b="b" l="l" r="r" t="t"/>
            <a:pathLst>
              <a:path extrusionOk="0" h="152" w="65">
                <a:moveTo>
                  <a:pt x="0" y="0"/>
                </a:moveTo>
                <a:lnTo>
                  <a:pt x="0" y="151"/>
                </a:lnTo>
                <a:cubicBezTo>
                  <a:pt x="15" y="134"/>
                  <a:pt x="29" y="112"/>
                  <a:pt x="43" y="94"/>
                </a:cubicBezTo>
                <a:cubicBezTo>
                  <a:pt x="65" y="69"/>
                  <a:pt x="58" y="33"/>
                  <a:pt x="36" y="15"/>
                </a:cubicBezTo>
                <a:cubicBezTo>
                  <a:pt x="25" y="8"/>
                  <a:pt x="11" y="0"/>
                  <a:pt x="0" y="0"/>
                </a:cubicBezTo>
                <a:close/>
              </a:path>
            </a:pathLst>
          </a:custGeom>
          <a:solidFill>
            <a:srgbClr val="CCDD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1" name="Google Shape;281;p55"/>
          <p:cNvGrpSpPr/>
          <p:nvPr/>
        </p:nvGrpSpPr>
        <p:grpSpPr>
          <a:xfrm>
            <a:off x="3952958" y="1507345"/>
            <a:ext cx="3007216" cy="2258048"/>
            <a:chOff x="4710406" y="1815485"/>
            <a:chExt cx="3380414" cy="2313100"/>
          </a:xfrm>
        </p:grpSpPr>
        <p:sp>
          <p:nvSpPr>
            <p:cNvPr id="282" name="Google Shape;282;p55"/>
            <p:cNvSpPr/>
            <p:nvPr/>
          </p:nvSpPr>
          <p:spPr>
            <a:xfrm>
              <a:off x="4710406" y="1815485"/>
              <a:ext cx="3380234" cy="2313100"/>
            </a:xfrm>
            <a:custGeom>
              <a:rect b="b" l="l" r="r" t="t"/>
              <a:pathLst>
                <a:path extrusionOk="0" h="58865" w="86022">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5"/>
            <p:cNvSpPr/>
            <p:nvPr/>
          </p:nvSpPr>
          <p:spPr>
            <a:xfrm>
              <a:off x="4710425" y="2037750"/>
              <a:ext cx="3380234" cy="1927813"/>
            </a:xfrm>
            <a:custGeom>
              <a:rect b="b" l="l" r="r" t="t"/>
              <a:pathLst>
                <a:path extrusionOk="0" h="49060" w="86022">
                  <a:moveTo>
                    <a:pt x="0" y="1"/>
                  </a:moveTo>
                  <a:lnTo>
                    <a:pt x="0" y="49059"/>
                  </a:lnTo>
                  <a:lnTo>
                    <a:pt x="86021" y="49059"/>
                  </a:lnTo>
                  <a:lnTo>
                    <a:pt x="86021" y="1"/>
                  </a:lnTo>
                  <a:close/>
                </a:path>
              </a:pathLst>
            </a:custGeom>
            <a:solidFill>
              <a:srgbClr val="FAFAFA"/>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4" name="Google Shape;284;p55"/>
            <p:cNvGrpSpPr/>
            <p:nvPr/>
          </p:nvGrpSpPr>
          <p:grpSpPr>
            <a:xfrm>
              <a:off x="4710585" y="2281922"/>
              <a:ext cx="3380235" cy="1683653"/>
              <a:chOff x="4710585" y="2281922"/>
              <a:chExt cx="3380235" cy="1683653"/>
            </a:xfrm>
          </p:grpSpPr>
          <p:sp>
            <p:nvSpPr>
              <p:cNvPr id="285" name="Google Shape;285;p55"/>
              <p:cNvSpPr/>
              <p:nvPr/>
            </p:nvSpPr>
            <p:spPr>
              <a:xfrm>
                <a:off x="4710585" y="3230006"/>
                <a:ext cx="3380234" cy="447295"/>
              </a:xfrm>
              <a:custGeom>
                <a:rect b="b" l="l" r="r" t="t"/>
                <a:pathLst>
                  <a:path extrusionOk="0" h="11383" w="86022">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6" name="Google Shape;286;p55"/>
              <p:cNvGrpSpPr/>
              <p:nvPr/>
            </p:nvGrpSpPr>
            <p:grpSpPr>
              <a:xfrm>
                <a:off x="4710585" y="2281922"/>
                <a:ext cx="3380235" cy="634850"/>
                <a:chOff x="4672653" y="2281922"/>
                <a:chExt cx="3380235" cy="634850"/>
              </a:xfrm>
            </p:grpSpPr>
            <p:sp>
              <p:nvSpPr>
                <p:cNvPr id="287" name="Google Shape;287;p55"/>
                <p:cNvSpPr/>
                <p:nvPr/>
              </p:nvSpPr>
              <p:spPr>
                <a:xfrm>
                  <a:off x="4672653" y="2293200"/>
                  <a:ext cx="60514" cy="29235"/>
                </a:xfrm>
                <a:custGeom>
                  <a:rect b="b" l="l" r="r" t="t"/>
                  <a:pathLst>
                    <a:path extrusionOk="0" h="744" w="154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55"/>
                <p:cNvSpPr/>
                <p:nvPr/>
              </p:nvSpPr>
              <p:spPr>
                <a:xfrm>
                  <a:off x="4737530" y="2281922"/>
                  <a:ext cx="3315358" cy="634850"/>
                </a:xfrm>
                <a:custGeom>
                  <a:rect b="b" l="l" r="r" t="t"/>
                  <a:pathLst>
                    <a:path extrusionOk="0" h="16156" w="84371">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9" name="Google Shape;289;p55"/>
              <p:cNvSpPr/>
              <p:nvPr/>
            </p:nvSpPr>
            <p:spPr>
              <a:xfrm>
                <a:off x="4921590" y="3223954"/>
                <a:ext cx="166021" cy="741615"/>
              </a:xfrm>
              <a:custGeom>
                <a:rect b="b" l="l" r="r" t="t"/>
                <a:pathLst>
                  <a:path extrusionOk="0" h="18873" w="4225">
                    <a:moveTo>
                      <a:pt x="0" y="0"/>
                    </a:moveTo>
                    <a:lnTo>
                      <a:pt x="0" y="18872"/>
                    </a:lnTo>
                    <a:lnTo>
                      <a:pt x="4225" y="18872"/>
                    </a:lnTo>
                    <a:lnTo>
                      <a:pt x="4225" y="0"/>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55"/>
              <p:cNvSpPr/>
              <p:nvPr/>
            </p:nvSpPr>
            <p:spPr>
              <a:xfrm>
                <a:off x="5168405" y="3072588"/>
                <a:ext cx="166179" cy="892979"/>
              </a:xfrm>
              <a:custGeom>
                <a:rect b="b" l="l" r="r" t="t"/>
                <a:pathLst>
                  <a:path extrusionOk="0" h="22725" w="4229">
                    <a:moveTo>
                      <a:pt x="1" y="1"/>
                    </a:moveTo>
                    <a:lnTo>
                      <a:pt x="1" y="22724"/>
                    </a:lnTo>
                    <a:lnTo>
                      <a:pt x="4229" y="22724"/>
                    </a:lnTo>
                    <a:lnTo>
                      <a:pt x="4229" y="1"/>
                    </a:ln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5"/>
              <p:cNvSpPr/>
              <p:nvPr/>
            </p:nvSpPr>
            <p:spPr>
              <a:xfrm>
                <a:off x="5415377" y="2923933"/>
                <a:ext cx="166179" cy="1041632"/>
              </a:xfrm>
              <a:custGeom>
                <a:rect b="b" l="l" r="r" t="t"/>
                <a:pathLst>
                  <a:path extrusionOk="0" h="26508" w="4229">
                    <a:moveTo>
                      <a:pt x="1" y="0"/>
                    </a:moveTo>
                    <a:lnTo>
                      <a:pt x="1" y="26507"/>
                    </a:lnTo>
                    <a:lnTo>
                      <a:pt x="4229" y="26507"/>
                    </a:lnTo>
                    <a:lnTo>
                      <a:pt x="4229" y="0"/>
                    </a:ln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5"/>
              <p:cNvSpPr/>
              <p:nvPr/>
            </p:nvSpPr>
            <p:spPr>
              <a:xfrm>
                <a:off x="5662310" y="2741719"/>
                <a:ext cx="166100" cy="1223843"/>
              </a:xfrm>
              <a:custGeom>
                <a:rect b="b" l="l" r="r" t="t"/>
                <a:pathLst>
                  <a:path extrusionOk="0" h="31145" w="4227">
                    <a:moveTo>
                      <a:pt x="1" y="0"/>
                    </a:moveTo>
                    <a:lnTo>
                      <a:pt x="1" y="31144"/>
                    </a:lnTo>
                    <a:lnTo>
                      <a:pt x="4226" y="31144"/>
                    </a:lnTo>
                    <a:lnTo>
                      <a:pt x="4226" y="0"/>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5"/>
              <p:cNvSpPr/>
              <p:nvPr/>
            </p:nvSpPr>
            <p:spPr>
              <a:xfrm>
                <a:off x="5909282" y="3001659"/>
                <a:ext cx="166061" cy="963906"/>
              </a:xfrm>
              <a:custGeom>
                <a:rect b="b" l="l" r="r" t="t"/>
                <a:pathLst>
                  <a:path extrusionOk="0" h="24530" w="4226">
                    <a:moveTo>
                      <a:pt x="1" y="0"/>
                    </a:moveTo>
                    <a:lnTo>
                      <a:pt x="1" y="24529"/>
                    </a:lnTo>
                    <a:lnTo>
                      <a:pt x="4225" y="24529"/>
                    </a:lnTo>
                    <a:lnTo>
                      <a:pt x="4225" y="0"/>
                    </a:ln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5"/>
              <p:cNvSpPr/>
              <p:nvPr/>
            </p:nvSpPr>
            <p:spPr>
              <a:xfrm>
                <a:off x="6156254" y="2640416"/>
                <a:ext cx="166061" cy="1325145"/>
              </a:xfrm>
              <a:custGeom>
                <a:rect b="b" l="l" r="r" t="t"/>
                <a:pathLst>
                  <a:path extrusionOk="0" h="33723" w="4226">
                    <a:moveTo>
                      <a:pt x="1" y="1"/>
                    </a:moveTo>
                    <a:lnTo>
                      <a:pt x="1" y="33722"/>
                    </a:lnTo>
                    <a:lnTo>
                      <a:pt x="4225" y="33722"/>
                    </a:lnTo>
                    <a:lnTo>
                      <a:pt x="4225" y="1"/>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5"/>
              <p:cNvSpPr/>
              <p:nvPr/>
            </p:nvSpPr>
            <p:spPr>
              <a:xfrm>
                <a:off x="6403226" y="3091489"/>
                <a:ext cx="166061" cy="874078"/>
              </a:xfrm>
              <a:custGeom>
                <a:rect b="b" l="l" r="r" t="t"/>
                <a:pathLst>
                  <a:path extrusionOk="0" h="22244" w="4226">
                    <a:moveTo>
                      <a:pt x="1" y="0"/>
                    </a:moveTo>
                    <a:lnTo>
                      <a:pt x="1" y="22243"/>
                    </a:lnTo>
                    <a:lnTo>
                      <a:pt x="4225" y="22243"/>
                    </a:lnTo>
                    <a:lnTo>
                      <a:pt x="4225" y="0"/>
                    </a:ln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5"/>
              <p:cNvSpPr/>
              <p:nvPr/>
            </p:nvSpPr>
            <p:spPr>
              <a:xfrm>
                <a:off x="6650080" y="2798266"/>
                <a:ext cx="166179" cy="1167297"/>
              </a:xfrm>
              <a:custGeom>
                <a:rect b="b" l="l" r="r" t="t"/>
                <a:pathLst>
                  <a:path extrusionOk="0" h="29706" w="4229">
                    <a:moveTo>
                      <a:pt x="0" y="1"/>
                    </a:moveTo>
                    <a:lnTo>
                      <a:pt x="0" y="29705"/>
                    </a:lnTo>
                    <a:lnTo>
                      <a:pt x="4228" y="29705"/>
                    </a:lnTo>
                    <a:lnTo>
                      <a:pt x="4228" y="1"/>
                    </a:ln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5"/>
              <p:cNvSpPr/>
              <p:nvPr/>
            </p:nvSpPr>
            <p:spPr>
              <a:xfrm>
                <a:off x="6897013" y="3673574"/>
                <a:ext cx="166218" cy="292001"/>
              </a:xfrm>
              <a:custGeom>
                <a:rect b="b" l="l" r="r" t="t"/>
                <a:pathLst>
                  <a:path extrusionOk="0" h="7431" w="4230">
                    <a:moveTo>
                      <a:pt x="1" y="1"/>
                    </a:moveTo>
                    <a:lnTo>
                      <a:pt x="1" y="7430"/>
                    </a:lnTo>
                    <a:lnTo>
                      <a:pt x="4229" y="7430"/>
                    </a:lnTo>
                    <a:lnTo>
                      <a:pt x="4229" y="1"/>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55"/>
              <p:cNvSpPr/>
              <p:nvPr/>
            </p:nvSpPr>
            <p:spPr>
              <a:xfrm>
                <a:off x="7143985" y="2724901"/>
                <a:ext cx="166061" cy="1240661"/>
              </a:xfrm>
              <a:custGeom>
                <a:rect b="b" l="l" r="r" t="t"/>
                <a:pathLst>
                  <a:path extrusionOk="0" h="31573" w="4226">
                    <a:moveTo>
                      <a:pt x="1" y="1"/>
                    </a:moveTo>
                    <a:lnTo>
                      <a:pt x="1" y="31572"/>
                    </a:lnTo>
                    <a:lnTo>
                      <a:pt x="4225" y="31572"/>
                    </a:lnTo>
                    <a:lnTo>
                      <a:pt x="4225" y="1"/>
                    </a:ln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55"/>
              <p:cNvSpPr/>
              <p:nvPr/>
            </p:nvSpPr>
            <p:spPr>
              <a:xfrm>
                <a:off x="7390957" y="2381065"/>
                <a:ext cx="166061" cy="1584492"/>
              </a:xfrm>
              <a:custGeom>
                <a:rect b="b" l="l" r="r" t="t"/>
                <a:pathLst>
                  <a:path extrusionOk="0" h="40323" w="4226">
                    <a:moveTo>
                      <a:pt x="1" y="0"/>
                    </a:moveTo>
                    <a:lnTo>
                      <a:pt x="1" y="40322"/>
                    </a:lnTo>
                    <a:lnTo>
                      <a:pt x="4225" y="40322"/>
                    </a:lnTo>
                    <a:lnTo>
                      <a:pt x="4225" y="0"/>
                    </a:ln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5"/>
              <p:cNvSpPr/>
              <p:nvPr/>
            </p:nvSpPr>
            <p:spPr>
              <a:xfrm>
                <a:off x="7637929" y="3115184"/>
                <a:ext cx="166061" cy="850383"/>
              </a:xfrm>
              <a:custGeom>
                <a:rect b="b" l="l" r="r" t="t"/>
                <a:pathLst>
                  <a:path extrusionOk="0" h="21641" w="4226">
                    <a:moveTo>
                      <a:pt x="1" y="0"/>
                    </a:moveTo>
                    <a:lnTo>
                      <a:pt x="1" y="21640"/>
                    </a:lnTo>
                    <a:lnTo>
                      <a:pt x="4225" y="21640"/>
                    </a:lnTo>
                    <a:lnTo>
                      <a:pt x="4225" y="0"/>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01" name="Google Shape;301;p55"/>
          <p:cNvGrpSpPr/>
          <p:nvPr/>
        </p:nvGrpSpPr>
        <p:grpSpPr>
          <a:xfrm>
            <a:off x="4443697" y="1916611"/>
            <a:ext cx="938458" cy="2561202"/>
            <a:chOff x="5262046" y="2234728"/>
            <a:chExt cx="1054922" cy="2623644"/>
          </a:xfrm>
        </p:grpSpPr>
        <p:sp>
          <p:nvSpPr>
            <p:cNvPr id="302" name="Google Shape;302;p55"/>
            <p:cNvSpPr/>
            <p:nvPr/>
          </p:nvSpPr>
          <p:spPr>
            <a:xfrm>
              <a:off x="6104070" y="2510819"/>
              <a:ext cx="54895" cy="4008"/>
            </a:xfrm>
            <a:custGeom>
              <a:rect b="b" l="l" r="r" t="t"/>
              <a:pathLst>
                <a:path extrusionOk="0" h="102" w="1397">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55"/>
            <p:cNvSpPr/>
            <p:nvPr/>
          </p:nvSpPr>
          <p:spPr>
            <a:xfrm>
              <a:off x="6266871" y="2618410"/>
              <a:ext cx="157" cy="236"/>
            </a:xfrm>
            <a:custGeom>
              <a:rect b="b" l="l" r="r" t="t"/>
              <a:pathLst>
                <a:path extrusionOk="0" h="6" w="4">
                  <a:moveTo>
                    <a:pt x="0" y="1"/>
                  </a:moveTo>
                  <a:cubicBezTo>
                    <a:pt x="0" y="5"/>
                    <a:pt x="4" y="5"/>
                    <a:pt x="4" y="5"/>
                  </a:cubicBezTo>
                  <a:cubicBezTo>
                    <a:pt x="4" y="5"/>
                    <a:pt x="0" y="5"/>
                    <a:pt x="0" y="1"/>
                  </a:cubicBezTo>
                  <a:close/>
                </a:path>
              </a:pathLst>
            </a:custGeom>
            <a:solidFill>
              <a:srgbClr val="99BD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55"/>
            <p:cNvSpPr/>
            <p:nvPr/>
          </p:nvSpPr>
          <p:spPr>
            <a:xfrm>
              <a:off x="5977067" y="2638333"/>
              <a:ext cx="3340" cy="49826"/>
            </a:xfrm>
            <a:custGeom>
              <a:rect b="b" l="l" r="r" t="t"/>
              <a:pathLst>
                <a:path extrusionOk="0" h="1268" w="85">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55"/>
            <p:cNvSpPr/>
            <p:nvPr/>
          </p:nvSpPr>
          <p:spPr>
            <a:xfrm>
              <a:off x="5988698" y="2715077"/>
              <a:ext cx="39099" cy="54306"/>
            </a:xfrm>
            <a:custGeom>
              <a:rect b="b" l="l" r="r" t="t"/>
              <a:pathLst>
                <a:path extrusionOk="0" h="1382" w="995">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55"/>
            <p:cNvSpPr/>
            <p:nvPr/>
          </p:nvSpPr>
          <p:spPr>
            <a:xfrm>
              <a:off x="5965592" y="2784355"/>
              <a:ext cx="125548" cy="256714"/>
            </a:xfrm>
            <a:custGeom>
              <a:rect b="b" l="l" r="r" t="t"/>
              <a:pathLst>
                <a:path extrusionOk="0" h="6533" w="3195">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55"/>
            <p:cNvSpPr/>
            <p:nvPr/>
          </p:nvSpPr>
          <p:spPr>
            <a:xfrm>
              <a:off x="5288021" y="2719557"/>
              <a:ext cx="227950" cy="308348"/>
            </a:xfrm>
            <a:custGeom>
              <a:rect b="b" l="l" r="r" t="t"/>
              <a:pathLst>
                <a:path extrusionOk="0" h="7847" w="5801">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55"/>
            <p:cNvSpPr/>
            <p:nvPr/>
          </p:nvSpPr>
          <p:spPr>
            <a:xfrm>
              <a:off x="5297766" y="2639787"/>
              <a:ext cx="193528" cy="199147"/>
            </a:xfrm>
            <a:custGeom>
              <a:rect b="b" l="l" r="r" t="t"/>
              <a:pathLst>
                <a:path extrusionOk="0" h="5068" w="4925">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55"/>
            <p:cNvSpPr/>
            <p:nvPr/>
          </p:nvSpPr>
          <p:spPr>
            <a:xfrm>
              <a:off x="5488310" y="2958906"/>
              <a:ext cx="102442" cy="63068"/>
            </a:xfrm>
            <a:custGeom>
              <a:rect b="b" l="l" r="r" t="t"/>
              <a:pathLst>
                <a:path extrusionOk="0" h="1605" w="2607">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55"/>
            <p:cNvSpPr/>
            <p:nvPr/>
          </p:nvSpPr>
          <p:spPr>
            <a:xfrm>
              <a:off x="5548510" y="2958906"/>
              <a:ext cx="95801" cy="96076"/>
            </a:xfrm>
            <a:custGeom>
              <a:rect b="b" l="l" r="r" t="t"/>
              <a:pathLst>
                <a:path extrusionOk="0" h="2445" w="2438">
                  <a:moveTo>
                    <a:pt x="1074" y="1"/>
                  </a:moveTo>
                  <a:lnTo>
                    <a:pt x="1" y="1605"/>
                  </a:lnTo>
                  <a:lnTo>
                    <a:pt x="970" y="2445"/>
                  </a:lnTo>
                  <a:lnTo>
                    <a:pt x="2438" y="851"/>
                  </a:lnTo>
                  <a:lnTo>
                    <a:pt x="1074"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5"/>
            <p:cNvSpPr/>
            <p:nvPr/>
          </p:nvSpPr>
          <p:spPr>
            <a:xfrm>
              <a:off x="5395494" y="4767365"/>
              <a:ext cx="39099" cy="18940"/>
            </a:xfrm>
            <a:custGeom>
              <a:rect b="b" l="l" r="r" t="t"/>
              <a:pathLst>
                <a:path extrusionOk="0" h="482" w="995">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5"/>
            <p:cNvSpPr/>
            <p:nvPr/>
          </p:nvSpPr>
          <p:spPr>
            <a:xfrm>
              <a:off x="5395612" y="4749799"/>
              <a:ext cx="23341" cy="33990"/>
            </a:xfrm>
            <a:custGeom>
              <a:rect b="b" l="l" r="r" t="t"/>
              <a:pathLst>
                <a:path extrusionOk="0" h="865" w="594">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5"/>
            <p:cNvSpPr/>
            <p:nvPr/>
          </p:nvSpPr>
          <p:spPr>
            <a:xfrm>
              <a:off x="5732413" y="4767404"/>
              <a:ext cx="46722" cy="19058"/>
            </a:xfrm>
            <a:custGeom>
              <a:rect b="b" l="l" r="r" t="t"/>
              <a:pathLst>
                <a:path extrusionOk="0" h="485" w="1189">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55"/>
            <p:cNvSpPr/>
            <p:nvPr/>
          </p:nvSpPr>
          <p:spPr>
            <a:xfrm>
              <a:off x="5732413" y="4749799"/>
              <a:ext cx="29118" cy="33990"/>
            </a:xfrm>
            <a:custGeom>
              <a:rect b="b" l="l" r="r" t="t"/>
              <a:pathLst>
                <a:path extrusionOk="0" h="865" w="741">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5"/>
            <p:cNvSpPr/>
            <p:nvPr/>
          </p:nvSpPr>
          <p:spPr>
            <a:xfrm>
              <a:off x="5530867" y="2460324"/>
              <a:ext cx="185944" cy="209207"/>
            </a:xfrm>
            <a:custGeom>
              <a:rect b="b" l="l" r="r" t="t"/>
              <a:pathLst>
                <a:path extrusionOk="0" h="5324" w="4732">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55"/>
            <p:cNvSpPr/>
            <p:nvPr/>
          </p:nvSpPr>
          <p:spPr>
            <a:xfrm>
              <a:off x="5716066" y="2364954"/>
              <a:ext cx="35444" cy="16268"/>
            </a:xfrm>
            <a:custGeom>
              <a:rect b="b" l="l" r="r" t="t"/>
              <a:pathLst>
                <a:path extrusionOk="0" h="414" w="902">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55"/>
            <p:cNvSpPr/>
            <p:nvPr/>
          </p:nvSpPr>
          <p:spPr>
            <a:xfrm>
              <a:off x="5721292" y="2426884"/>
              <a:ext cx="21887" cy="44757"/>
            </a:xfrm>
            <a:custGeom>
              <a:rect b="b" l="l" r="r" t="t"/>
              <a:pathLst>
                <a:path extrusionOk="0" h="1139" w="557">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5"/>
            <p:cNvSpPr/>
            <p:nvPr/>
          </p:nvSpPr>
          <p:spPr>
            <a:xfrm>
              <a:off x="5726637" y="2406332"/>
              <a:ext cx="16543" cy="21691"/>
            </a:xfrm>
            <a:custGeom>
              <a:rect b="b" l="l" r="r" t="t"/>
              <a:pathLst>
                <a:path extrusionOk="0" h="552" w="421">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55"/>
            <p:cNvSpPr/>
            <p:nvPr/>
          </p:nvSpPr>
          <p:spPr>
            <a:xfrm>
              <a:off x="5735557" y="2405743"/>
              <a:ext cx="15129" cy="4401"/>
            </a:xfrm>
            <a:custGeom>
              <a:rect b="b" l="l" r="r" t="t"/>
              <a:pathLst>
                <a:path extrusionOk="0" h="112" w="385">
                  <a:moveTo>
                    <a:pt x="384" y="0"/>
                  </a:moveTo>
                  <a:lnTo>
                    <a:pt x="0" y="18"/>
                  </a:lnTo>
                  <a:cubicBezTo>
                    <a:pt x="43" y="88"/>
                    <a:pt x="97" y="111"/>
                    <a:pt x="151" y="111"/>
                  </a:cubicBezTo>
                  <a:cubicBezTo>
                    <a:pt x="268" y="111"/>
                    <a:pt x="384" y="0"/>
                    <a:pt x="384"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55"/>
            <p:cNvSpPr/>
            <p:nvPr/>
          </p:nvSpPr>
          <p:spPr>
            <a:xfrm>
              <a:off x="5651897" y="4608414"/>
              <a:ext cx="78865" cy="173527"/>
            </a:xfrm>
            <a:custGeom>
              <a:rect b="b" l="l" r="r" t="t"/>
              <a:pathLst>
                <a:path extrusionOk="0" h="4416" w="2007">
                  <a:moveTo>
                    <a:pt x="101" y="1"/>
                  </a:moveTo>
                  <a:lnTo>
                    <a:pt x="1" y="4416"/>
                  </a:lnTo>
                  <a:lnTo>
                    <a:pt x="1907" y="4416"/>
                  </a:lnTo>
                  <a:lnTo>
                    <a:pt x="2007"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55"/>
            <p:cNvSpPr/>
            <p:nvPr/>
          </p:nvSpPr>
          <p:spPr>
            <a:xfrm>
              <a:off x="5311559" y="4608414"/>
              <a:ext cx="97923" cy="173527"/>
            </a:xfrm>
            <a:custGeom>
              <a:rect b="b" l="l" r="r" t="t"/>
              <a:pathLst>
                <a:path extrusionOk="0" h="4416" w="2492">
                  <a:moveTo>
                    <a:pt x="586" y="1"/>
                  </a:moveTo>
                  <a:lnTo>
                    <a:pt x="1" y="4416"/>
                  </a:lnTo>
                  <a:lnTo>
                    <a:pt x="1906" y="4416"/>
                  </a:lnTo>
                  <a:lnTo>
                    <a:pt x="2492"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55"/>
            <p:cNvSpPr/>
            <p:nvPr/>
          </p:nvSpPr>
          <p:spPr>
            <a:xfrm>
              <a:off x="5290811" y="4773298"/>
              <a:ext cx="214001" cy="85074"/>
            </a:xfrm>
            <a:custGeom>
              <a:rect b="b" l="l" r="r" t="t"/>
              <a:pathLst>
                <a:path extrusionOk="0" h="2165" w="5446">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55"/>
            <p:cNvSpPr/>
            <p:nvPr/>
          </p:nvSpPr>
          <p:spPr>
            <a:xfrm>
              <a:off x="5629184" y="4773298"/>
              <a:ext cx="227675" cy="85074"/>
            </a:xfrm>
            <a:custGeom>
              <a:rect b="b" l="l" r="r" t="t"/>
              <a:pathLst>
                <a:path extrusionOk="0" h="2165" w="5794">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rgbClr val="71B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55"/>
            <p:cNvSpPr/>
            <p:nvPr/>
          </p:nvSpPr>
          <p:spPr>
            <a:xfrm>
              <a:off x="5653744" y="4608571"/>
              <a:ext cx="77018" cy="89475"/>
            </a:xfrm>
            <a:custGeom>
              <a:rect b="b" l="l" r="r" t="t"/>
              <a:pathLst>
                <a:path extrusionOk="0" h="2277" w="1960">
                  <a:moveTo>
                    <a:pt x="51" y="0"/>
                  </a:moveTo>
                  <a:lnTo>
                    <a:pt x="0" y="2276"/>
                  </a:lnTo>
                  <a:lnTo>
                    <a:pt x="1910" y="2276"/>
                  </a:lnTo>
                  <a:lnTo>
                    <a:pt x="1960" y="0"/>
                  </a:lnTo>
                  <a:close/>
                </a:path>
              </a:pathLst>
            </a:custGeom>
            <a:solidFill>
              <a:srgbClr val="CE6F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55"/>
            <p:cNvSpPr/>
            <p:nvPr/>
          </p:nvSpPr>
          <p:spPr>
            <a:xfrm>
              <a:off x="5322718" y="4608571"/>
              <a:ext cx="86763" cy="89475"/>
            </a:xfrm>
            <a:custGeom>
              <a:rect b="b" l="l" r="r" t="t"/>
              <a:pathLst>
                <a:path extrusionOk="0" h="2277" w="2208">
                  <a:moveTo>
                    <a:pt x="302" y="0"/>
                  </a:moveTo>
                  <a:lnTo>
                    <a:pt x="0" y="2276"/>
                  </a:lnTo>
                  <a:lnTo>
                    <a:pt x="1906" y="2276"/>
                  </a:lnTo>
                  <a:lnTo>
                    <a:pt x="2208" y="0"/>
                  </a:lnTo>
                  <a:close/>
                </a:path>
              </a:pathLst>
            </a:custGeom>
            <a:solidFill>
              <a:srgbClr val="CE6F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55"/>
            <p:cNvSpPr/>
            <p:nvPr/>
          </p:nvSpPr>
          <p:spPr>
            <a:xfrm>
              <a:off x="5401860" y="2621986"/>
              <a:ext cx="429730" cy="473741"/>
            </a:xfrm>
            <a:custGeom>
              <a:rect b="b" l="l" r="r" t="t"/>
              <a:pathLst>
                <a:path extrusionOk="0" h="12056" w="10936">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55"/>
            <p:cNvSpPr/>
            <p:nvPr/>
          </p:nvSpPr>
          <p:spPr>
            <a:xfrm>
              <a:off x="5744595" y="2726905"/>
              <a:ext cx="303515" cy="331846"/>
            </a:xfrm>
            <a:custGeom>
              <a:rect b="b" l="l" r="r" t="t"/>
              <a:pathLst>
                <a:path extrusionOk="0" h="8445" w="7724">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55"/>
            <p:cNvSpPr/>
            <p:nvPr/>
          </p:nvSpPr>
          <p:spPr>
            <a:xfrm>
              <a:off x="5682076" y="2638490"/>
              <a:ext cx="167161" cy="221034"/>
            </a:xfrm>
            <a:custGeom>
              <a:rect b="b" l="l" r="r" t="t"/>
              <a:pathLst>
                <a:path extrusionOk="0" h="5625" w="4254">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55"/>
            <p:cNvSpPr/>
            <p:nvPr/>
          </p:nvSpPr>
          <p:spPr>
            <a:xfrm>
              <a:off x="5997618" y="2884126"/>
              <a:ext cx="87038" cy="62676"/>
            </a:xfrm>
            <a:custGeom>
              <a:rect b="b" l="l" r="r" t="t"/>
              <a:pathLst>
                <a:path extrusionOk="0" h="1595" w="2215">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0" name="Google Shape;330;p55"/>
            <p:cNvGrpSpPr/>
            <p:nvPr/>
          </p:nvGrpSpPr>
          <p:grpSpPr>
            <a:xfrm>
              <a:off x="5932859" y="2488224"/>
              <a:ext cx="384109" cy="413192"/>
              <a:chOff x="5932859" y="2488224"/>
              <a:chExt cx="384109" cy="413192"/>
            </a:xfrm>
          </p:grpSpPr>
          <p:sp>
            <p:nvSpPr>
              <p:cNvPr id="331" name="Google Shape;331;p55"/>
              <p:cNvSpPr/>
              <p:nvPr/>
            </p:nvSpPr>
            <p:spPr>
              <a:xfrm>
                <a:off x="5978835" y="2512234"/>
                <a:ext cx="274515" cy="202880"/>
              </a:xfrm>
              <a:custGeom>
                <a:rect b="b" l="l" r="r" t="t"/>
                <a:pathLst>
                  <a:path extrusionOk="0" h="5163" w="6986">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55"/>
              <p:cNvSpPr/>
              <p:nvPr/>
            </p:nvSpPr>
            <p:spPr>
              <a:xfrm>
                <a:off x="6121163" y="2585716"/>
                <a:ext cx="134743" cy="67745"/>
              </a:xfrm>
              <a:custGeom>
                <a:rect b="b" l="l" r="r" t="t"/>
                <a:pathLst>
                  <a:path extrusionOk="0" h="1724" w="3429">
                    <a:moveTo>
                      <a:pt x="2010" y="1"/>
                    </a:moveTo>
                    <a:lnTo>
                      <a:pt x="1" y="940"/>
                    </a:lnTo>
                    <a:lnTo>
                      <a:pt x="1" y="1723"/>
                    </a:lnTo>
                    <a:lnTo>
                      <a:pt x="3428" y="126"/>
                    </a:lnTo>
                    <a:cubicBezTo>
                      <a:pt x="3407" y="83"/>
                      <a:pt x="3385" y="44"/>
                      <a:pt x="3364" y="1"/>
                    </a:cubicBez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55"/>
              <p:cNvSpPr/>
              <p:nvPr/>
            </p:nvSpPr>
            <p:spPr>
              <a:xfrm>
                <a:off x="6121163" y="2618607"/>
                <a:ext cx="151364" cy="187319"/>
              </a:xfrm>
              <a:custGeom>
                <a:rect b="b" l="l" r="r" t="t"/>
                <a:pathLst>
                  <a:path extrusionOk="0" h="4767" w="3852">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rgbClr val="A4D8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55"/>
              <p:cNvSpPr/>
              <p:nvPr/>
            </p:nvSpPr>
            <p:spPr>
              <a:xfrm>
                <a:off x="6121163" y="2585716"/>
                <a:ext cx="79022" cy="36977"/>
              </a:xfrm>
              <a:custGeom>
                <a:rect b="b" l="l" r="r" t="t"/>
                <a:pathLst>
                  <a:path extrusionOk="0" h="941" w="2011">
                    <a:moveTo>
                      <a:pt x="1" y="1"/>
                    </a:moveTo>
                    <a:lnTo>
                      <a:pt x="1" y="940"/>
                    </a:lnTo>
                    <a:lnTo>
                      <a:pt x="2010" y="1"/>
                    </a:ln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55"/>
              <p:cNvSpPr/>
              <p:nvPr/>
            </p:nvSpPr>
            <p:spPr>
              <a:xfrm>
                <a:off x="6121163" y="2590667"/>
                <a:ext cx="151207" cy="135253"/>
              </a:xfrm>
              <a:custGeom>
                <a:rect b="b" l="l" r="r" t="t"/>
                <a:pathLst>
                  <a:path extrusionOk="0" h="3442" w="3848">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rgbClr val="C1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55"/>
              <p:cNvSpPr/>
              <p:nvPr/>
            </p:nvSpPr>
            <p:spPr>
              <a:xfrm>
                <a:off x="6027758" y="2725883"/>
                <a:ext cx="93444" cy="79887"/>
              </a:xfrm>
              <a:custGeom>
                <a:rect b="b" l="l" r="r" t="t"/>
                <a:pathLst>
                  <a:path extrusionOk="0" h="2033" w="2378">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55"/>
              <p:cNvSpPr/>
              <p:nvPr/>
            </p:nvSpPr>
            <p:spPr>
              <a:xfrm>
                <a:off x="5976438" y="2533532"/>
                <a:ext cx="264220" cy="154626"/>
              </a:xfrm>
              <a:custGeom>
                <a:rect b="b" l="l" r="r" t="t"/>
                <a:pathLst>
                  <a:path extrusionOk="0" h="3935" w="6724">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55"/>
              <p:cNvSpPr/>
              <p:nvPr/>
            </p:nvSpPr>
            <p:spPr>
              <a:xfrm>
                <a:off x="5988698" y="2653422"/>
                <a:ext cx="132503" cy="115960"/>
              </a:xfrm>
              <a:custGeom>
                <a:rect b="b" l="l" r="r" t="t"/>
                <a:pathLst>
                  <a:path extrusionOk="0" h="2951" w="3372">
                    <a:moveTo>
                      <a:pt x="3372" y="0"/>
                    </a:moveTo>
                    <a:lnTo>
                      <a:pt x="1" y="1569"/>
                    </a:lnTo>
                    <a:cubicBezTo>
                      <a:pt x="220" y="2093"/>
                      <a:pt x="561" y="2570"/>
                      <a:pt x="995" y="2951"/>
                    </a:cubicBezTo>
                    <a:lnTo>
                      <a:pt x="3372" y="1845"/>
                    </a:lnTo>
                    <a:lnTo>
                      <a:pt x="3372" y="0"/>
                    </a:lnTo>
                    <a:close/>
                  </a:path>
                </a:pathLst>
              </a:cu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55"/>
              <p:cNvSpPr/>
              <p:nvPr/>
            </p:nvSpPr>
            <p:spPr>
              <a:xfrm>
                <a:off x="5932859" y="2488224"/>
                <a:ext cx="384109" cy="340295"/>
              </a:xfrm>
              <a:custGeom>
                <a:rect b="b" l="l" r="r" t="t"/>
                <a:pathLst>
                  <a:path extrusionOk="0" h="8660" w="9775">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rgbClr val="53A7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5"/>
              <p:cNvSpPr/>
              <p:nvPr/>
            </p:nvSpPr>
            <p:spPr>
              <a:xfrm>
                <a:off x="6008032" y="2844399"/>
                <a:ext cx="85231" cy="57017"/>
              </a:xfrm>
              <a:custGeom>
                <a:rect b="b" l="l" r="r" t="t"/>
                <a:pathLst>
                  <a:path extrusionOk="0" h="1451" w="2169">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1" name="Google Shape;341;p55"/>
            <p:cNvSpPr/>
            <p:nvPr/>
          </p:nvSpPr>
          <p:spPr>
            <a:xfrm>
              <a:off x="5515934" y="2262864"/>
              <a:ext cx="241782" cy="287011"/>
            </a:xfrm>
            <a:custGeom>
              <a:rect b="b" l="l" r="r" t="t"/>
              <a:pathLst>
                <a:path extrusionOk="0" h="7304" w="6153">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5"/>
            <p:cNvSpPr/>
            <p:nvPr/>
          </p:nvSpPr>
          <p:spPr>
            <a:xfrm>
              <a:off x="5262046" y="2236615"/>
              <a:ext cx="531583" cy="693989"/>
            </a:xfrm>
            <a:custGeom>
              <a:rect b="b" l="l" r="r" t="t"/>
              <a:pathLst>
                <a:path extrusionOk="0" h="17661" w="13528">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5"/>
            <p:cNvSpPr/>
            <p:nvPr/>
          </p:nvSpPr>
          <p:spPr>
            <a:xfrm>
              <a:off x="5622425" y="2234728"/>
              <a:ext cx="139969" cy="168772"/>
            </a:xfrm>
            <a:custGeom>
              <a:rect b="b" l="l" r="r" t="t"/>
              <a:pathLst>
                <a:path extrusionOk="0" h="4295" w="3562">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5"/>
            <p:cNvSpPr/>
            <p:nvPr/>
          </p:nvSpPr>
          <p:spPr>
            <a:xfrm>
              <a:off x="5652761" y="2389278"/>
              <a:ext cx="53756" cy="71281"/>
            </a:xfrm>
            <a:custGeom>
              <a:rect b="b" l="l" r="r" t="t"/>
              <a:pathLst>
                <a:path extrusionOk="0" h="1814" w="1368">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55"/>
            <p:cNvSpPr/>
            <p:nvPr/>
          </p:nvSpPr>
          <p:spPr>
            <a:xfrm>
              <a:off x="5313405" y="3095694"/>
              <a:ext cx="369137" cy="1584964"/>
            </a:xfrm>
            <a:custGeom>
              <a:rect b="b" l="l" r="r" t="t"/>
              <a:pathLst>
                <a:path extrusionOk="0" h="40335" w="9394">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5"/>
            <p:cNvSpPr/>
            <p:nvPr/>
          </p:nvSpPr>
          <p:spPr>
            <a:xfrm>
              <a:off x="5296587" y="4630420"/>
              <a:ext cx="147042" cy="51948"/>
            </a:xfrm>
            <a:custGeom>
              <a:rect b="b" l="l" r="r" t="t"/>
              <a:pathLst>
                <a:path extrusionOk="0" h="1322" w="3742">
                  <a:moveTo>
                    <a:pt x="3741" y="1"/>
                  </a:moveTo>
                  <a:lnTo>
                    <a:pt x="62" y="94"/>
                  </a:lnTo>
                  <a:lnTo>
                    <a:pt x="1" y="1321"/>
                  </a:lnTo>
                  <a:lnTo>
                    <a:pt x="3454" y="1321"/>
                  </a:lnTo>
                  <a:lnTo>
                    <a:pt x="3741"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55"/>
            <p:cNvSpPr/>
            <p:nvPr/>
          </p:nvSpPr>
          <p:spPr>
            <a:xfrm>
              <a:off x="5519157" y="3329738"/>
              <a:ext cx="124329" cy="472955"/>
            </a:xfrm>
            <a:custGeom>
              <a:rect b="b" l="l" r="r" t="t"/>
              <a:pathLst>
                <a:path extrusionOk="0" h="12036" w="3164">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5"/>
            <p:cNvSpPr/>
            <p:nvPr/>
          </p:nvSpPr>
          <p:spPr>
            <a:xfrm>
              <a:off x="5540180" y="3095694"/>
              <a:ext cx="271293" cy="1584964"/>
            </a:xfrm>
            <a:custGeom>
              <a:rect b="b" l="l" r="r" t="t"/>
              <a:pathLst>
                <a:path extrusionOk="0" h="40335" w="6904">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55"/>
            <p:cNvSpPr/>
            <p:nvPr/>
          </p:nvSpPr>
          <p:spPr>
            <a:xfrm>
              <a:off x="5624115" y="4630420"/>
              <a:ext cx="146885" cy="51948"/>
            </a:xfrm>
            <a:custGeom>
              <a:rect b="b" l="l" r="r" t="t"/>
              <a:pathLst>
                <a:path extrusionOk="0" h="1322" w="3738">
                  <a:moveTo>
                    <a:pt x="3737" y="1"/>
                  </a:moveTo>
                  <a:lnTo>
                    <a:pt x="0" y="94"/>
                  </a:lnTo>
                  <a:lnTo>
                    <a:pt x="61" y="1321"/>
                  </a:lnTo>
                  <a:lnTo>
                    <a:pt x="3449" y="1321"/>
                  </a:lnTo>
                  <a:lnTo>
                    <a:pt x="3737"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5"/>
            <p:cNvSpPr/>
            <p:nvPr/>
          </p:nvSpPr>
          <p:spPr>
            <a:xfrm>
              <a:off x="5439505" y="3075574"/>
              <a:ext cx="333025" cy="33872"/>
            </a:xfrm>
            <a:custGeom>
              <a:rect b="b" l="l" r="r" t="t"/>
              <a:pathLst>
                <a:path extrusionOk="0" h="862" w="8475">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55"/>
            <p:cNvSpPr/>
            <p:nvPr/>
          </p:nvSpPr>
          <p:spPr>
            <a:xfrm>
              <a:off x="5484459" y="3073177"/>
              <a:ext cx="18115" cy="39216"/>
            </a:xfrm>
            <a:custGeom>
              <a:rect b="b" l="l" r="r" t="t"/>
              <a:pathLst>
                <a:path extrusionOk="0" h="998" w="461">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55"/>
            <p:cNvSpPr/>
            <p:nvPr/>
          </p:nvSpPr>
          <p:spPr>
            <a:xfrm>
              <a:off x="5684512" y="3073177"/>
              <a:ext cx="18076" cy="39216"/>
            </a:xfrm>
            <a:custGeom>
              <a:rect b="b" l="l" r="r" t="t"/>
              <a:pathLst>
                <a:path extrusionOk="0" h="998" w="46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3" name="Google Shape;353;p55"/>
          <p:cNvSpPr txBox="1"/>
          <p:nvPr/>
        </p:nvSpPr>
        <p:spPr>
          <a:xfrm>
            <a:off x="445800" y="5108250"/>
            <a:ext cx="6540600" cy="30408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As part of this analysis, we  worked with a sales dataset to study customer behavior. By performing tasks such as customer segmentation, clustering, and analyzing key metrics (such as recency, frequency, and monetary value), We  sought to gain insights that can be used to make data-driven business decisions. The goal is to provide practical advice for companies to improve their customer engagement strategies.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In this report, we will describe the steps we took to explore the dataset, apply clustering techniques, and implement a machine learning application that predicts and recommends products based on customer profiles. We will also discuss the technologies used in the development and implementation of the app, including how we integrated explainable components to help users better understand their personalized recommendations.</a:t>
            </a:r>
            <a:endParaRPr b="0" i="0" sz="1200" u="none" cap="none" strike="noStrike">
              <a:solidFill>
                <a:srgbClr val="272727"/>
              </a:solidFill>
              <a:latin typeface="Didact Gothic"/>
              <a:ea typeface="Didact Gothic"/>
              <a:cs typeface="Didact Gothic"/>
              <a:sym typeface="Didact Gothic"/>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grpSp>
        <p:nvGrpSpPr>
          <p:cNvPr id="358" name="Google Shape;358;p56"/>
          <p:cNvGrpSpPr/>
          <p:nvPr/>
        </p:nvGrpSpPr>
        <p:grpSpPr>
          <a:xfrm>
            <a:off x="-1500" y="9788760"/>
            <a:ext cx="7559700" cy="925500"/>
            <a:chOff x="-1500" y="9788760"/>
            <a:chExt cx="7559700" cy="925500"/>
          </a:xfrm>
        </p:grpSpPr>
        <p:sp>
          <p:nvSpPr>
            <p:cNvPr id="359" name="Google Shape;359;p56"/>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56"/>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1" name="Google Shape;361;p56"/>
          <p:cNvSpPr/>
          <p:nvPr/>
        </p:nvSpPr>
        <p:spPr>
          <a:xfrm>
            <a:off x="505800" y="311400"/>
            <a:ext cx="3219600" cy="40065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Project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This project aims to use data analytics and machine learning techniques to understand customer behavior in a retail context. By analyzing transaction data, we seek to better understand customer purchasing habits, identify key metrics such as duration, frequency, and monetary value (RFM), and use clustering techniques to segment customers based on their purchasing habits. The goal is to develop a machine learning application that can predict customer behavior, recommend products, and provide a personalized shopping experience.</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362" name="Google Shape;362;p56"/>
          <p:cNvSpPr txBox="1"/>
          <p:nvPr/>
        </p:nvSpPr>
        <p:spPr>
          <a:xfrm>
            <a:off x="508675" y="311400"/>
            <a:ext cx="6540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72727"/>
                </a:solidFill>
                <a:latin typeface="Manrope"/>
                <a:ea typeface="Manrope"/>
                <a:cs typeface="Manrope"/>
                <a:sym typeface="Manrope"/>
              </a:rPr>
              <a:t>INTRODUCTION</a:t>
            </a:r>
            <a:endParaRPr b="0" i="0" sz="3700" u="none" cap="none" strike="noStrike">
              <a:solidFill>
                <a:srgbClr val="000000"/>
              </a:solidFill>
              <a:latin typeface="Arial"/>
              <a:ea typeface="Arial"/>
              <a:cs typeface="Arial"/>
              <a:sym typeface="Arial"/>
            </a:endParaRPr>
          </a:p>
        </p:txBody>
      </p:sp>
      <p:sp>
        <p:nvSpPr>
          <p:cNvPr id="363" name="Google Shape;363;p56"/>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4" name="Google Shape;364;p56"/>
          <p:cNvGrpSpPr/>
          <p:nvPr/>
        </p:nvGrpSpPr>
        <p:grpSpPr>
          <a:xfrm>
            <a:off x="3912240" y="1148093"/>
            <a:ext cx="3276541" cy="2868508"/>
            <a:chOff x="523900" y="1249126"/>
            <a:chExt cx="3021525" cy="2645249"/>
          </a:xfrm>
        </p:grpSpPr>
        <p:sp>
          <p:nvSpPr>
            <p:cNvPr id="365" name="Google Shape;365;p56"/>
            <p:cNvSpPr/>
            <p:nvPr/>
          </p:nvSpPr>
          <p:spPr>
            <a:xfrm>
              <a:off x="523900" y="3762375"/>
              <a:ext cx="2824200" cy="132000"/>
            </a:xfrm>
            <a:prstGeom prst="ellipse">
              <a:avLst/>
            </a:prstGeom>
            <a:solidFill>
              <a:srgbClr val="666666">
                <a:alpha val="1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6" name="Google Shape;366;p56"/>
            <p:cNvGrpSpPr/>
            <p:nvPr/>
          </p:nvGrpSpPr>
          <p:grpSpPr>
            <a:xfrm>
              <a:off x="694638" y="1249126"/>
              <a:ext cx="2850787" cy="2580084"/>
              <a:chOff x="915800" y="238125"/>
              <a:chExt cx="5788400" cy="5238750"/>
            </a:xfrm>
          </p:grpSpPr>
          <p:sp>
            <p:nvSpPr>
              <p:cNvPr id="367" name="Google Shape;367;p56"/>
              <p:cNvSpPr/>
              <p:nvPr/>
            </p:nvSpPr>
            <p:spPr>
              <a:xfrm>
                <a:off x="2115275" y="5325950"/>
                <a:ext cx="248725" cy="35000"/>
              </a:xfrm>
              <a:custGeom>
                <a:rect b="b" l="l" r="r" t="t"/>
                <a:pathLst>
                  <a:path extrusionOk="0" h="1400" w="9949">
                    <a:moveTo>
                      <a:pt x="0" y="1"/>
                    </a:moveTo>
                    <a:lnTo>
                      <a:pt x="1839" y="363"/>
                    </a:lnTo>
                    <a:lnTo>
                      <a:pt x="3679" y="718"/>
                    </a:lnTo>
                    <a:lnTo>
                      <a:pt x="5527" y="1063"/>
                    </a:lnTo>
                    <a:lnTo>
                      <a:pt x="7375" y="1400"/>
                    </a:lnTo>
                    <a:lnTo>
                      <a:pt x="9948" y="1400"/>
                    </a:lnTo>
                    <a:lnTo>
                      <a:pt x="0" y="1"/>
                    </a:lnTo>
                    <a:close/>
                  </a:path>
                </a:pathLst>
              </a:custGeom>
              <a:solidFill>
                <a:srgbClr val="BFD2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56"/>
              <p:cNvSpPr/>
              <p:nvPr/>
            </p:nvSpPr>
            <p:spPr>
              <a:xfrm>
                <a:off x="1638800" y="3214125"/>
                <a:ext cx="3501300" cy="2092425"/>
              </a:xfrm>
              <a:custGeom>
                <a:rect b="b" l="l" r="r" t="t"/>
                <a:pathLst>
                  <a:path extrusionOk="0" h="83697" w="140052">
                    <a:moveTo>
                      <a:pt x="5717" y="1"/>
                    </a:moveTo>
                    <a:lnTo>
                      <a:pt x="5441" y="10"/>
                    </a:lnTo>
                    <a:lnTo>
                      <a:pt x="5164" y="27"/>
                    </a:lnTo>
                    <a:lnTo>
                      <a:pt x="4897" y="61"/>
                    </a:lnTo>
                    <a:lnTo>
                      <a:pt x="4638" y="105"/>
                    </a:lnTo>
                    <a:lnTo>
                      <a:pt x="4379" y="165"/>
                    </a:lnTo>
                    <a:lnTo>
                      <a:pt x="4128" y="234"/>
                    </a:lnTo>
                    <a:lnTo>
                      <a:pt x="3878" y="320"/>
                    </a:lnTo>
                    <a:lnTo>
                      <a:pt x="3636" y="407"/>
                    </a:lnTo>
                    <a:lnTo>
                      <a:pt x="3394" y="519"/>
                    </a:lnTo>
                    <a:lnTo>
                      <a:pt x="3161" y="631"/>
                    </a:lnTo>
                    <a:lnTo>
                      <a:pt x="2936" y="761"/>
                    </a:lnTo>
                    <a:lnTo>
                      <a:pt x="2721" y="899"/>
                    </a:lnTo>
                    <a:lnTo>
                      <a:pt x="2513" y="1046"/>
                    </a:lnTo>
                    <a:lnTo>
                      <a:pt x="2306" y="1201"/>
                    </a:lnTo>
                    <a:lnTo>
                      <a:pt x="2116" y="1374"/>
                    </a:lnTo>
                    <a:lnTo>
                      <a:pt x="1926" y="1547"/>
                    </a:lnTo>
                    <a:lnTo>
                      <a:pt x="1753" y="1737"/>
                    </a:lnTo>
                    <a:lnTo>
                      <a:pt x="1581" y="1927"/>
                    </a:lnTo>
                    <a:lnTo>
                      <a:pt x="1425" y="2125"/>
                    </a:lnTo>
                    <a:lnTo>
                      <a:pt x="1270" y="2333"/>
                    </a:lnTo>
                    <a:lnTo>
                      <a:pt x="1132" y="2557"/>
                    </a:lnTo>
                    <a:lnTo>
                      <a:pt x="1002" y="2773"/>
                    </a:lnTo>
                    <a:lnTo>
                      <a:pt x="881" y="3006"/>
                    </a:lnTo>
                    <a:lnTo>
                      <a:pt x="778" y="3239"/>
                    </a:lnTo>
                    <a:lnTo>
                      <a:pt x="674" y="3481"/>
                    </a:lnTo>
                    <a:lnTo>
                      <a:pt x="596" y="3731"/>
                    </a:lnTo>
                    <a:lnTo>
                      <a:pt x="519" y="3982"/>
                    </a:lnTo>
                    <a:lnTo>
                      <a:pt x="458" y="4241"/>
                    </a:lnTo>
                    <a:lnTo>
                      <a:pt x="406" y="4509"/>
                    </a:lnTo>
                    <a:lnTo>
                      <a:pt x="372" y="4776"/>
                    </a:lnTo>
                    <a:lnTo>
                      <a:pt x="354" y="5044"/>
                    </a:lnTo>
                    <a:lnTo>
                      <a:pt x="346" y="5320"/>
                    </a:lnTo>
                    <a:lnTo>
                      <a:pt x="0" y="77704"/>
                    </a:lnTo>
                    <a:lnTo>
                      <a:pt x="0" y="77980"/>
                    </a:lnTo>
                    <a:lnTo>
                      <a:pt x="26" y="78256"/>
                    </a:lnTo>
                    <a:lnTo>
                      <a:pt x="52" y="78524"/>
                    </a:lnTo>
                    <a:lnTo>
                      <a:pt x="104" y="78783"/>
                    </a:lnTo>
                    <a:lnTo>
                      <a:pt x="164" y="79042"/>
                    </a:lnTo>
                    <a:lnTo>
                      <a:pt x="234" y="79301"/>
                    </a:lnTo>
                    <a:lnTo>
                      <a:pt x="311" y="79552"/>
                    </a:lnTo>
                    <a:lnTo>
                      <a:pt x="406" y="79793"/>
                    </a:lnTo>
                    <a:lnTo>
                      <a:pt x="519" y="80026"/>
                    </a:lnTo>
                    <a:lnTo>
                      <a:pt x="631" y="80260"/>
                    </a:lnTo>
                    <a:lnTo>
                      <a:pt x="760" y="80484"/>
                    </a:lnTo>
                    <a:lnTo>
                      <a:pt x="899" y="80700"/>
                    </a:lnTo>
                    <a:lnTo>
                      <a:pt x="1045" y="80907"/>
                    </a:lnTo>
                    <a:lnTo>
                      <a:pt x="1201" y="81115"/>
                    </a:lnTo>
                    <a:lnTo>
                      <a:pt x="1373" y="81305"/>
                    </a:lnTo>
                    <a:lnTo>
                      <a:pt x="1546" y="81495"/>
                    </a:lnTo>
                    <a:lnTo>
                      <a:pt x="1728" y="81676"/>
                    </a:lnTo>
                    <a:lnTo>
                      <a:pt x="1926" y="81840"/>
                    </a:lnTo>
                    <a:lnTo>
                      <a:pt x="2125" y="82004"/>
                    </a:lnTo>
                    <a:lnTo>
                      <a:pt x="2332" y="82151"/>
                    </a:lnTo>
                    <a:lnTo>
                      <a:pt x="2548" y="82289"/>
                    </a:lnTo>
                    <a:lnTo>
                      <a:pt x="2772" y="82419"/>
                    </a:lnTo>
                    <a:lnTo>
                      <a:pt x="3006" y="82539"/>
                    </a:lnTo>
                    <a:lnTo>
                      <a:pt x="3239" y="82652"/>
                    </a:lnTo>
                    <a:lnTo>
                      <a:pt x="3481" y="82747"/>
                    </a:lnTo>
                    <a:lnTo>
                      <a:pt x="3731" y="82833"/>
                    </a:lnTo>
                    <a:lnTo>
                      <a:pt x="3981" y="82902"/>
                    </a:lnTo>
                    <a:lnTo>
                      <a:pt x="4240" y="82963"/>
                    </a:lnTo>
                    <a:lnTo>
                      <a:pt x="4508" y="83014"/>
                    </a:lnTo>
                    <a:lnTo>
                      <a:pt x="4776" y="83049"/>
                    </a:lnTo>
                    <a:lnTo>
                      <a:pt x="5044" y="83066"/>
                    </a:lnTo>
                    <a:lnTo>
                      <a:pt x="5320" y="83075"/>
                    </a:lnTo>
                    <a:lnTo>
                      <a:pt x="134335" y="83697"/>
                    </a:lnTo>
                    <a:lnTo>
                      <a:pt x="134611" y="83688"/>
                    </a:lnTo>
                    <a:lnTo>
                      <a:pt x="134879" y="83671"/>
                    </a:lnTo>
                    <a:lnTo>
                      <a:pt x="135147" y="83636"/>
                    </a:lnTo>
                    <a:lnTo>
                      <a:pt x="135414" y="83593"/>
                    </a:lnTo>
                    <a:lnTo>
                      <a:pt x="135673" y="83532"/>
                    </a:lnTo>
                    <a:lnTo>
                      <a:pt x="135924" y="83463"/>
                    </a:lnTo>
                    <a:lnTo>
                      <a:pt x="136174" y="83377"/>
                    </a:lnTo>
                    <a:lnTo>
                      <a:pt x="136416" y="83282"/>
                    </a:lnTo>
                    <a:lnTo>
                      <a:pt x="136649" y="83178"/>
                    </a:lnTo>
                    <a:lnTo>
                      <a:pt x="136882" y="83058"/>
                    </a:lnTo>
                    <a:lnTo>
                      <a:pt x="137107" y="82937"/>
                    </a:lnTo>
                    <a:lnTo>
                      <a:pt x="137323" y="82798"/>
                    </a:lnTo>
                    <a:lnTo>
                      <a:pt x="137539" y="82652"/>
                    </a:lnTo>
                    <a:lnTo>
                      <a:pt x="137737" y="82488"/>
                    </a:lnTo>
                    <a:lnTo>
                      <a:pt x="137936" y="82324"/>
                    </a:lnTo>
                    <a:lnTo>
                      <a:pt x="138117" y="82151"/>
                    </a:lnTo>
                    <a:lnTo>
                      <a:pt x="138299" y="81961"/>
                    </a:lnTo>
                    <a:lnTo>
                      <a:pt x="138463" y="81771"/>
                    </a:lnTo>
                    <a:lnTo>
                      <a:pt x="138627" y="81564"/>
                    </a:lnTo>
                    <a:lnTo>
                      <a:pt x="138773" y="81356"/>
                    </a:lnTo>
                    <a:lnTo>
                      <a:pt x="138920" y="81140"/>
                    </a:lnTo>
                    <a:lnTo>
                      <a:pt x="139050" y="80916"/>
                    </a:lnTo>
                    <a:lnTo>
                      <a:pt x="139162" y="80691"/>
                    </a:lnTo>
                    <a:lnTo>
                      <a:pt x="139274" y="80450"/>
                    </a:lnTo>
                    <a:lnTo>
                      <a:pt x="139369" y="80208"/>
                    </a:lnTo>
                    <a:lnTo>
                      <a:pt x="139456" y="79966"/>
                    </a:lnTo>
                    <a:lnTo>
                      <a:pt x="139525" y="79707"/>
                    </a:lnTo>
                    <a:lnTo>
                      <a:pt x="139594" y="79448"/>
                    </a:lnTo>
                    <a:lnTo>
                      <a:pt x="139637" y="79189"/>
                    </a:lnTo>
                    <a:lnTo>
                      <a:pt x="139672" y="78921"/>
                    </a:lnTo>
                    <a:lnTo>
                      <a:pt x="139697" y="78653"/>
                    </a:lnTo>
                    <a:lnTo>
                      <a:pt x="139706" y="78377"/>
                    </a:lnTo>
                    <a:lnTo>
                      <a:pt x="140052" y="5985"/>
                    </a:lnTo>
                    <a:lnTo>
                      <a:pt x="140043" y="5709"/>
                    </a:lnTo>
                    <a:lnTo>
                      <a:pt x="140026" y="5441"/>
                    </a:lnTo>
                    <a:lnTo>
                      <a:pt x="139991" y="5174"/>
                    </a:lnTo>
                    <a:lnTo>
                      <a:pt x="139948" y="4906"/>
                    </a:lnTo>
                    <a:lnTo>
                      <a:pt x="139887" y="4647"/>
                    </a:lnTo>
                    <a:lnTo>
                      <a:pt x="139818" y="4396"/>
                    </a:lnTo>
                    <a:lnTo>
                      <a:pt x="139732" y="4146"/>
                    </a:lnTo>
                    <a:lnTo>
                      <a:pt x="139637" y="3904"/>
                    </a:lnTo>
                    <a:lnTo>
                      <a:pt x="139533" y="3671"/>
                    </a:lnTo>
                    <a:lnTo>
                      <a:pt x="139413" y="3438"/>
                    </a:lnTo>
                    <a:lnTo>
                      <a:pt x="139292" y="3213"/>
                    </a:lnTo>
                    <a:lnTo>
                      <a:pt x="139153" y="2997"/>
                    </a:lnTo>
                    <a:lnTo>
                      <a:pt x="138998" y="2782"/>
                    </a:lnTo>
                    <a:lnTo>
                      <a:pt x="138843" y="2583"/>
                    </a:lnTo>
                    <a:lnTo>
                      <a:pt x="138678" y="2384"/>
                    </a:lnTo>
                    <a:lnTo>
                      <a:pt x="138497" y="2203"/>
                    </a:lnTo>
                    <a:lnTo>
                      <a:pt x="138316" y="2022"/>
                    </a:lnTo>
                    <a:lnTo>
                      <a:pt x="138126" y="1858"/>
                    </a:lnTo>
                    <a:lnTo>
                      <a:pt x="137919" y="1693"/>
                    </a:lnTo>
                    <a:lnTo>
                      <a:pt x="137711" y="1547"/>
                    </a:lnTo>
                    <a:lnTo>
                      <a:pt x="137495" y="1400"/>
                    </a:lnTo>
                    <a:lnTo>
                      <a:pt x="137271" y="1270"/>
                    </a:lnTo>
                    <a:lnTo>
                      <a:pt x="137046" y="1158"/>
                    </a:lnTo>
                    <a:lnTo>
                      <a:pt x="136805" y="1046"/>
                    </a:lnTo>
                    <a:lnTo>
                      <a:pt x="136563" y="951"/>
                    </a:lnTo>
                    <a:lnTo>
                      <a:pt x="136321" y="864"/>
                    </a:lnTo>
                    <a:lnTo>
                      <a:pt x="136062" y="795"/>
                    </a:lnTo>
                    <a:lnTo>
                      <a:pt x="135803" y="726"/>
                    </a:lnTo>
                    <a:lnTo>
                      <a:pt x="135544" y="683"/>
                    </a:lnTo>
                    <a:lnTo>
                      <a:pt x="135276" y="649"/>
                    </a:lnTo>
                    <a:lnTo>
                      <a:pt x="135000" y="623"/>
                    </a:lnTo>
                    <a:lnTo>
                      <a:pt x="134732" y="614"/>
                    </a:lnTo>
                    <a:lnTo>
                      <a:pt x="5717" y="1"/>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56"/>
              <p:cNvSpPr/>
              <p:nvPr/>
            </p:nvSpPr>
            <p:spPr>
              <a:xfrm>
                <a:off x="3378200" y="3247600"/>
                <a:ext cx="31975" cy="31975"/>
              </a:xfrm>
              <a:custGeom>
                <a:rect b="b" l="l" r="r" t="t"/>
                <a:pathLst>
                  <a:path extrusionOk="0" h="1279" w="1279">
                    <a:moveTo>
                      <a:pt x="580" y="0"/>
                    </a:moveTo>
                    <a:lnTo>
                      <a:pt x="510" y="18"/>
                    </a:lnTo>
                    <a:lnTo>
                      <a:pt x="450" y="26"/>
                    </a:lnTo>
                    <a:lnTo>
                      <a:pt x="390" y="52"/>
                    </a:lnTo>
                    <a:lnTo>
                      <a:pt x="338" y="78"/>
                    </a:lnTo>
                    <a:lnTo>
                      <a:pt x="286" y="113"/>
                    </a:lnTo>
                    <a:lnTo>
                      <a:pt x="234" y="147"/>
                    </a:lnTo>
                    <a:lnTo>
                      <a:pt x="191" y="190"/>
                    </a:lnTo>
                    <a:lnTo>
                      <a:pt x="148" y="234"/>
                    </a:lnTo>
                    <a:lnTo>
                      <a:pt x="113" y="277"/>
                    </a:lnTo>
                    <a:lnTo>
                      <a:pt x="79" y="337"/>
                    </a:lnTo>
                    <a:lnTo>
                      <a:pt x="53" y="389"/>
                    </a:lnTo>
                    <a:lnTo>
                      <a:pt x="27" y="449"/>
                    </a:lnTo>
                    <a:lnTo>
                      <a:pt x="10" y="510"/>
                    </a:lnTo>
                    <a:lnTo>
                      <a:pt x="1" y="570"/>
                    </a:lnTo>
                    <a:lnTo>
                      <a:pt x="1" y="639"/>
                    </a:lnTo>
                    <a:lnTo>
                      <a:pt x="1" y="700"/>
                    </a:lnTo>
                    <a:lnTo>
                      <a:pt x="10" y="769"/>
                    </a:lnTo>
                    <a:lnTo>
                      <a:pt x="27" y="829"/>
                    </a:lnTo>
                    <a:lnTo>
                      <a:pt x="44" y="890"/>
                    </a:lnTo>
                    <a:lnTo>
                      <a:pt x="79" y="942"/>
                    </a:lnTo>
                    <a:lnTo>
                      <a:pt x="105" y="994"/>
                    </a:lnTo>
                    <a:lnTo>
                      <a:pt x="139" y="1045"/>
                    </a:lnTo>
                    <a:lnTo>
                      <a:pt x="182" y="1089"/>
                    </a:lnTo>
                    <a:lnTo>
                      <a:pt x="225" y="1132"/>
                    </a:lnTo>
                    <a:lnTo>
                      <a:pt x="277" y="1166"/>
                    </a:lnTo>
                    <a:lnTo>
                      <a:pt x="329" y="1201"/>
                    </a:lnTo>
                    <a:lnTo>
                      <a:pt x="390" y="1227"/>
                    </a:lnTo>
                    <a:lnTo>
                      <a:pt x="441" y="1253"/>
                    </a:lnTo>
                    <a:lnTo>
                      <a:pt x="510" y="1270"/>
                    </a:lnTo>
                    <a:lnTo>
                      <a:pt x="571" y="1278"/>
                    </a:lnTo>
                    <a:lnTo>
                      <a:pt x="700" y="1278"/>
                    </a:lnTo>
                    <a:lnTo>
                      <a:pt x="761" y="1270"/>
                    </a:lnTo>
                    <a:lnTo>
                      <a:pt x="821" y="1253"/>
                    </a:lnTo>
                    <a:lnTo>
                      <a:pt x="882" y="1227"/>
                    </a:lnTo>
                    <a:lnTo>
                      <a:pt x="942" y="1201"/>
                    </a:lnTo>
                    <a:lnTo>
                      <a:pt x="994" y="1175"/>
                    </a:lnTo>
                    <a:lnTo>
                      <a:pt x="1046" y="1132"/>
                    </a:lnTo>
                    <a:lnTo>
                      <a:pt x="1089" y="1097"/>
                    </a:lnTo>
                    <a:lnTo>
                      <a:pt x="1132" y="1045"/>
                    </a:lnTo>
                    <a:lnTo>
                      <a:pt x="1167" y="1002"/>
                    </a:lnTo>
                    <a:lnTo>
                      <a:pt x="1201" y="950"/>
                    </a:lnTo>
                    <a:lnTo>
                      <a:pt x="1227" y="890"/>
                    </a:lnTo>
                    <a:lnTo>
                      <a:pt x="1244" y="829"/>
                    </a:lnTo>
                    <a:lnTo>
                      <a:pt x="1262" y="769"/>
                    </a:lnTo>
                    <a:lnTo>
                      <a:pt x="1270" y="709"/>
                    </a:lnTo>
                    <a:lnTo>
                      <a:pt x="1279" y="639"/>
                    </a:lnTo>
                    <a:lnTo>
                      <a:pt x="1270" y="579"/>
                    </a:lnTo>
                    <a:lnTo>
                      <a:pt x="1262" y="519"/>
                    </a:lnTo>
                    <a:lnTo>
                      <a:pt x="1253" y="449"/>
                    </a:lnTo>
                    <a:lnTo>
                      <a:pt x="1227" y="398"/>
                    </a:lnTo>
                    <a:lnTo>
                      <a:pt x="1201" y="337"/>
                    </a:lnTo>
                    <a:lnTo>
                      <a:pt x="1167" y="285"/>
                    </a:lnTo>
                    <a:lnTo>
                      <a:pt x="1132" y="234"/>
                    </a:lnTo>
                    <a:lnTo>
                      <a:pt x="1089" y="190"/>
                    </a:lnTo>
                    <a:lnTo>
                      <a:pt x="1046" y="147"/>
                    </a:lnTo>
                    <a:lnTo>
                      <a:pt x="994" y="113"/>
                    </a:lnTo>
                    <a:lnTo>
                      <a:pt x="942" y="78"/>
                    </a:lnTo>
                    <a:lnTo>
                      <a:pt x="890" y="52"/>
                    </a:lnTo>
                    <a:lnTo>
                      <a:pt x="830" y="35"/>
                    </a:lnTo>
                    <a:lnTo>
                      <a:pt x="769" y="18"/>
                    </a:lnTo>
                    <a:lnTo>
                      <a:pt x="709" y="9"/>
                    </a:lnTo>
                    <a:lnTo>
                      <a:pt x="640" y="0"/>
                    </a:lnTo>
                    <a:close/>
                  </a:path>
                </a:pathLst>
              </a:custGeom>
              <a:solidFill>
                <a:srgbClr val="3338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6"/>
              <p:cNvSpPr/>
              <p:nvPr/>
            </p:nvSpPr>
            <p:spPr>
              <a:xfrm>
                <a:off x="1379525" y="5291850"/>
                <a:ext cx="4009700" cy="185025"/>
              </a:xfrm>
              <a:custGeom>
                <a:rect b="b" l="l" r="r" t="t"/>
                <a:pathLst>
                  <a:path extrusionOk="0" h="7401" w="160388">
                    <a:moveTo>
                      <a:pt x="0" y="0"/>
                    </a:moveTo>
                    <a:lnTo>
                      <a:pt x="9" y="346"/>
                    </a:lnTo>
                    <a:lnTo>
                      <a:pt x="35" y="683"/>
                    </a:lnTo>
                    <a:lnTo>
                      <a:pt x="78" y="1019"/>
                    </a:lnTo>
                    <a:lnTo>
                      <a:pt x="130" y="1347"/>
                    </a:lnTo>
                    <a:lnTo>
                      <a:pt x="207" y="1667"/>
                    </a:lnTo>
                    <a:lnTo>
                      <a:pt x="294" y="1987"/>
                    </a:lnTo>
                    <a:lnTo>
                      <a:pt x="397" y="2297"/>
                    </a:lnTo>
                    <a:lnTo>
                      <a:pt x="510" y="2600"/>
                    </a:lnTo>
                    <a:lnTo>
                      <a:pt x="648" y="2893"/>
                    </a:lnTo>
                    <a:lnTo>
                      <a:pt x="795" y="3187"/>
                    </a:lnTo>
                    <a:lnTo>
                      <a:pt x="950" y="3463"/>
                    </a:lnTo>
                    <a:lnTo>
                      <a:pt x="1123" y="3731"/>
                    </a:lnTo>
                    <a:lnTo>
                      <a:pt x="1304" y="3999"/>
                    </a:lnTo>
                    <a:lnTo>
                      <a:pt x="1503" y="4249"/>
                    </a:lnTo>
                    <a:lnTo>
                      <a:pt x="1710" y="4491"/>
                    </a:lnTo>
                    <a:lnTo>
                      <a:pt x="1934" y="4724"/>
                    </a:lnTo>
                    <a:lnTo>
                      <a:pt x="2159" y="4949"/>
                    </a:lnTo>
                    <a:lnTo>
                      <a:pt x="2401" y="5156"/>
                    </a:lnTo>
                    <a:lnTo>
                      <a:pt x="2651" y="5354"/>
                    </a:lnTo>
                    <a:lnTo>
                      <a:pt x="2919" y="5544"/>
                    </a:lnTo>
                    <a:lnTo>
                      <a:pt x="3187" y="5717"/>
                    </a:lnTo>
                    <a:lnTo>
                      <a:pt x="3463" y="5881"/>
                    </a:lnTo>
                    <a:lnTo>
                      <a:pt x="3748" y="6028"/>
                    </a:lnTo>
                    <a:lnTo>
                      <a:pt x="4042" y="6166"/>
                    </a:lnTo>
                    <a:lnTo>
                      <a:pt x="4344" y="6287"/>
                    </a:lnTo>
                    <a:lnTo>
                      <a:pt x="4655" y="6391"/>
                    </a:lnTo>
                    <a:lnTo>
                      <a:pt x="4974" y="6486"/>
                    </a:lnTo>
                    <a:lnTo>
                      <a:pt x="5294" y="6555"/>
                    </a:lnTo>
                    <a:lnTo>
                      <a:pt x="5622" y="6615"/>
                    </a:lnTo>
                    <a:lnTo>
                      <a:pt x="5959" y="6667"/>
                    </a:lnTo>
                    <a:lnTo>
                      <a:pt x="6295" y="6693"/>
                    </a:lnTo>
                    <a:lnTo>
                      <a:pt x="6641" y="6702"/>
                    </a:lnTo>
                    <a:lnTo>
                      <a:pt x="153687" y="7401"/>
                    </a:lnTo>
                    <a:lnTo>
                      <a:pt x="154032" y="7392"/>
                    </a:lnTo>
                    <a:lnTo>
                      <a:pt x="154369" y="7375"/>
                    </a:lnTo>
                    <a:lnTo>
                      <a:pt x="154706" y="7332"/>
                    </a:lnTo>
                    <a:lnTo>
                      <a:pt x="155034" y="7271"/>
                    </a:lnTo>
                    <a:lnTo>
                      <a:pt x="155353" y="7202"/>
                    </a:lnTo>
                    <a:lnTo>
                      <a:pt x="155673" y="7116"/>
                    </a:lnTo>
                    <a:lnTo>
                      <a:pt x="155984" y="7012"/>
                    </a:lnTo>
                    <a:lnTo>
                      <a:pt x="156286" y="6892"/>
                    </a:lnTo>
                    <a:lnTo>
                      <a:pt x="156580" y="6762"/>
                    </a:lnTo>
                    <a:lnTo>
                      <a:pt x="156873" y="6615"/>
                    </a:lnTo>
                    <a:lnTo>
                      <a:pt x="157150" y="6451"/>
                    </a:lnTo>
                    <a:lnTo>
                      <a:pt x="157426" y="6278"/>
                    </a:lnTo>
                    <a:lnTo>
                      <a:pt x="157685" y="6097"/>
                    </a:lnTo>
                    <a:lnTo>
                      <a:pt x="157935" y="5898"/>
                    </a:lnTo>
                    <a:lnTo>
                      <a:pt x="158186" y="5691"/>
                    </a:lnTo>
                    <a:lnTo>
                      <a:pt x="158410" y="5475"/>
                    </a:lnTo>
                    <a:lnTo>
                      <a:pt x="158635" y="5242"/>
                    </a:lnTo>
                    <a:lnTo>
                      <a:pt x="158851" y="5000"/>
                    </a:lnTo>
                    <a:lnTo>
                      <a:pt x="159049" y="4750"/>
                    </a:lnTo>
                    <a:lnTo>
                      <a:pt x="159231" y="4491"/>
                    </a:lnTo>
                    <a:lnTo>
                      <a:pt x="159412" y="4223"/>
                    </a:lnTo>
                    <a:lnTo>
                      <a:pt x="159568" y="3938"/>
                    </a:lnTo>
                    <a:lnTo>
                      <a:pt x="159714" y="3653"/>
                    </a:lnTo>
                    <a:lnTo>
                      <a:pt x="159853" y="3360"/>
                    </a:lnTo>
                    <a:lnTo>
                      <a:pt x="159973" y="3057"/>
                    </a:lnTo>
                    <a:lnTo>
                      <a:pt x="160077" y="2746"/>
                    </a:lnTo>
                    <a:lnTo>
                      <a:pt x="160172" y="2436"/>
                    </a:lnTo>
                    <a:lnTo>
                      <a:pt x="160250" y="2107"/>
                    </a:lnTo>
                    <a:lnTo>
                      <a:pt x="160310" y="1779"/>
                    </a:lnTo>
                    <a:lnTo>
                      <a:pt x="160353" y="1451"/>
                    </a:lnTo>
                    <a:lnTo>
                      <a:pt x="160379" y="1106"/>
                    </a:lnTo>
                    <a:lnTo>
                      <a:pt x="160388" y="769"/>
                    </a:lnTo>
                    <a:lnTo>
                      <a:pt x="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6"/>
              <p:cNvSpPr/>
              <p:nvPr/>
            </p:nvSpPr>
            <p:spPr>
              <a:xfrm>
                <a:off x="1722775" y="3295950"/>
                <a:ext cx="3333125" cy="1945175"/>
              </a:xfrm>
              <a:custGeom>
                <a:rect b="b" l="l" r="r" t="t"/>
                <a:pathLst>
                  <a:path extrusionOk="0" h="77807" w="133325">
                    <a:moveTo>
                      <a:pt x="4526" y="1"/>
                    </a:moveTo>
                    <a:lnTo>
                      <a:pt x="4310" y="9"/>
                    </a:lnTo>
                    <a:lnTo>
                      <a:pt x="4094" y="18"/>
                    </a:lnTo>
                    <a:lnTo>
                      <a:pt x="3887" y="44"/>
                    </a:lnTo>
                    <a:lnTo>
                      <a:pt x="3679" y="79"/>
                    </a:lnTo>
                    <a:lnTo>
                      <a:pt x="3481" y="130"/>
                    </a:lnTo>
                    <a:lnTo>
                      <a:pt x="3282" y="182"/>
                    </a:lnTo>
                    <a:lnTo>
                      <a:pt x="3084" y="251"/>
                    </a:lnTo>
                    <a:lnTo>
                      <a:pt x="2894" y="320"/>
                    </a:lnTo>
                    <a:lnTo>
                      <a:pt x="2712" y="407"/>
                    </a:lnTo>
                    <a:lnTo>
                      <a:pt x="2531" y="493"/>
                    </a:lnTo>
                    <a:lnTo>
                      <a:pt x="2358" y="597"/>
                    </a:lnTo>
                    <a:lnTo>
                      <a:pt x="2185" y="700"/>
                    </a:lnTo>
                    <a:lnTo>
                      <a:pt x="2021" y="821"/>
                    </a:lnTo>
                    <a:lnTo>
                      <a:pt x="1866" y="942"/>
                    </a:lnTo>
                    <a:lnTo>
                      <a:pt x="1710" y="1072"/>
                    </a:lnTo>
                    <a:lnTo>
                      <a:pt x="1564" y="1210"/>
                    </a:lnTo>
                    <a:lnTo>
                      <a:pt x="1426" y="1357"/>
                    </a:lnTo>
                    <a:lnTo>
                      <a:pt x="1296" y="1503"/>
                    </a:lnTo>
                    <a:lnTo>
                      <a:pt x="1166" y="1659"/>
                    </a:lnTo>
                    <a:lnTo>
                      <a:pt x="1054" y="1823"/>
                    </a:lnTo>
                    <a:lnTo>
                      <a:pt x="942" y="1996"/>
                    </a:lnTo>
                    <a:lnTo>
                      <a:pt x="838" y="2168"/>
                    </a:lnTo>
                    <a:lnTo>
                      <a:pt x="752" y="2350"/>
                    </a:lnTo>
                    <a:lnTo>
                      <a:pt x="666" y="2531"/>
                    </a:lnTo>
                    <a:lnTo>
                      <a:pt x="588" y="2721"/>
                    </a:lnTo>
                    <a:lnTo>
                      <a:pt x="519" y="2920"/>
                    </a:lnTo>
                    <a:lnTo>
                      <a:pt x="467" y="3118"/>
                    </a:lnTo>
                    <a:lnTo>
                      <a:pt x="415" y="3317"/>
                    </a:lnTo>
                    <a:lnTo>
                      <a:pt x="381" y="3524"/>
                    </a:lnTo>
                    <a:lnTo>
                      <a:pt x="355" y="3731"/>
                    </a:lnTo>
                    <a:lnTo>
                      <a:pt x="337" y="3947"/>
                    </a:lnTo>
                    <a:lnTo>
                      <a:pt x="329" y="4154"/>
                    </a:lnTo>
                    <a:lnTo>
                      <a:pt x="1" y="73014"/>
                    </a:lnTo>
                    <a:lnTo>
                      <a:pt x="1" y="73230"/>
                    </a:lnTo>
                    <a:lnTo>
                      <a:pt x="18" y="73437"/>
                    </a:lnTo>
                    <a:lnTo>
                      <a:pt x="44" y="73645"/>
                    </a:lnTo>
                    <a:lnTo>
                      <a:pt x="78" y="73852"/>
                    </a:lnTo>
                    <a:lnTo>
                      <a:pt x="130" y="74059"/>
                    </a:lnTo>
                    <a:lnTo>
                      <a:pt x="182" y="74258"/>
                    </a:lnTo>
                    <a:lnTo>
                      <a:pt x="242" y="74448"/>
                    </a:lnTo>
                    <a:lnTo>
                      <a:pt x="320" y="74638"/>
                    </a:lnTo>
                    <a:lnTo>
                      <a:pt x="407" y="74828"/>
                    </a:lnTo>
                    <a:lnTo>
                      <a:pt x="493" y="75009"/>
                    </a:lnTo>
                    <a:lnTo>
                      <a:pt x="596" y="75182"/>
                    </a:lnTo>
                    <a:lnTo>
                      <a:pt x="700" y="75355"/>
                    </a:lnTo>
                    <a:lnTo>
                      <a:pt x="821" y="75519"/>
                    </a:lnTo>
                    <a:lnTo>
                      <a:pt x="942" y="75674"/>
                    </a:lnTo>
                    <a:lnTo>
                      <a:pt x="1071" y="75821"/>
                    </a:lnTo>
                    <a:lnTo>
                      <a:pt x="1210" y="75968"/>
                    </a:lnTo>
                    <a:lnTo>
                      <a:pt x="1356" y="76106"/>
                    </a:lnTo>
                    <a:lnTo>
                      <a:pt x="1503" y="76244"/>
                    </a:lnTo>
                    <a:lnTo>
                      <a:pt x="1659" y="76365"/>
                    </a:lnTo>
                    <a:lnTo>
                      <a:pt x="1823" y="76486"/>
                    </a:lnTo>
                    <a:lnTo>
                      <a:pt x="1995" y="76589"/>
                    </a:lnTo>
                    <a:lnTo>
                      <a:pt x="2168" y="76693"/>
                    </a:lnTo>
                    <a:lnTo>
                      <a:pt x="2350" y="76788"/>
                    </a:lnTo>
                    <a:lnTo>
                      <a:pt x="2531" y="76874"/>
                    </a:lnTo>
                    <a:lnTo>
                      <a:pt x="2721" y="76952"/>
                    </a:lnTo>
                    <a:lnTo>
                      <a:pt x="2919" y="77013"/>
                    </a:lnTo>
                    <a:lnTo>
                      <a:pt x="3109" y="77073"/>
                    </a:lnTo>
                    <a:lnTo>
                      <a:pt x="3317" y="77116"/>
                    </a:lnTo>
                    <a:lnTo>
                      <a:pt x="3524" y="77159"/>
                    </a:lnTo>
                    <a:lnTo>
                      <a:pt x="3731" y="77185"/>
                    </a:lnTo>
                    <a:lnTo>
                      <a:pt x="3938" y="77203"/>
                    </a:lnTo>
                    <a:lnTo>
                      <a:pt x="4154" y="77211"/>
                    </a:lnTo>
                    <a:lnTo>
                      <a:pt x="128800" y="77807"/>
                    </a:lnTo>
                    <a:lnTo>
                      <a:pt x="129016" y="77798"/>
                    </a:lnTo>
                    <a:lnTo>
                      <a:pt x="129231" y="77781"/>
                    </a:lnTo>
                    <a:lnTo>
                      <a:pt x="129439" y="77755"/>
                    </a:lnTo>
                    <a:lnTo>
                      <a:pt x="129646" y="77721"/>
                    </a:lnTo>
                    <a:lnTo>
                      <a:pt x="129845" y="77677"/>
                    </a:lnTo>
                    <a:lnTo>
                      <a:pt x="130043" y="77617"/>
                    </a:lnTo>
                    <a:lnTo>
                      <a:pt x="130242" y="77557"/>
                    </a:lnTo>
                    <a:lnTo>
                      <a:pt x="130432" y="77479"/>
                    </a:lnTo>
                    <a:lnTo>
                      <a:pt x="130613" y="77401"/>
                    </a:lnTo>
                    <a:lnTo>
                      <a:pt x="130794" y="77306"/>
                    </a:lnTo>
                    <a:lnTo>
                      <a:pt x="130967" y="77211"/>
                    </a:lnTo>
                    <a:lnTo>
                      <a:pt x="131140" y="77099"/>
                    </a:lnTo>
                    <a:lnTo>
                      <a:pt x="131304" y="76987"/>
                    </a:lnTo>
                    <a:lnTo>
                      <a:pt x="131459" y="76866"/>
                    </a:lnTo>
                    <a:lnTo>
                      <a:pt x="131615" y="76728"/>
                    </a:lnTo>
                    <a:lnTo>
                      <a:pt x="131762" y="76598"/>
                    </a:lnTo>
                    <a:lnTo>
                      <a:pt x="131900" y="76451"/>
                    </a:lnTo>
                    <a:lnTo>
                      <a:pt x="132029" y="76296"/>
                    </a:lnTo>
                    <a:lnTo>
                      <a:pt x="132159" y="76140"/>
                    </a:lnTo>
                    <a:lnTo>
                      <a:pt x="132271" y="75976"/>
                    </a:lnTo>
                    <a:lnTo>
                      <a:pt x="132383" y="75812"/>
                    </a:lnTo>
                    <a:lnTo>
                      <a:pt x="132487" y="75631"/>
                    </a:lnTo>
                    <a:lnTo>
                      <a:pt x="132582" y="75458"/>
                    </a:lnTo>
                    <a:lnTo>
                      <a:pt x="132660" y="75268"/>
                    </a:lnTo>
                    <a:lnTo>
                      <a:pt x="132737" y="75078"/>
                    </a:lnTo>
                    <a:lnTo>
                      <a:pt x="132807" y="74888"/>
                    </a:lnTo>
                    <a:lnTo>
                      <a:pt x="132858" y="74690"/>
                    </a:lnTo>
                    <a:lnTo>
                      <a:pt x="132910" y="74491"/>
                    </a:lnTo>
                    <a:lnTo>
                      <a:pt x="132945" y="74284"/>
                    </a:lnTo>
                    <a:lnTo>
                      <a:pt x="132971" y="74076"/>
                    </a:lnTo>
                    <a:lnTo>
                      <a:pt x="132988" y="73861"/>
                    </a:lnTo>
                    <a:lnTo>
                      <a:pt x="132997" y="73645"/>
                    </a:lnTo>
                    <a:lnTo>
                      <a:pt x="133325" y="4794"/>
                    </a:lnTo>
                    <a:lnTo>
                      <a:pt x="133325" y="4578"/>
                    </a:lnTo>
                    <a:lnTo>
                      <a:pt x="133307" y="4362"/>
                    </a:lnTo>
                    <a:lnTo>
                      <a:pt x="133282" y="4154"/>
                    </a:lnTo>
                    <a:lnTo>
                      <a:pt x="133247" y="3947"/>
                    </a:lnTo>
                    <a:lnTo>
                      <a:pt x="133204" y="3749"/>
                    </a:lnTo>
                    <a:lnTo>
                      <a:pt x="133143" y="3550"/>
                    </a:lnTo>
                    <a:lnTo>
                      <a:pt x="133083" y="3351"/>
                    </a:lnTo>
                    <a:lnTo>
                      <a:pt x="133005" y="3161"/>
                    </a:lnTo>
                    <a:lnTo>
                      <a:pt x="132927" y="2980"/>
                    </a:lnTo>
                    <a:lnTo>
                      <a:pt x="132832" y="2799"/>
                    </a:lnTo>
                    <a:lnTo>
                      <a:pt x="132729" y="2626"/>
                    </a:lnTo>
                    <a:lnTo>
                      <a:pt x="132625" y="2453"/>
                    </a:lnTo>
                    <a:lnTo>
                      <a:pt x="132513" y="2289"/>
                    </a:lnTo>
                    <a:lnTo>
                      <a:pt x="132383" y="2134"/>
                    </a:lnTo>
                    <a:lnTo>
                      <a:pt x="132254" y="1978"/>
                    </a:lnTo>
                    <a:lnTo>
                      <a:pt x="132116" y="1832"/>
                    </a:lnTo>
                    <a:lnTo>
                      <a:pt x="131969" y="1693"/>
                    </a:lnTo>
                    <a:lnTo>
                      <a:pt x="131822" y="1564"/>
                    </a:lnTo>
                    <a:lnTo>
                      <a:pt x="131667" y="1434"/>
                    </a:lnTo>
                    <a:lnTo>
                      <a:pt x="131503" y="1322"/>
                    </a:lnTo>
                    <a:lnTo>
                      <a:pt x="131330" y="1210"/>
                    </a:lnTo>
                    <a:lnTo>
                      <a:pt x="131157" y="1106"/>
                    </a:lnTo>
                    <a:lnTo>
                      <a:pt x="130976" y="1020"/>
                    </a:lnTo>
                    <a:lnTo>
                      <a:pt x="130794" y="933"/>
                    </a:lnTo>
                    <a:lnTo>
                      <a:pt x="130604" y="856"/>
                    </a:lnTo>
                    <a:lnTo>
                      <a:pt x="130415" y="787"/>
                    </a:lnTo>
                    <a:lnTo>
                      <a:pt x="130216" y="735"/>
                    </a:lnTo>
                    <a:lnTo>
                      <a:pt x="130009" y="683"/>
                    </a:lnTo>
                    <a:lnTo>
                      <a:pt x="129810" y="648"/>
                    </a:lnTo>
                    <a:lnTo>
                      <a:pt x="129594" y="623"/>
                    </a:lnTo>
                    <a:lnTo>
                      <a:pt x="129387" y="605"/>
                    </a:lnTo>
                    <a:lnTo>
                      <a:pt x="129171" y="597"/>
                    </a:lnTo>
                    <a:lnTo>
                      <a:pt x="4526" y="1"/>
                    </a:lnTo>
                    <a:close/>
                  </a:path>
                </a:pathLst>
              </a:custGeom>
              <a:solidFill>
                <a:srgbClr val="FEF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6"/>
              <p:cNvSpPr/>
              <p:nvPr/>
            </p:nvSpPr>
            <p:spPr>
              <a:xfrm>
                <a:off x="5651075" y="1586775"/>
                <a:ext cx="451250" cy="114450"/>
              </a:xfrm>
              <a:custGeom>
                <a:rect b="b" l="l" r="r" t="t"/>
                <a:pathLst>
                  <a:path extrusionOk="0" h="4578" w="18050">
                    <a:moveTo>
                      <a:pt x="1" y="0"/>
                    </a:moveTo>
                    <a:lnTo>
                      <a:pt x="1" y="4577"/>
                    </a:lnTo>
                    <a:lnTo>
                      <a:pt x="18049" y="4577"/>
                    </a:lnTo>
                    <a:lnTo>
                      <a:pt x="1804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6"/>
              <p:cNvSpPr/>
              <p:nvPr/>
            </p:nvSpPr>
            <p:spPr>
              <a:xfrm>
                <a:off x="5651075" y="1409750"/>
                <a:ext cx="672100" cy="114425"/>
              </a:xfrm>
              <a:custGeom>
                <a:rect b="b" l="l" r="r" t="t"/>
                <a:pathLst>
                  <a:path extrusionOk="0" h="4577" w="26884">
                    <a:moveTo>
                      <a:pt x="1" y="0"/>
                    </a:moveTo>
                    <a:lnTo>
                      <a:pt x="1" y="4577"/>
                    </a:lnTo>
                    <a:lnTo>
                      <a:pt x="26883" y="4577"/>
                    </a:lnTo>
                    <a:lnTo>
                      <a:pt x="26883" y="0"/>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6"/>
              <p:cNvSpPr/>
              <p:nvPr/>
            </p:nvSpPr>
            <p:spPr>
              <a:xfrm>
                <a:off x="5651075" y="1232925"/>
                <a:ext cx="976725" cy="114450"/>
              </a:xfrm>
              <a:custGeom>
                <a:rect b="b" l="l" r="r" t="t"/>
                <a:pathLst>
                  <a:path extrusionOk="0" h="4578" w="39069">
                    <a:moveTo>
                      <a:pt x="1" y="1"/>
                    </a:moveTo>
                    <a:lnTo>
                      <a:pt x="1" y="4577"/>
                    </a:lnTo>
                    <a:lnTo>
                      <a:pt x="39068" y="4577"/>
                    </a:lnTo>
                    <a:lnTo>
                      <a:pt x="39068" y="1"/>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6"/>
              <p:cNvSpPr/>
              <p:nvPr/>
            </p:nvSpPr>
            <p:spPr>
              <a:xfrm>
                <a:off x="5651075" y="1055900"/>
                <a:ext cx="549675" cy="114450"/>
              </a:xfrm>
              <a:custGeom>
                <a:rect b="b" l="l" r="r" t="t"/>
                <a:pathLst>
                  <a:path extrusionOk="0" h="4578" w="21987">
                    <a:moveTo>
                      <a:pt x="1" y="0"/>
                    </a:moveTo>
                    <a:lnTo>
                      <a:pt x="1" y="4577"/>
                    </a:lnTo>
                    <a:lnTo>
                      <a:pt x="21987" y="4577"/>
                    </a:lnTo>
                    <a:lnTo>
                      <a:pt x="21987" y="0"/>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6"/>
              <p:cNvSpPr/>
              <p:nvPr/>
            </p:nvSpPr>
            <p:spPr>
              <a:xfrm>
                <a:off x="5631650" y="949475"/>
                <a:ext cx="1072550" cy="837025"/>
              </a:xfrm>
              <a:custGeom>
                <a:rect b="b" l="l" r="r" t="t"/>
                <a:pathLst>
                  <a:path extrusionOk="0" h="33481" w="42902">
                    <a:moveTo>
                      <a:pt x="147" y="0"/>
                    </a:moveTo>
                    <a:lnTo>
                      <a:pt x="113" y="9"/>
                    </a:lnTo>
                    <a:lnTo>
                      <a:pt x="78" y="26"/>
                    </a:lnTo>
                    <a:lnTo>
                      <a:pt x="52" y="52"/>
                    </a:lnTo>
                    <a:lnTo>
                      <a:pt x="35" y="78"/>
                    </a:lnTo>
                    <a:lnTo>
                      <a:pt x="18" y="112"/>
                    </a:lnTo>
                    <a:lnTo>
                      <a:pt x="1" y="147"/>
                    </a:lnTo>
                    <a:lnTo>
                      <a:pt x="1" y="181"/>
                    </a:lnTo>
                    <a:lnTo>
                      <a:pt x="1" y="33480"/>
                    </a:lnTo>
                    <a:lnTo>
                      <a:pt x="42755" y="33480"/>
                    </a:lnTo>
                    <a:lnTo>
                      <a:pt x="42790" y="33463"/>
                    </a:lnTo>
                    <a:lnTo>
                      <a:pt x="42824" y="33446"/>
                    </a:lnTo>
                    <a:lnTo>
                      <a:pt x="42850" y="33428"/>
                    </a:lnTo>
                    <a:lnTo>
                      <a:pt x="42876" y="33402"/>
                    </a:lnTo>
                    <a:lnTo>
                      <a:pt x="42893" y="33368"/>
                    </a:lnTo>
                    <a:lnTo>
                      <a:pt x="42902" y="33333"/>
                    </a:lnTo>
                    <a:lnTo>
                      <a:pt x="42902" y="33299"/>
                    </a:lnTo>
                    <a:lnTo>
                      <a:pt x="42902" y="33256"/>
                    </a:lnTo>
                    <a:lnTo>
                      <a:pt x="42893" y="33221"/>
                    </a:lnTo>
                    <a:lnTo>
                      <a:pt x="42876" y="33195"/>
                    </a:lnTo>
                    <a:lnTo>
                      <a:pt x="42850" y="33169"/>
                    </a:lnTo>
                    <a:lnTo>
                      <a:pt x="42824" y="33143"/>
                    </a:lnTo>
                    <a:lnTo>
                      <a:pt x="42790" y="33126"/>
                    </a:lnTo>
                    <a:lnTo>
                      <a:pt x="42755" y="33117"/>
                    </a:lnTo>
                    <a:lnTo>
                      <a:pt x="42721" y="33109"/>
                    </a:lnTo>
                    <a:lnTo>
                      <a:pt x="372" y="33109"/>
                    </a:lnTo>
                    <a:lnTo>
                      <a:pt x="372" y="181"/>
                    </a:lnTo>
                    <a:lnTo>
                      <a:pt x="363" y="147"/>
                    </a:lnTo>
                    <a:lnTo>
                      <a:pt x="355" y="112"/>
                    </a:lnTo>
                    <a:lnTo>
                      <a:pt x="337" y="78"/>
                    </a:lnTo>
                    <a:lnTo>
                      <a:pt x="312" y="52"/>
                    </a:lnTo>
                    <a:lnTo>
                      <a:pt x="286" y="26"/>
                    </a:lnTo>
                    <a:lnTo>
                      <a:pt x="260" y="9"/>
                    </a:lnTo>
                    <a:lnTo>
                      <a:pt x="225"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6"/>
              <p:cNvSpPr/>
              <p:nvPr/>
            </p:nvSpPr>
            <p:spPr>
              <a:xfrm>
                <a:off x="4004925" y="238125"/>
                <a:ext cx="663900" cy="663875"/>
              </a:xfrm>
              <a:custGeom>
                <a:rect b="b" l="l" r="r" t="t"/>
                <a:pathLst>
                  <a:path extrusionOk="0" h="26555" w="26556">
                    <a:moveTo>
                      <a:pt x="13412" y="4266"/>
                    </a:moveTo>
                    <a:lnTo>
                      <a:pt x="13636" y="4275"/>
                    </a:lnTo>
                    <a:lnTo>
                      <a:pt x="13870" y="4283"/>
                    </a:lnTo>
                    <a:lnTo>
                      <a:pt x="14094" y="4309"/>
                    </a:lnTo>
                    <a:lnTo>
                      <a:pt x="14319" y="4326"/>
                    </a:lnTo>
                    <a:lnTo>
                      <a:pt x="14543" y="4361"/>
                    </a:lnTo>
                    <a:lnTo>
                      <a:pt x="14768" y="4395"/>
                    </a:lnTo>
                    <a:lnTo>
                      <a:pt x="14984" y="4430"/>
                    </a:lnTo>
                    <a:lnTo>
                      <a:pt x="15208" y="4473"/>
                    </a:lnTo>
                    <a:lnTo>
                      <a:pt x="15424" y="4525"/>
                    </a:lnTo>
                    <a:lnTo>
                      <a:pt x="15631" y="4585"/>
                    </a:lnTo>
                    <a:lnTo>
                      <a:pt x="15847" y="4646"/>
                    </a:lnTo>
                    <a:lnTo>
                      <a:pt x="16063" y="4706"/>
                    </a:lnTo>
                    <a:lnTo>
                      <a:pt x="16270" y="4784"/>
                    </a:lnTo>
                    <a:lnTo>
                      <a:pt x="16469" y="4853"/>
                    </a:lnTo>
                    <a:lnTo>
                      <a:pt x="16676" y="4940"/>
                    </a:lnTo>
                    <a:lnTo>
                      <a:pt x="16875" y="5026"/>
                    </a:lnTo>
                    <a:lnTo>
                      <a:pt x="17073" y="5112"/>
                    </a:lnTo>
                    <a:lnTo>
                      <a:pt x="17272" y="5207"/>
                    </a:lnTo>
                    <a:lnTo>
                      <a:pt x="17471" y="5311"/>
                    </a:lnTo>
                    <a:lnTo>
                      <a:pt x="17661" y="5414"/>
                    </a:lnTo>
                    <a:lnTo>
                      <a:pt x="17851" y="5518"/>
                    </a:lnTo>
                    <a:lnTo>
                      <a:pt x="18032" y="5630"/>
                    </a:lnTo>
                    <a:lnTo>
                      <a:pt x="18213" y="5751"/>
                    </a:lnTo>
                    <a:lnTo>
                      <a:pt x="18395" y="5872"/>
                    </a:lnTo>
                    <a:lnTo>
                      <a:pt x="18740" y="6123"/>
                    </a:lnTo>
                    <a:lnTo>
                      <a:pt x="19077" y="6399"/>
                    </a:lnTo>
                    <a:lnTo>
                      <a:pt x="19405" y="6684"/>
                    </a:lnTo>
                    <a:lnTo>
                      <a:pt x="19716" y="6986"/>
                    </a:lnTo>
                    <a:lnTo>
                      <a:pt x="20009" y="7306"/>
                    </a:lnTo>
                    <a:lnTo>
                      <a:pt x="20286" y="7634"/>
                    </a:lnTo>
                    <a:lnTo>
                      <a:pt x="20415" y="7807"/>
                    </a:lnTo>
                    <a:lnTo>
                      <a:pt x="20545" y="7979"/>
                    </a:lnTo>
                    <a:lnTo>
                      <a:pt x="20674" y="8152"/>
                    </a:lnTo>
                    <a:lnTo>
                      <a:pt x="20795" y="8333"/>
                    </a:lnTo>
                    <a:lnTo>
                      <a:pt x="20916" y="8515"/>
                    </a:lnTo>
                    <a:lnTo>
                      <a:pt x="21028" y="8705"/>
                    </a:lnTo>
                    <a:lnTo>
                      <a:pt x="21132" y="8895"/>
                    </a:lnTo>
                    <a:lnTo>
                      <a:pt x="21236" y="9085"/>
                    </a:lnTo>
                    <a:lnTo>
                      <a:pt x="21339" y="9283"/>
                    </a:lnTo>
                    <a:lnTo>
                      <a:pt x="21434" y="9473"/>
                    </a:lnTo>
                    <a:lnTo>
                      <a:pt x="21521" y="9680"/>
                    </a:lnTo>
                    <a:lnTo>
                      <a:pt x="21607" y="9879"/>
                    </a:lnTo>
                    <a:lnTo>
                      <a:pt x="21693" y="10086"/>
                    </a:lnTo>
                    <a:lnTo>
                      <a:pt x="21762" y="10294"/>
                    </a:lnTo>
                    <a:lnTo>
                      <a:pt x="21832" y="10501"/>
                    </a:lnTo>
                    <a:lnTo>
                      <a:pt x="21901" y="10717"/>
                    </a:lnTo>
                    <a:lnTo>
                      <a:pt x="21961" y="10933"/>
                    </a:lnTo>
                    <a:lnTo>
                      <a:pt x="22022" y="11148"/>
                    </a:lnTo>
                    <a:lnTo>
                      <a:pt x="22065" y="11364"/>
                    </a:lnTo>
                    <a:lnTo>
                      <a:pt x="22117" y="11589"/>
                    </a:lnTo>
                    <a:lnTo>
                      <a:pt x="22151" y="11813"/>
                    </a:lnTo>
                    <a:lnTo>
                      <a:pt x="22186" y="12038"/>
                    </a:lnTo>
                    <a:lnTo>
                      <a:pt x="22211" y="12262"/>
                    </a:lnTo>
                    <a:lnTo>
                      <a:pt x="22237" y="12496"/>
                    </a:lnTo>
                    <a:lnTo>
                      <a:pt x="22255" y="12720"/>
                    </a:lnTo>
                    <a:lnTo>
                      <a:pt x="22263" y="12953"/>
                    </a:lnTo>
                    <a:lnTo>
                      <a:pt x="22272" y="13186"/>
                    </a:lnTo>
                    <a:lnTo>
                      <a:pt x="22272" y="13420"/>
                    </a:lnTo>
                    <a:lnTo>
                      <a:pt x="22263" y="13653"/>
                    </a:lnTo>
                    <a:lnTo>
                      <a:pt x="22255" y="13877"/>
                    </a:lnTo>
                    <a:lnTo>
                      <a:pt x="22229" y="14102"/>
                    </a:lnTo>
                    <a:lnTo>
                      <a:pt x="22211" y="14326"/>
                    </a:lnTo>
                    <a:lnTo>
                      <a:pt x="22177" y="14551"/>
                    </a:lnTo>
                    <a:lnTo>
                      <a:pt x="22142" y="14775"/>
                    </a:lnTo>
                    <a:lnTo>
                      <a:pt x="22108" y="15000"/>
                    </a:lnTo>
                    <a:lnTo>
                      <a:pt x="22065" y="15216"/>
                    </a:lnTo>
                    <a:lnTo>
                      <a:pt x="22013" y="15432"/>
                    </a:lnTo>
                    <a:lnTo>
                      <a:pt x="21952" y="15648"/>
                    </a:lnTo>
                    <a:lnTo>
                      <a:pt x="21892" y="15863"/>
                    </a:lnTo>
                    <a:lnTo>
                      <a:pt x="21832" y="16071"/>
                    </a:lnTo>
                    <a:lnTo>
                      <a:pt x="21754" y="16278"/>
                    </a:lnTo>
                    <a:lnTo>
                      <a:pt x="21685" y="16485"/>
                    </a:lnTo>
                    <a:lnTo>
                      <a:pt x="21598" y="16692"/>
                    </a:lnTo>
                    <a:lnTo>
                      <a:pt x="21512" y="16891"/>
                    </a:lnTo>
                    <a:lnTo>
                      <a:pt x="21426" y="17090"/>
                    </a:lnTo>
                    <a:lnTo>
                      <a:pt x="21331" y="17288"/>
                    </a:lnTo>
                    <a:lnTo>
                      <a:pt x="21227" y="17478"/>
                    </a:lnTo>
                    <a:lnTo>
                      <a:pt x="21123" y="17668"/>
                    </a:lnTo>
                    <a:lnTo>
                      <a:pt x="21020" y="17858"/>
                    </a:lnTo>
                    <a:lnTo>
                      <a:pt x="20908" y="18040"/>
                    </a:lnTo>
                    <a:lnTo>
                      <a:pt x="20787" y="18230"/>
                    </a:lnTo>
                    <a:lnTo>
                      <a:pt x="20666" y="18402"/>
                    </a:lnTo>
                    <a:lnTo>
                      <a:pt x="20415" y="18756"/>
                    </a:lnTo>
                    <a:lnTo>
                      <a:pt x="20139" y="19093"/>
                    </a:lnTo>
                    <a:lnTo>
                      <a:pt x="19854" y="19413"/>
                    </a:lnTo>
                    <a:lnTo>
                      <a:pt x="19552" y="19724"/>
                    </a:lnTo>
                    <a:lnTo>
                      <a:pt x="19232" y="20017"/>
                    </a:lnTo>
                    <a:lnTo>
                      <a:pt x="19068" y="20155"/>
                    </a:lnTo>
                    <a:lnTo>
                      <a:pt x="18904" y="20294"/>
                    </a:lnTo>
                    <a:lnTo>
                      <a:pt x="18731" y="20432"/>
                    </a:lnTo>
                    <a:lnTo>
                      <a:pt x="18559" y="20561"/>
                    </a:lnTo>
                    <a:lnTo>
                      <a:pt x="18386" y="20682"/>
                    </a:lnTo>
                    <a:lnTo>
                      <a:pt x="18205" y="20812"/>
                    </a:lnTo>
                    <a:lnTo>
                      <a:pt x="18023" y="20924"/>
                    </a:lnTo>
                    <a:lnTo>
                      <a:pt x="17833" y="21036"/>
                    </a:lnTo>
                    <a:lnTo>
                      <a:pt x="17643" y="21148"/>
                    </a:lnTo>
                    <a:lnTo>
                      <a:pt x="17453" y="21252"/>
                    </a:lnTo>
                    <a:lnTo>
                      <a:pt x="17255" y="21347"/>
                    </a:lnTo>
                    <a:lnTo>
                      <a:pt x="17065" y="21442"/>
                    </a:lnTo>
                    <a:lnTo>
                      <a:pt x="16857" y="21537"/>
                    </a:lnTo>
                    <a:lnTo>
                      <a:pt x="16659" y="21623"/>
                    </a:lnTo>
                    <a:lnTo>
                      <a:pt x="16452" y="21701"/>
                    </a:lnTo>
                    <a:lnTo>
                      <a:pt x="16244" y="21779"/>
                    </a:lnTo>
                    <a:lnTo>
                      <a:pt x="16037" y="21848"/>
                    </a:lnTo>
                    <a:lnTo>
                      <a:pt x="15821" y="21917"/>
                    </a:lnTo>
                    <a:lnTo>
                      <a:pt x="15605" y="21977"/>
                    </a:lnTo>
                    <a:lnTo>
                      <a:pt x="15389" y="22029"/>
                    </a:lnTo>
                    <a:lnTo>
                      <a:pt x="15174" y="22081"/>
                    </a:lnTo>
                    <a:lnTo>
                      <a:pt x="14949" y="22124"/>
                    </a:lnTo>
                    <a:lnTo>
                      <a:pt x="14724" y="22159"/>
                    </a:lnTo>
                    <a:lnTo>
                      <a:pt x="14500" y="22193"/>
                    </a:lnTo>
                    <a:lnTo>
                      <a:pt x="14275" y="22228"/>
                    </a:lnTo>
                    <a:lnTo>
                      <a:pt x="14042" y="22245"/>
                    </a:lnTo>
                    <a:lnTo>
                      <a:pt x="13818" y="22262"/>
                    </a:lnTo>
                    <a:lnTo>
                      <a:pt x="13585" y="22280"/>
                    </a:lnTo>
                    <a:lnTo>
                      <a:pt x="13118" y="22280"/>
                    </a:lnTo>
                    <a:lnTo>
                      <a:pt x="12885" y="22271"/>
                    </a:lnTo>
                    <a:lnTo>
                      <a:pt x="12661" y="22262"/>
                    </a:lnTo>
                    <a:lnTo>
                      <a:pt x="12436" y="22245"/>
                    </a:lnTo>
                    <a:lnTo>
                      <a:pt x="12212" y="22219"/>
                    </a:lnTo>
                    <a:lnTo>
                      <a:pt x="11987" y="22193"/>
                    </a:lnTo>
                    <a:lnTo>
                      <a:pt x="11762" y="22159"/>
                    </a:lnTo>
                    <a:lnTo>
                      <a:pt x="11538" y="22116"/>
                    </a:lnTo>
                    <a:lnTo>
                      <a:pt x="11322" y="22072"/>
                    </a:lnTo>
                    <a:lnTo>
                      <a:pt x="11106" y="22021"/>
                    </a:lnTo>
                    <a:lnTo>
                      <a:pt x="10890" y="21969"/>
                    </a:lnTo>
                    <a:lnTo>
                      <a:pt x="10674" y="21908"/>
                    </a:lnTo>
                    <a:lnTo>
                      <a:pt x="10467" y="21839"/>
                    </a:lnTo>
                    <a:lnTo>
                      <a:pt x="10260" y="21770"/>
                    </a:lnTo>
                    <a:lnTo>
                      <a:pt x="10053" y="21692"/>
                    </a:lnTo>
                    <a:lnTo>
                      <a:pt x="9845" y="21615"/>
                    </a:lnTo>
                    <a:lnTo>
                      <a:pt x="9647" y="21528"/>
                    </a:lnTo>
                    <a:lnTo>
                      <a:pt x="9448" y="21433"/>
                    </a:lnTo>
                    <a:lnTo>
                      <a:pt x="9250" y="21338"/>
                    </a:lnTo>
                    <a:lnTo>
                      <a:pt x="9060" y="21243"/>
                    </a:lnTo>
                    <a:lnTo>
                      <a:pt x="8870" y="21140"/>
                    </a:lnTo>
                    <a:lnTo>
                      <a:pt x="8680" y="21028"/>
                    </a:lnTo>
                    <a:lnTo>
                      <a:pt x="8498" y="20915"/>
                    </a:lnTo>
                    <a:lnTo>
                      <a:pt x="8308" y="20803"/>
                    </a:lnTo>
                    <a:lnTo>
                      <a:pt x="8136" y="20682"/>
                    </a:lnTo>
                    <a:lnTo>
                      <a:pt x="7782" y="20423"/>
                    </a:lnTo>
                    <a:lnTo>
                      <a:pt x="7445" y="20155"/>
                    </a:lnTo>
                    <a:lnTo>
                      <a:pt x="7125" y="19862"/>
                    </a:lnTo>
                    <a:lnTo>
                      <a:pt x="6814" y="19559"/>
                    </a:lnTo>
                    <a:lnTo>
                      <a:pt x="6521" y="19249"/>
                    </a:lnTo>
                    <a:lnTo>
                      <a:pt x="6244" y="18912"/>
                    </a:lnTo>
                    <a:lnTo>
                      <a:pt x="6106" y="18748"/>
                    </a:lnTo>
                    <a:lnTo>
                      <a:pt x="5977" y="18575"/>
                    </a:lnTo>
                    <a:lnTo>
                      <a:pt x="5856" y="18394"/>
                    </a:lnTo>
                    <a:lnTo>
                      <a:pt x="5726" y="18212"/>
                    </a:lnTo>
                    <a:lnTo>
                      <a:pt x="5614" y="18031"/>
                    </a:lnTo>
                    <a:lnTo>
                      <a:pt x="5502" y="17850"/>
                    </a:lnTo>
                    <a:lnTo>
                      <a:pt x="5389" y="17660"/>
                    </a:lnTo>
                    <a:lnTo>
                      <a:pt x="5286" y="17461"/>
                    </a:lnTo>
                    <a:lnTo>
                      <a:pt x="5191" y="17271"/>
                    </a:lnTo>
                    <a:lnTo>
                      <a:pt x="5096" y="17072"/>
                    </a:lnTo>
                    <a:lnTo>
                      <a:pt x="5001" y="16874"/>
                    </a:lnTo>
                    <a:lnTo>
                      <a:pt x="4915" y="16667"/>
                    </a:lnTo>
                    <a:lnTo>
                      <a:pt x="4837" y="16459"/>
                    </a:lnTo>
                    <a:lnTo>
                      <a:pt x="4759" y="16252"/>
                    </a:lnTo>
                    <a:lnTo>
                      <a:pt x="4690" y="16045"/>
                    </a:lnTo>
                    <a:lnTo>
                      <a:pt x="4621" y="15829"/>
                    </a:lnTo>
                    <a:lnTo>
                      <a:pt x="4560" y="15622"/>
                    </a:lnTo>
                    <a:lnTo>
                      <a:pt x="4509" y="15397"/>
                    </a:lnTo>
                    <a:lnTo>
                      <a:pt x="4457" y="15181"/>
                    </a:lnTo>
                    <a:lnTo>
                      <a:pt x="4414" y="14957"/>
                    </a:lnTo>
                    <a:lnTo>
                      <a:pt x="4370" y="14741"/>
                    </a:lnTo>
                    <a:lnTo>
                      <a:pt x="4345" y="14508"/>
                    </a:lnTo>
                    <a:lnTo>
                      <a:pt x="4310" y="14283"/>
                    </a:lnTo>
                    <a:lnTo>
                      <a:pt x="4293" y="14059"/>
                    </a:lnTo>
                    <a:lnTo>
                      <a:pt x="4275" y="13825"/>
                    </a:lnTo>
                    <a:lnTo>
                      <a:pt x="4258" y="13592"/>
                    </a:lnTo>
                    <a:lnTo>
                      <a:pt x="4258" y="13359"/>
                    </a:lnTo>
                    <a:lnTo>
                      <a:pt x="4258" y="13126"/>
                    </a:lnTo>
                    <a:lnTo>
                      <a:pt x="4267" y="12901"/>
                    </a:lnTo>
                    <a:lnTo>
                      <a:pt x="4275" y="12668"/>
                    </a:lnTo>
                    <a:lnTo>
                      <a:pt x="4293" y="12444"/>
                    </a:lnTo>
                    <a:lnTo>
                      <a:pt x="4319" y="12219"/>
                    </a:lnTo>
                    <a:lnTo>
                      <a:pt x="4345" y="11995"/>
                    </a:lnTo>
                    <a:lnTo>
                      <a:pt x="4379" y="11770"/>
                    </a:lnTo>
                    <a:lnTo>
                      <a:pt x="4422" y="11554"/>
                    </a:lnTo>
                    <a:lnTo>
                      <a:pt x="4465" y="11330"/>
                    </a:lnTo>
                    <a:lnTo>
                      <a:pt x="4517" y="11114"/>
                    </a:lnTo>
                    <a:lnTo>
                      <a:pt x="4569" y="10898"/>
                    </a:lnTo>
                    <a:lnTo>
                      <a:pt x="4630" y="10691"/>
                    </a:lnTo>
                    <a:lnTo>
                      <a:pt x="4699" y="10475"/>
                    </a:lnTo>
                    <a:lnTo>
                      <a:pt x="4768" y="10268"/>
                    </a:lnTo>
                    <a:lnTo>
                      <a:pt x="4845" y="10060"/>
                    </a:lnTo>
                    <a:lnTo>
                      <a:pt x="4923" y="9862"/>
                    </a:lnTo>
                    <a:lnTo>
                      <a:pt x="5010" y="9663"/>
                    </a:lnTo>
                    <a:lnTo>
                      <a:pt x="5104" y="9465"/>
                    </a:lnTo>
                    <a:lnTo>
                      <a:pt x="5199" y="9266"/>
                    </a:lnTo>
                    <a:lnTo>
                      <a:pt x="5294" y="9067"/>
                    </a:lnTo>
                    <a:lnTo>
                      <a:pt x="5398" y="8877"/>
                    </a:lnTo>
                    <a:lnTo>
                      <a:pt x="5510" y="8687"/>
                    </a:lnTo>
                    <a:lnTo>
                      <a:pt x="5623" y="8506"/>
                    </a:lnTo>
                    <a:lnTo>
                      <a:pt x="5735" y="8325"/>
                    </a:lnTo>
                    <a:lnTo>
                      <a:pt x="5856" y="8143"/>
                    </a:lnTo>
                    <a:lnTo>
                      <a:pt x="6115" y="7798"/>
                    </a:lnTo>
                    <a:lnTo>
                      <a:pt x="6383" y="7461"/>
                    </a:lnTo>
                    <a:lnTo>
                      <a:pt x="6676" y="7133"/>
                    </a:lnTo>
                    <a:lnTo>
                      <a:pt x="6978" y="6822"/>
                    </a:lnTo>
                    <a:lnTo>
                      <a:pt x="7289" y="6528"/>
                    </a:lnTo>
                    <a:lnTo>
                      <a:pt x="7453" y="6390"/>
                    </a:lnTo>
                    <a:lnTo>
                      <a:pt x="7626" y="6252"/>
                    </a:lnTo>
                    <a:lnTo>
                      <a:pt x="7790" y="6123"/>
                    </a:lnTo>
                    <a:lnTo>
                      <a:pt x="7963" y="5984"/>
                    </a:lnTo>
                    <a:lnTo>
                      <a:pt x="8144" y="5864"/>
                    </a:lnTo>
                    <a:lnTo>
                      <a:pt x="8326" y="5743"/>
                    </a:lnTo>
                    <a:lnTo>
                      <a:pt x="8507" y="5622"/>
                    </a:lnTo>
                    <a:lnTo>
                      <a:pt x="8688" y="5509"/>
                    </a:lnTo>
                    <a:lnTo>
                      <a:pt x="8878" y="5406"/>
                    </a:lnTo>
                    <a:lnTo>
                      <a:pt x="9077" y="5302"/>
                    </a:lnTo>
                    <a:lnTo>
                      <a:pt x="9267" y="5199"/>
                    </a:lnTo>
                    <a:lnTo>
                      <a:pt x="9465" y="5104"/>
                    </a:lnTo>
                    <a:lnTo>
                      <a:pt x="9664" y="5017"/>
                    </a:lnTo>
                    <a:lnTo>
                      <a:pt x="9871" y="4931"/>
                    </a:lnTo>
                    <a:lnTo>
                      <a:pt x="10070" y="4845"/>
                    </a:lnTo>
                    <a:lnTo>
                      <a:pt x="10286" y="4775"/>
                    </a:lnTo>
                    <a:lnTo>
                      <a:pt x="10493" y="4698"/>
                    </a:lnTo>
                    <a:lnTo>
                      <a:pt x="10709" y="4637"/>
                    </a:lnTo>
                    <a:lnTo>
                      <a:pt x="10916" y="4577"/>
                    </a:lnTo>
                    <a:lnTo>
                      <a:pt x="11141" y="4516"/>
                    </a:lnTo>
                    <a:lnTo>
                      <a:pt x="11357" y="4473"/>
                    </a:lnTo>
                    <a:lnTo>
                      <a:pt x="11581" y="4421"/>
                    </a:lnTo>
                    <a:lnTo>
                      <a:pt x="11797" y="4387"/>
                    </a:lnTo>
                    <a:lnTo>
                      <a:pt x="12022" y="4352"/>
                    </a:lnTo>
                    <a:lnTo>
                      <a:pt x="12255" y="4326"/>
                    </a:lnTo>
                    <a:lnTo>
                      <a:pt x="12479" y="4300"/>
                    </a:lnTo>
                    <a:lnTo>
                      <a:pt x="12712" y="4283"/>
                    </a:lnTo>
                    <a:lnTo>
                      <a:pt x="12946" y="4275"/>
                    </a:lnTo>
                    <a:lnTo>
                      <a:pt x="13179" y="4266"/>
                    </a:lnTo>
                    <a:close/>
                    <a:moveTo>
                      <a:pt x="15035" y="0"/>
                    </a:moveTo>
                    <a:lnTo>
                      <a:pt x="15053" y="104"/>
                    </a:lnTo>
                    <a:lnTo>
                      <a:pt x="15061" y="216"/>
                    </a:lnTo>
                    <a:lnTo>
                      <a:pt x="15061" y="337"/>
                    </a:lnTo>
                    <a:lnTo>
                      <a:pt x="15061" y="449"/>
                    </a:lnTo>
                    <a:lnTo>
                      <a:pt x="15053" y="553"/>
                    </a:lnTo>
                    <a:lnTo>
                      <a:pt x="15035" y="665"/>
                    </a:lnTo>
                    <a:lnTo>
                      <a:pt x="15009" y="777"/>
                    </a:lnTo>
                    <a:lnTo>
                      <a:pt x="14984" y="881"/>
                    </a:lnTo>
                    <a:lnTo>
                      <a:pt x="14958" y="984"/>
                    </a:lnTo>
                    <a:lnTo>
                      <a:pt x="14923" y="1088"/>
                    </a:lnTo>
                    <a:lnTo>
                      <a:pt x="14880" y="1183"/>
                    </a:lnTo>
                    <a:lnTo>
                      <a:pt x="14837" y="1278"/>
                    </a:lnTo>
                    <a:lnTo>
                      <a:pt x="14733" y="1468"/>
                    </a:lnTo>
                    <a:lnTo>
                      <a:pt x="14612" y="1641"/>
                    </a:lnTo>
                    <a:lnTo>
                      <a:pt x="14474" y="1805"/>
                    </a:lnTo>
                    <a:lnTo>
                      <a:pt x="14319" y="1952"/>
                    </a:lnTo>
                    <a:lnTo>
                      <a:pt x="14155" y="2081"/>
                    </a:lnTo>
                    <a:lnTo>
                      <a:pt x="13973" y="2202"/>
                    </a:lnTo>
                    <a:lnTo>
                      <a:pt x="13878" y="2254"/>
                    </a:lnTo>
                    <a:lnTo>
                      <a:pt x="13783" y="2306"/>
                    </a:lnTo>
                    <a:lnTo>
                      <a:pt x="13688" y="2349"/>
                    </a:lnTo>
                    <a:lnTo>
                      <a:pt x="13585" y="2383"/>
                    </a:lnTo>
                    <a:lnTo>
                      <a:pt x="13481" y="2418"/>
                    </a:lnTo>
                    <a:lnTo>
                      <a:pt x="13377" y="2444"/>
                    </a:lnTo>
                    <a:lnTo>
                      <a:pt x="13265" y="2470"/>
                    </a:lnTo>
                    <a:lnTo>
                      <a:pt x="13161" y="2487"/>
                    </a:lnTo>
                    <a:lnTo>
                      <a:pt x="13049" y="2496"/>
                    </a:lnTo>
                    <a:lnTo>
                      <a:pt x="12928" y="2504"/>
                    </a:lnTo>
                    <a:lnTo>
                      <a:pt x="12704" y="2504"/>
                    </a:lnTo>
                    <a:lnTo>
                      <a:pt x="12592" y="2496"/>
                    </a:lnTo>
                    <a:lnTo>
                      <a:pt x="12488" y="2478"/>
                    </a:lnTo>
                    <a:lnTo>
                      <a:pt x="12376" y="2452"/>
                    </a:lnTo>
                    <a:lnTo>
                      <a:pt x="12272" y="2427"/>
                    </a:lnTo>
                    <a:lnTo>
                      <a:pt x="12168" y="2401"/>
                    </a:lnTo>
                    <a:lnTo>
                      <a:pt x="12065" y="2366"/>
                    </a:lnTo>
                    <a:lnTo>
                      <a:pt x="11970" y="2323"/>
                    </a:lnTo>
                    <a:lnTo>
                      <a:pt x="11866" y="2280"/>
                    </a:lnTo>
                    <a:lnTo>
                      <a:pt x="11685" y="2176"/>
                    </a:lnTo>
                    <a:lnTo>
                      <a:pt x="11512" y="2055"/>
                    </a:lnTo>
                    <a:lnTo>
                      <a:pt x="11348" y="1917"/>
                    </a:lnTo>
                    <a:lnTo>
                      <a:pt x="11201" y="1762"/>
                    </a:lnTo>
                    <a:lnTo>
                      <a:pt x="11063" y="1598"/>
                    </a:lnTo>
                    <a:lnTo>
                      <a:pt x="10951" y="1416"/>
                    </a:lnTo>
                    <a:lnTo>
                      <a:pt x="10899" y="1330"/>
                    </a:lnTo>
                    <a:lnTo>
                      <a:pt x="10847" y="1226"/>
                    </a:lnTo>
                    <a:lnTo>
                      <a:pt x="10804" y="1131"/>
                    </a:lnTo>
                    <a:lnTo>
                      <a:pt x="10769" y="1028"/>
                    </a:lnTo>
                    <a:lnTo>
                      <a:pt x="10735" y="924"/>
                    </a:lnTo>
                    <a:lnTo>
                      <a:pt x="10709" y="820"/>
                    </a:lnTo>
                    <a:lnTo>
                      <a:pt x="10683" y="708"/>
                    </a:lnTo>
                    <a:lnTo>
                      <a:pt x="10666" y="604"/>
                    </a:lnTo>
                    <a:lnTo>
                      <a:pt x="10649" y="492"/>
                    </a:lnTo>
                    <a:lnTo>
                      <a:pt x="10649" y="380"/>
                    </a:lnTo>
                    <a:lnTo>
                      <a:pt x="10649" y="259"/>
                    </a:lnTo>
                    <a:lnTo>
                      <a:pt x="10657" y="138"/>
                    </a:lnTo>
                    <a:lnTo>
                      <a:pt x="10338" y="199"/>
                    </a:lnTo>
                    <a:lnTo>
                      <a:pt x="10018" y="276"/>
                    </a:lnTo>
                    <a:lnTo>
                      <a:pt x="9707" y="363"/>
                    </a:lnTo>
                    <a:lnTo>
                      <a:pt x="9396" y="449"/>
                    </a:lnTo>
                    <a:lnTo>
                      <a:pt x="9085" y="544"/>
                    </a:lnTo>
                    <a:lnTo>
                      <a:pt x="8783" y="648"/>
                    </a:lnTo>
                    <a:lnTo>
                      <a:pt x="8481" y="760"/>
                    </a:lnTo>
                    <a:lnTo>
                      <a:pt x="8187" y="881"/>
                    </a:lnTo>
                    <a:lnTo>
                      <a:pt x="8256" y="967"/>
                    </a:lnTo>
                    <a:lnTo>
                      <a:pt x="8326" y="1062"/>
                    </a:lnTo>
                    <a:lnTo>
                      <a:pt x="8386" y="1157"/>
                    </a:lnTo>
                    <a:lnTo>
                      <a:pt x="8438" y="1261"/>
                    </a:lnTo>
                    <a:lnTo>
                      <a:pt x="8481" y="1364"/>
                    </a:lnTo>
                    <a:lnTo>
                      <a:pt x="8524" y="1468"/>
                    </a:lnTo>
                    <a:lnTo>
                      <a:pt x="8559" y="1572"/>
                    </a:lnTo>
                    <a:lnTo>
                      <a:pt x="8593" y="1675"/>
                    </a:lnTo>
                    <a:lnTo>
                      <a:pt x="8619" y="1779"/>
                    </a:lnTo>
                    <a:lnTo>
                      <a:pt x="8636" y="1883"/>
                    </a:lnTo>
                    <a:lnTo>
                      <a:pt x="8645" y="1995"/>
                    </a:lnTo>
                    <a:lnTo>
                      <a:pt x="8662" y="2098"/>
                    </a:lnTo>
                    <a:lnTo>
                      <a:pt x="8662" y="2314"/>
                    </a:lnTo>
                    <a:lnTo>
                      <a:pt x="8645" y="2522"/>
                    </a:lnTo>
                    <a:lnTo>
                      <a:pt x="8602" y="2729"/>
                    </a:lnTo>
                    <a:lnTo>
                      <a:pt x="8550" y="2936"/>
                    </a:lnTo>
                    <a:lnTo>
                      <a:pt x="8472" y="3135"/>
                    </a:lnTo>
                    <a:lnTo>
                      <a:pt x="8377" y="3325"/>
                    </a:lnTo>
                    <a:lnTo>
                      <a:pt x="8317" y="3420"/>
                    </a:lnTo>
                    <a:lnTo>
                      <a:pt x="8265" y="3506"/>
                    </a:lnTo>
                    <a:lnTo>
                      <a:pt x="8196" y="3592"/>
                    </a:lnTo>
                    <a:lnTo>
                      <a:pt x="8127" y="3679"/>
                    </a:lnTo>
                    <a:lnTo>
                      <a:pt x="8058" y="3756"/>
                    </a:lnTo>
                    <a:lnTo>
                      <a:pt x="7980" y="3834"/>
                    </a:lnTo>
                    <a:lnTo>
                      <a:pt x="7894" y="3912"/>
                    </a:lnTo>
                    <a:lnTo>
                      <a:pt x="7807" y="3981"/>
                    </a:lnTo>
                    <a:lnTo>
                      <a:pt x="7721" y="4050"/>
                    </a:lnTo>
                    <a:lnTo>
                      <a:pt x="7626" y="4111"/>
                    </a:lnTo>
                    <a:lnTo>
                      <a:pt x="7522" y="4171"/>
                    </a:lnTo>
                    <a:lnTo>
                      <a:pt x="7427" y="4223"/>
                    </a:lnTo>
                    <a:lnTo>
                      <a:pt x="7324" y="4266"/>
                    </a:lnTo>
                    <a:lnTo>
                      <a:pt x="7220" y="4309"/>
                    </a:lnTo>
                    <a:lnTo>
                      <a:pt x="7117" y="4344"/>
                    </a:lnTo>
                    <a:lnTo>
                      <a:pt x="7013" y="4370"/>
                    </a:lnTo>
                    <a:lnTo>
                      <a:pt x="6909" y="4395"/>
                    </a:lnTo>
                    <a:lnTo>
                      <a:pt x="6806" y="4421"/>
                    </a:lnTo>
                    <a:lnTo>
                      <a:pt x="6693" y="4430"/>
                    </a:lnTo>
                    <a:lnTo>
                      <a:pt x="6590" y="4439"/>
                    </a:lnTo>
                    <a:lnTo>
                      <a:pt x="6374" y="4447"/>
                    </a:lnTo>
                    <a:lnTo>
                      <a:pt x="6167" y="4430"/>
                    </a:lnTo>
                    <a:lnTo>
                      <a:pt x="5959" y="4387"/>
                    </a:lnTo>
                    <a:lnTo>
                      <a:pt x="5752" y="4335"/>
                    </a:lnTo>
                    <a:lnTo>
                      <a:pt x="5554" y="4257"/>
                    </a:lnTo>
                    <a:lnTo>
                      <a:pt x="5364" y="4162"/>
                    </a:lnTo>
                    <a:lnTo>
                      <a:pt x="5269" y="4102"/>
                    </a:lnTo>
                    <a:lnTo>
                      <a:pt x="5182" y="4041"/>
                    </a:lnTo>
                    <a:lnTo>
                      <a:pt x="5096" y="3981"/>
                    </a:lnTo>
                    <a:lnTo>
                      <a:pt x="5010" y="3912"/>
                    </a:lnTo>
                    <a:lnTo>
                      <a:pt x="4932" y="3843"/>
                    </a:lnTo>
                    <a:lnTo>
                      <a:pt x="4854" y="3765"/>
                    </a:lnTo>
                    <a:lnTo>
                      <a:pt x="4776" y="3679"/>
                    </a:lnTo>
                    <a:lnTo>
                      <a:pt x="4707" y="3592"/>
                    </a:lnTo>
                    <a:lnTo>
                      <a:pt x="4638" y="3506"/>
                    </a:lnTo>
                    <a:lnTo>
                      <a:pt x="4578" y="3411"/>
                    </a:lnTo>
                    <a:lnTo>
                      <a:pt x="4517" y="3299"/>
                    </a:lnTo>
                    <a:lnTo>
                      <a:pt x="4465" y="3178"/>
                    </a:lnTo>
                    <a:lnTo>
                      <a:pt x="4224" y="3394"/>
                    </a:lnTo>
                    <a:lnTo>
                      <a:pt x="3991" y="3618"/>
                    </a:lnTo>
                    <a:lnTo>
                      <a:pt x="3757" y="3851"/>
                    </a:lnTo>
                    <a:lnTo>
                      <a:pt x="3533" y="4085"/>
                    </a:lnTo>
                    <a:lnTo>
                      <a:pt x="3308" y="4318"/>
                    </a:lnTo>
                    <a:lnTo>
                      <a:pt x="3092" y="4568"/>
                    </a:lnTo>
                    <a:lnTo>
                      <a:pt x="2885" y="4810"/>
                    </a:lnTo>
                    <a:lnTo>
                      <a:pt x="2687" y="5069"/>
                    </a:lnTo>
                    <a:lnTo>
                      <a:pt x="2799" y="5112"/>
                    </a:lnTo>
                    <a:lnTo>
                      <a:pt x="2911" y="5164"/>
                    </a:lnTo>
                    <a:lnTo>
                      <a:pt x="3015" y="5216"/>
                    </a:lnTo>
                    <a:lnTo>
                      <a:pt x="3110" y="5276"/>
                    </a:lnTo>
                    <a:lnTo>
                      <a:pt x="3196" y="5345"/>
                    </a:lnTo>
                    <a:lnTo>
                      <a:pt x="3282" y="5414"/>
                    </a:lnTo>
                    <a:lnTo>
                      <a:pt x="3369" y="5484"/>
                    </a:lnTo>
                    <a:lnTo>
                      <a:pt x="3446" y="5561"/>
                    </a:lnTo>
                    <a:lnTo>
                      <a:pt x="3524" y="5639"/>
                    </a:lnTo>
                    <a:lnTo>
                      <a:pt x="3593" y="5717"/>
                    </a:lnTo>
                    <a:lnTo>
                      <a:pt x="3654" y="5803"/>
                    </a:lnTo>
                    <a:lnTo>
                      <a:pt x="3723" y="5889"/>
                    </a:lnTo>
                    <a:lnTo>
                      <a:pt x="3826" y="6071"/>
                    </a:lnTo>
                    <a:lnTo>
                      <a:pt x="3921" y="6269"/>
                    </a:lnTo>
                    <a:lnTo>
                      <a:pt x="3991" y="6468"/>
                    </a:lnTo>
                    <a:lnTo>
                      <a:pt x="4042" y="6675"/>
                    </a:lnTo>
                    <a:lnTo>
                      <a:pt x="4077" y="6883"/>
                    </a:lnTo>
                    <a:lnTo>
                      <a:pt x="4086" y="7098"/>
                    </a:lnTo>
                    <a:lnTo>
                      <a:pt x="4086" y="7202"/>
                    </a:lnTo>
                    <a:lnTo>
                      <a:pt x="4077" y="7306"/>
                    </a:lnTo>
                    <a:lnTo>
                      <a:pt x="4068" y="7418"/>
                    </a:lnTo>
                    <a:lnTo>
                      <a:pt x="4051" y="7522"/>
                    </a:lnTo>
                    <a:lnTo>
                      <a:pt x="4025" y="7634"/>
                    </a:lnTo>
                    <a:lnTo>
                      <a:pt x="3999" y="7737"/>
                    </a:lnTo>
                    <a:lnTo>
                      <a:pt x="3965" y="7841"/>
                    </a:lnTo>
                    <a:lnTo>
                      <a:pt x="3921" y="7945"/>
                    </a:lnTo>
                    <a:lnTo>
                      <a:pt x="3878" y="8048"/>
                    </a:lnTo>
                    <a:lnTo>
                      <a:pt x="3826" y="8152"/>
                    </a:lnTo>
                    <a:lnTo>
                      <a:pt x="3775" y="8247"/>
                    </a:lnTo>
                    <a:lnTo>
                      <a:pt x="3714" y="8342"/>
                    </a:lnTo>
                    <a:lnTo>
                      <a:pt x="3645" y="8437"/>
                    </a:lnTo>
                    <a:lnTo>
                      <a:pt x="3576" y="8523"/>
                    </a:lnTo>
                    <a:lnTo>
                      <a:pt x="3507" y="8610"/>
                    </a:lnTo>
                    <a:lnTo>
                      <a:pt x="3429" y="8687"/>
                    </a:lnTo>
                    <a:lnTo>
                      <a:pt x="3351" y="8756"/>
                    </a:lnTo>
                    <a:lnTo>
                      <a:pt x="3274" y="8826"/>
                    </a:lnTo>
                    <a:lnTo>
                      <a:pt x="3187" y="8895"/>
                    </a:lnTo>
                    <a:lnTo>
                      <a:pt x="3101" y="8955"/>
                    </a:lnTo>
                    <a:lnTo>
                      <a:pt x="2920" y="9067"/>
                    </a:lnTo>
                    <a:lnTo>
                      <a:pt x="2721" y="9154"/>
                    </a:lnTo>
                    <a:lnTo>
                      <a:pt x="2522" y="9231"/>
                    </a:lnTo>
                    <a:lnTo>
                      <a:pt x="2315" y="9283"/>
                    </a:lnTo>
                    <a:lnTo>
                      <a:pt x="2108" y="9309"/>
                    </a:lnTo>
                    <a:lnTo>
                      <a:pt x="1892" y="9326"/>
                    </a:lnTo>
                    <a:lnTo>
                      <a:pt x="1788" y="9326"/>
                    </a:lnTo>
                    <a:lnTo>
                      <a:pt x="1685" y="9318"/>
                    </a:lnTo>
                    <a:lnTo>
                      <a:pt x="1573" y="9300"/>
                    </a:lnTo>
                    <a:lnTo>
                      <a:pt x="1469" y="9283"/>
                    </a:lnTo>
                    <a:lnTo>
                      <a:pt x="1357" y="9266"/>
                    </a:lnTo>
                    <a:lnTo>
                      <a:pt x="1253" y="9231"/>
                    </a:lnTo>
                    <a:lnTo>
                      <a:pt x="1149" y="9205"/>
                    </a:lnTo>
                    <a:lnTo>
                      <a:pt x="1046" y="9162"/>
                    </a:lnTo>
                    <a:lnTo>
                      <a:pt x="942" y="9119"/>
                    </a:lnTo>
                    <a:lnTo>
                      <a:pt x="839" y="9067"/>
                    </a:lnTo>
                    <a:lnTo>
                      <a:pt x="718" y="8990"/>
                    </a:lnTo>
                    <a:lnTo>
                      <a:pt x="605" y="8912"/>
                    </a:lnTo>
                    <a:lnTo>
                      <a:pt x="502" y="9214"/>
                    </a:lnTo>
                    <a:lnTo>
                      <a:pt x="407" y="9525"/>
                    </a:lnTo>
                    <a:lnTo>
                      <a:pt x="320" y="9845"/>
                    </a:lnTo>
                    <a:lnTo>
                      <a:pt x="243" y="10164"/>
                    </a:lnTo>
                    <a:lnTo>
                      <a:pt x="174" y="10484"/>
                    </a:lnTo>
                    <a:lnTo>
                      <a:pt x="105" y="10803"/>
                    </a:lnTo>
                    <a:lnTo>
                      <a:pt x="53" y="11131"/>
                    </a:lnTo>
                    <a:lnTo>
                      <a:pt x="1" y="11459"/>
                    </a:lnTo>
                    <a:lnTo>
                      <a:pt x="1" y="11459"/>
                    </a:lnTo>
                    <a:lnTo>
                      <a:pt x="139" y="11433"/>
                    </a:lnTo>
                    <a:lnTo>
                      <a:pt x="277" y="11416"/>
                    </a:lnTo>
                    <a:lnTo>
                      <a:pt x="389" y="11416"/>
                    </a:lnTo>
                    <a:lnTo>
                      <a:pt x="502" y="11425"/>
                    </a:lnTo>
                    <a:lnTo>
                      <a:pt x="614" y="11433"/>
                    </a:lnTo>
                    <a:lnTo>
                      <a:pt x="726" y="11451"/>
                    </a:lnTo>
                    <a:lnTo>
                      <a:pt x="830" y="11468"/>
                    </a:lnTo>
                    <a:lnTo>
                      <a:pt x="934" y="11494"/>
                    </a:lnTo>
                    <a:lnTo>
                      <a:pt x="1037" y="11528"/>
                    </a:lnTo>
                    <a:lnTo>
                      <a:pt x="1141" y="11563"/>
                    </a:lnTo>
                    <a:lnTo>
                      <a:pt x="1244" y="11606"/>
                    </a:lnTo>
                    <a:lnTo>
                      <a:pt x="1339" y="11649"/>
                    </a:lnTo>
                    <a:lnTo>
                      <a:pt x="1521" y="11753"/>
                    </a:lnTo>
                    <a:lnTo>
                      <a:pt x="1702" y="11874"/>
                    </a:lnTo>
                    <a:lnTo>
                      <a:pt x="1858" y="12012"/>
                    </a:lnTo>
                    <a:lnTo>
                      <a:pt x="2004" y="12159"/>
                    </a:lnTo>
                    <a:lnTo>
                      <a:pt x="2143" y="12323"/>
                    </a:lnTo>
                    <a:lnTo>
                      <a:pt x="2255" y="12504"/>
                    </a:lnTo>
                    <a:lnTo>
                      <a:pt x="2315" y="12599"/>
                    </a:lnTo>
                    <a:lnTo>
                      <a:pt x="2358" y="12694"/>
                    </a:lnTo>
                    <a:lnTo>
                      <a:pt x="2402" y="12798"/>
                    </a:lnTo>
                    <a:lnTo>
                      <a:pt x="2436" y="12893"/>
                    </a:lnTo>
                    <a:lnTo>
                      <a:pt x="2471" y="12996"/>
                    </a:lnTo>
                    <a:lnTo>
                      <a:pt x="2505" y="13109"/>
                    </a:lnTo>
                    <a:lnTo>
                      <a:pt x="2522" y="13212"/>
                    </a:lnTo>
                    <a:lnTo>
                      <a:pt x="2540" y="13325"/>
                    </a:lnTo>
                    <a:lnTo>
                      <a:pt x="2557" y="13437"/>
                    </a:lnTo>
                    <a:lnTo>
                      <a:pt x="2566" y="13549"/>
                    </a:lnTo>
                    <a:lnTo>
                      <a:pt x="2566" y="13661"/>
                    </a:lnTo>
                    <a:lnTo>
                      <a:pt x="2557" y="13774"/>
                    </a:lnTo>
                    <a:lnTo>
                      <a:pt x="2548" y="13886"/>
                    </a:lnTo>
                    <a:lnTo>
                      <a:pt x="2531" y="13998"/>
                    </a:lnTo>
                    <a:lnTo>
                      <a:pt x="2514" y="14102"/>
                    </a:lnTo>
                    <a:lnTo>
                      <a:pt x="2488" y="14205"/>
                    </a:lnTo>
                    <a:lnTo>
                      <a:pt x="2453" y="14309"/>
                    </a:lnTo>
                    <a:lnTo>
                      <a:pt x="2419" y="14413"/>
                    </a:lnTo>
                    <a:lnTo>
                      <a:pt x="2376" y="14516"/>
                    </a:lnTo>
                    <a:lnTo>
                      <a:pt x="2332" y="14611"/>
                    </a:lnTo>
                    <a:lnTo>
                      <a:pt x="2229" y="14801"/>
                    </a:lnTo>
                    <a:lnTo>
                      <a:pt x="2108" y="14974"/>
                    </a:lnTo>
                    <a:lnTo>
                      <a:pt x="1970" y="15129"/>
                    </a:lnTo>
                    <a:lnTo>
                      <a:pt x="1823" y="15285"/>
                    </a:lnTo>
                    <a:lnTo>
                      <a:pt x="1650" y="15414"/>
                    </a:lnTo>
                    <a:lnTo>
                      <a:pt x="1478" y="15535"/>
                    </a:lnTo>
                    <a:lnTo>
                      <a:pt x="1383" y="15587"/>
                    </a:lnTo>
                    <a:lnTo>
                      <a:pt x="1288" y="15630"/>
                    </a:lnTo>
                    <a:lnTo>
                      <a:pt x="1184" y="15674"/>
                    </a:lnTo>
                    <a:lnTo>
                      <a:pt x="1089" y="15717"/>
                    </a:lnTo>
                    <a:lnTo>
                      <a:pt x="985" y="15743"/>
                    </a:lnTo>
                    <a:lnTo>
                      <a:pt x="873" y="15777"/>
                    </a:lnTo>
                    <a:lnTo>
                      <a:pt x="769" y="15794"/>
                    </a:lnTo>
                    <a:lnTo>
                      <a:pt x="657" y="15820"/>
                    </a:lnTo>
                    <a:lnTo>
                      <a:pt x="545" y="15829"/>
                    </a:lnTo>
                    <a:lnTo>
                      <a:pt x="433" y="15838"/>
                    </a:lnTo>
                    <a:lnTo>
                      <a:pt x="277" y="15829"/>
                    </a:lnTo>
                    <a:lnTo>
                      <a:pt x="122" y="15812"/>
                    </a:lnTo>
                    <a:lnTo>
                      <a:pt x="182" y="16140"/>
                    </a:lnTo>
                    <a:lnTo>
                      <a:pt x="260" y="16468"/>
                    </a:lnTo>
                    <a:lnTo>
                      <a:pt x="346" y="16787"/>
                    </a:lnTo>
                    <a:lnTo>
                      <a:pt x="433" y="17107"/>
                    </a:lnTo>
                    <a:lnTo>
                      <a:pt x="536" y="17427"/>
                    </a:lnTo>
                    <a:lnTo>
                      <a:pt x="640" y="17737"/>
                    </a:lnTo>
                    <a:lnTo>
                      <a:pt x="752" y="18040"/>
                    </a:lnTo>
                    <a:lnTo>
                      <a:pt x="873" y="18351"/>
                    </a:lnTo>
                    <a:lnTo>
                      <a:pt x="994" y="18247"/>
                    </a:lnTo>
                    <a:lnTo>
                      <a:pt x="1054" y="18204"/>
                    </a:lnTo>
                    <a:lnTo>
                      <a:pt x="1124" y="18152"/>
                    </a:lnTo>
                    <a:lnTo>
                      <a:pt x="1219" y="18100"/>
                    </a:lnTo>
                    <a:lnTo>
                      <a:pt x="1313" y="18048"/>
                    </a:lnTo>
                    <a:lnTo>
                      <a:pt x="1417" y="17996"/>
                    </a:lnTo>
                    <a:lnTo>
                      <a:pt x="1521" y="17953"/>
                    </a:lnTo>
                    <a:lnTo>
                      <a:pt x="1624" y="17919"/>
                    </a:lnTo>
                    <a:lnTo>
                      <a:pt x="1728" y="17893"/>
                    </a:lnTo>
                    <a:lnTo>
                      <a:pt x="1832" y="17867"/>
                    </a:lnTo>
                    <a:lnTo>
                      <a:pt x="1944" y="17850"/>
                    </a:lnTo>
                    <a:lnTo>
                      <a:pt x="2048" y="17832"/>
                    </a:lnTo>
                    <a:lnTo>
                      <a:pt x="2151" y="17824"/>
                    </a:lnTo>
                    <a:lnTo>
                      <a:pt x="2367" y="17824"/>
                    </a:lnTo>
                    <a:lnTo>
                      <a:pt x="2583" y="17841"/>
                    </a:lnTo>
                    <a:lnTo>
                      <a:pt x="2790" y="17876"/>
                    </a:lnTo>
                    <a:lnTo>
                      <a:pt x="2989" y="17936"/>
                    </a:lnTo>
                    <a:lnTo>
                      <a:pt x="3187" y="18005"/>
                    </a:lnTo>
                    <a:lnTo>
                      <a:pt x="3377" y="18109"/>
                    </a:lnTo>
                    <a:lnTo>
                      <a:pt x="3472" y="18161"/>
                    </a:lnTo>
                    <a:lnTo>
                      <a:pt x="3559" y="18221"/>
                    </a:lnTo>
                    <a:lnTo>
                      <a:pt x="3645" y="18281"/>
                    </a:lnTo>
                    <a:lnTo>
                      <a:pt x="3731" y="18351"/>
                    </a:lnTo>
                    <a:lnTo>
                      <a:pt x="3809" y="18428"/>
                    </a:lnTo>
                    <a:lnTo>
                      <a:pt x="3887" y="18506"/>
                    </a:lnTo>
                    <a:lnTo>
                      <a:pt x="3965" y="18584"/>
                    </a:lnTo>
                    <a:lnTo>
                      <a:pt x="4034" y="18670"/>
                    </a:lnTo>
                    <a:lnTo>
                      <a:pt x="4103" y="18765"/>
                    </a:lnTo>
                    <a:lnTo>
                      <a:pt x="4163" y="18860"/>
                    </a:lnTo>
                    <a:lnTo>
                      <a:pt x="4224" y="18955"/>
                    </a:lnTo>
                    <a:lnTo>
                      <a:pt x="4275" y="19050"/>
                    </a:lnTo>
                    <a:lnTo>
                      <a:pt x="4319" y="19154"/>
                    </a:lnTo>
                    <a:lnTo>
                      <a:pt x="4362" y="19257"/>
                    </a:lnTo>
                    <a:lnTo>
                      <a:pt x="4396" y="19361"/>
                    </a:lnTo>
                    <a:lnTo>
                      <a:pt x="4431" y="19465"/>
                    </a:lnTo>
                    <a:lnTo>
                      <a:pt x="4457" y="19568"/>
                    </a:lnTo>
                    <a:lnTo>
                      <a:pt x="4474" y="19680"/>
                    </a:lnTo>
                    <a:lnTo>
                      <a:pt x="4491" y="19784"/>
                    </a:lnTo>
                    <a:lnTo>
                      <a:pt x="4500" y="19888"/>
                    </a:lnTo>
                    <a:lnTo>
                      <a:pt x="4500" y="20104"/>
                    </a:lnTo>
                    <a:lnTo>
                      <a:pt x="4483" y="20319"/>
                    </a:lnTo>
                    <a:lnTo>
                      <a:pt x="4448" y="20527"/>
                    </a:lnTo>
                    <a:lnTo>
                      <a:pt x="4388" y="20725"/>
                    </a:lnTo>
                    <a:lnTo>
                      <a:pt x="4310" y="20924"/>
                    </a:lnTo>
                    <a:lnTo>
                      <a:pt x="4215" y="21114"/>
                    </a:lnTo>
                    <a:lnTo>
                      <a:pt x="4163" y="21209"/>
                    </a:lnTo>
                    <a:lnTo>
                      <a:pt x="4103" y="21295"/>
                    </a:lnTo>
                    <a:lnTo>
                      <a:pt x="4034" y="21382"/>
                    </a:lnTo>
                    <a:lnTo>
                      <a:pt x="3965" y="21468"/>
                    </a:lnTo>
                    <a:lnTo>
                      <a:pt x="3896" y="21554"/>
                    </a:lnTo>
                    <a:lnTo>
                      <a:pt x="3818" y="21632"/>
                    </a:lnTo>
                    <a:lnTo>
                      <a:pt x="3731" y="21701"/>
                    </a:lnTo>
                    <a:lnTo>
                      <a:pt x="3645" y="21770"/>
                    </a:lnTo>
                    <a:lnTo>
                      <a:pt x="3559" y="21839"/>
                    </a:lnTo>
                    <a:lnTo>
                      <a:pt x="3464" y="21900"/>
                    </a:lnTo>
                    <a:lnTo>
                      <a:pt x="3386" y="21943"/>
                    </a:lnTo>
                    <a:lnTo>
                      <a:pt x="3317" y="21986"/>
                    </a:lnTo>
                    <a:lnTo>
                      <a:pt x="3162" y="22055"/>
                    </a:lnTo>
                    <a:lnTo>
                      <a:pt x="3377" y="22306"/>
                    </a:lnTo>
                    <a:lnTo>
                      <a:pt x="3611" y="22547"/>
                    </a:lnTo>
                    <a:lnTo>
                      <a:pt x="3844" y="22781"/>
                    </a:lnTo>
                    <a:lnTo>
                      <a:pt x="4077" y="23014"/>
                    </a:lnTo>
                    <a:lnTo>
                      <a:pt x="4327" y="23238"/>
                    </a:lnTo>
                    <a:lnTo>
                      <a:pt x="4578" y="23463"/>
                    </a:lnTo>
                    <a:lnTo>
                      <a:pt x="4828" y="23670"/>
                    </a:lnTo>
                    <a:lnTo>
                      <a:pt x="5087" y="23877"/>
                    </a:lnTo>
                    <a:lnTo>
                      <a:pt x="5148" y="23722"/>
                    </a:lnTo>
                    <a:lnTo>
                      <a:pt x="5182" y="23644"/>
                    </a:lnTo>
                    <a:lnTo>
                      <a:pt x="5217" y="23566"/>
                    </a:lnTo>
                    <a:lnTo>
                      <a:pt x="5277" y="23471"/>
                    </a:lnTo>
                    <a:lnTo>
                      <a:pt x="5338" y="23376"/>
                    </a:lnTo>
                    <a:lnTo>
                      <a:pt x="5398" y="23281"/>
                    </a:lnTo>
                    <a:lnTo>
                      <a:pt x="5467" y="23195"/>
                    </a:lnTo>
                    <a:lnTo>
                      <a:pt x="5536" y="23109"/>
                    </a:lnTo>
                    <a:lnTo>
                      <a:pt x="5614" y="23031"/>
                    </a:lnTo>
                    <a:lnTo>
                      <a:pt x="5692" y="22962"/>
                    </a:lnTo>
                    <a:lnTo>
                      <a:pt x="5778" y="22893"/>
                    </a:lnTo>
                    <a:lnTo>
                      <a:pt x="5864" y="22824"/>
                    </a:lnTo>
                    <a:lnTo>
                      <a:pt x="5951" y="22763"/>
                    </a:lnTo>
                    <a:lnTo>
                      <a:pt x="6132" y="22651"/>
                    </a:lnTo>
                    <a:lnTo>
                      <a:pt x="6322" y="22565"/>
                    </a:lnTo>
                    <a:lnTo>
                      <a:pt x="6521" y="22487"/>
                    </a:lnTo>
                    <a:lnTo>
                      <a:pt x="6728" y="22435"/>
                    </a:lnTo>
                    <a:lnTo>
                      <a:pt x="6935" y="22409"/>
                    </a:lnTo>
                    <a:lnTo>
                      <a:pt x="7151" y="22392"/>
                    </a:lnTo>
                    <a:lnTo>
                      <a:pt x="7255" y="22392"/>
                    </a:lnTo>
                    <a:lnTo>
                      <a:pt x="7367" y="22401"/>
                    </a:lnTo>
                    <a:lnTo>
                      <a:pt x="7471" y="22418"/>
                    </a:lnTo>
                    <a:lnTo>
                      <a:pt x="7583" y="22435"/>
                    </a:lnTo>
                    <a:lnTo>
                      <a:pt x="7687" y="22452"/>
                    </a:lnTo>
                    <a:lnTo>
                      <a:pt x="7790" y="22487"/>
                    </a:lnTo>
                    <a:lnTo>
                      <a:pt x="7894" y="22513"/>
                    </a:lnTo>
                    <a:lnTo>
                      <a:pt x="8006" y="22556"/>
                    </a:lnTo>
                    <a:lnTo>
                      <a:pt x="8110" y="22599"/>
                    </a:lnTo>
                    <a:lnTo>
                      <a:pt x="8205" y="22651"/>
                    </a:lnTo>
                    <a:lnTo>
                      <a:pt x="8308" y="22711"/>
                    </a:lnTo>
                    <a:lnTo>
                      <a:pt x="8403" y="22772"/>
                    </a:lnTo>
                    <a:lnTo>
                      <a:pt x="8490" y="22832"/>
                    </a:lnTo>
                    <a:lnTo>
                      <a:pt x="8576" y="22901"/>
                    </a:lnTo>
                    <a:lnTo>
                      <a:pt x="8662" y="22971"/>
                    </a:lnTo>
                    <a:lnTo>
                      <a:pt x="8740" y="23048"/>
                    </a:lnTo>
                    <a:lnTo>
                      <a:pt x="8818" y="23126"/>
                    </a:lnTo>
                    <a:lnTo>
                      <a:pt x="8887" y="23212"/>
                    </a:lnTo>
                    <a:lnTo>
                      <a:pt x="8947" y="23290"/>
                    </a:lnTo>
                    <a:lnTo>
                      <a:pt x="9016" y="23385"/>
                    </a:lnTo>
                    <a:lnTo>
                      <a:pt x="9120" y="23566"/>
                    </a:lnTo>
                    <a:lnTo>
                      <a:pt x="9215" y="23756"/>
                    </a:lnTo>
                    <a:lnTo>
                      <a:pt x="9284" y="23955"/>
                    </a:lnTo>
                    <a:lnTo>
                      <a:pt x="9336" y="24162"/>
                    </a:lnTo>
                    <a:lnTo>
                      <a:pt x="9370" y="24369"/>
                    </a:lnTo>
                    <a:lnTo>
                      <a:pt x="9379" y="24585"/>
                    </a:lnTo>
                    <a:lnTo>
                      <a:pt x="9379" y="24689"/>
                    </a:lnTo>
                    <a:lnTo>
                      <a:pt x="9370" y="24801"/>
                    </a:lnTo>
                    <a:lnTo>
                      <a:pt x="9362" y="24905"/>
                    </a:lnTo>
                    <a:lnTo>
                      <a:pt x="9345" y="25017"/>
                    </a:lnTo>
                    <a:lnTo>
                      <a:pt x="9319" y="25121"/>
                    </a:lnTo>
                    <a:lnTo>
                      <a:pt x="9293" y="25224"/>
                    </a:lnTo>
                    <a:lnTo>
                      <a:pt x="9258" y="25328"/>
                    </a:lnTo>
                    <a:lnTo>
                      <a:pt x="9215" y="25432"/>
                    </a:lnTo>
                    <a:lnTo>
                      <a:pt x="9172" y="25535"/>
                    </a:lnTo>
                    <a:lnTo>
                      <a:pt x="9120" y="25639"/>
                    </a:lnTo>
                    <a:lnTo>
                      <a:pt x="9077" y="25717"/>
                    </a:lnTo>
                    <a:lnTo>
                      <a:pt x="9025" y="25794"/>
                    </a:lnTo>
                    <a:lnTo>
                      <a:pt x="8921" y="25941"/>
                    </a:lnTo>
                    <a:lnTo>
                      <a:pt x="9232" y="26045"/>
                    </a:lnTo>
                    <a:lnTo>
                      <a:pt x="9552" y="26140"/>
                    </a:lnTo>
                    <a:lnTo>
                      <a:pt x="9871" y="26226"/>
                    </a:lnTo>
                    <a:lnTo>
                      <a:pt x="10199" y="26312"/>
                    </a:lnTo>
                    <a:lnTo>
                      <a:pt x="10528" y="26382"/>
                    </a:lnTo>
                    <a:lnTo>
                      <a:pt x="10856" y="26451"/>
                    </a:lnTo>
                    <a:lnTo>
                      <a:pt x="11184" y="26502"/>
                    </a:lnTo>
                    <a:lnTo>
                      <a:pt x="11521" y="26554"/>
                    </a:lnTo>
                    <a:lnTo>
                      <a:pt x="11495" y="26382"/>
                    </a:lnTo>
                    <a:lnTo>
                      <a:pt x="11478" y="26295"/>
                    </a:lnTo>
                    <a:lnTo>
                      <a:pt x="11478" y="26209"/>
                    </a:lnTo>
                    <a:lnTo>
                      <a:pt x="11478" y="26088"/>
                    </a:lnTo>
                    <a:lnTo>
                      <a:pt x="11478" y="25976"/>
                    </a:lnTo>
                    <a:lnTo>
                      <a:pt x="11486" y="25872"/>
                    </a:lnTo>
                    <a:lnTo>
                      <a:pt x="11503" y="25760"/>
                    </a:lnTo>
                    <a:lnTo>
                      <a:pt x="11521" y="25648"/>
                    </a:lnTo>
                    <a:lnTo>
                      <a:pt x="11547" y="25544"/>
                    </a:lnTo>
                    <a:lnTo>
                      <a:pt x="11581" y="25440"/>
                    </a:lnTo>
                    <a:lnTo>
                      <a:pt x="11616" y="25337"/>
                    </a:lnTo>
                    <a:lnTo>
                      <a:pt x="11659" y="25242"/>
                    </a:lnTo>
                    <a:lnTo>
                      <a:pt x="11702" y="25147"/>
                    </a:lnTo>
                    <a:lnTo>
                      <a:pt x="11806" y="24957"/>
                    </a:lnTo>
                    <a:lnTo>
                      <a:pt x="11927" y="24784"/>
                    </a:lnTo>
                    <a:lnTo>
                      <a:pt x="12065" y="24620"/>
                    </a:lnTo>
                    <a:lnTo>
                      <a:pt x="12220" y="24473"/>
                    </a:lnTo>
                    <a:lnTo>
                      <a:pt x="12384" y="24335"/>
                    </a:lnTo>
                    <a:lnTo>
                      <a:pt x="12566" y="24223"/>
                    </a:lnTo>
                    <a:lnTo>
                      <a:pt x="12652" y="24171"/>
                    </a:lnTo>
                    <a:lnTo>
                      <a:pt x="12756" y="24119"/>
                    </a:lnTo>
                    <a:lnTo>
                      <a:pt x="12851" y="24076"/>
                    </a:lnTo>
                    <a:lnTo>
                      <a:pt x="12954" y="24041"/>
                    </a:lnTo>
                    <a:lnTo>
                      <a:pt x="13058" y="24007"/>
                    </a:lnTo>
                    <a:lnTo>
                      <a:pt x="13161" y="23981"/>
                    </a:lnTo>
                    <a:lnTo>
                      <a:pt x="13274" y="23955"/>
                    </a:lnTo>
                    <a:lnTo>
                      <a:pt x="13377" y="23938"/>
                    </a:lnTo>
                    <a:lnTo>
                      <a:pt x="13490" y="23929"/>
                    </a:lnTo>
                    <a:lnTo>
                      <a:pt x="13602" y="23920"/>
                    </a:lnTo>
                    <a:lnTo>
                      <a:pt x="13835" y="23920"/>
                    </a:lnTo>
                    <a:lnTo>
                      <a:pt x="13939" y="23929"/>
                    </a:lnTo>
                    <a:lnTo>
                      <a:pt x="14051" y="23946"/>
                    </a:lnTo>
                    <a:lnTo>
                      <a:pt x="14163" y="23972"/>
                    </a:lnTo>
                    <a:lnTo>
                      <a:pt x="14267" y="23998"/>
                    </a:lnTo>
                    <a:lnTo>
                      <a:pt x="14370" y="24024"/>
                    </a:lnTo>
                    <a:lnTo>
                      <a:pt x="14474" y="24059"/>
                    </a:lnTo>
                    <a:lnTo>
                      <a:pt x="14569" y="24102"/>
                    </a:lnTo>
                    <a:lnTo>
                      <a:pt x="14664" y="24145"/>
                    </a:lnTo>
                    <a:lnTo>
                      <a:pt x="14854" y="24249"/>
                    </a:lnTo>
                    <a:lnTo>
                      <a:pt x="15027" y="24369"/>
                    </a:lnTo>
                    <a:lnTo>
                      <a:pt x="15191" y="24508"/>
                    </a:lnTo>
                    <a:lnTo>
                      <a:pt x="15338" y="24663"/>
                    </a:lnTo>
                    <a:lnTo>
                      <a:pt x="15467" y="24827"/>
                    </a:lnTo>
                    <a:lnTo>
                      <a:pt x="15588" y="25009"/>
                    </a:lnTo>
                    <a:lnTo>
                      <a:pt x="15640" y="25095"/>
                    </a:lnTo>
                    <a:lnTo>
                      <a:pt x="15692" y="25199"/>
                    </a:lnTo>
                    <a:lnTo>
                      <a:pt x="15735" y="25293"/>
                    </a:lnTo>
                    <a:lnTo>
                      <a:pt x="15769" y="25397"/>
                    </a:lnTo>
                    <a:lnTo>
                      <a:pt x="15804" y="25501"/>
                    </a:lnTo>
                    <a:lnTo>
                      <a:pt x="15830" y="25604"/>
                    </a:lnTo>
                    <a:lnTo>
                      <a:pt x="15856" y="25717"/>
                    </a:lnTo>
                    <a:lnTo>
                      <a:pt x="15873" y="25820"/>
                    </a:lnTo>
                    <a:lnTo>
                      <a:pt x="15882" y="25933"/>
                    </a:lnTo>
                    <a:lnTo>
                      <a:pt x="15890" y="26045"/>
                    </a:lnTo>
                    <a:lnTo>
                      <a:pt x="15890" y="26140"/>
                    </a:lnTo>
                    <a:lnTo>
                      <a:pt x="15890" y="26235"/>
                    </a:lnTo>
                    <a:lnTo>
                      <a:pt x="15864" y="26416"/>
                    </a:lnTo>
                    <a:lnTo>
                      <a:pt x="16201" y="26347"/>
                    </a:lnTo>
                    <a:lnTo>
                      <a:pt x="16529" y="26269"/>
                    </a:lnTo>
                    <a:lnTo>
                      <a:pt x="16849" y="26183"/>
                    </a:lnTo>
                    <a:lnTo>
                      <a:pt x="17177" y="26088"/>
                    </a:lnTo>
                    <a:lnTo>
                      <a:pt x="17496" y="25984"/>
                    </a:lnTo>
                    <a:lnTo>
                      <a:pt x="17807" y="25881"/>
                    </a:lnTo>
                    <a:lnTo>
                      <a:pt x="18118" y="25760"/>
                    </a:lnTo>
                    <a:lnTo>
                      <a:pt x="18429" y="25639"/>
                    </a:lnTo>
                    <a:lnTo>
                      <a:pt x="18317" y="25501"/>
                    </a:lnTo>
                    <a:lnTo>
                      <a:pt x="18265" y="25432"/>
                    </a:lnTo>
                    <a:lnTo>
                      <a:pt x="18213" y="25363"/>
                    </a:lnTo>
                    <a:lnTo>
                      <a:pt x="18153" y="25268"/>
                    </a:lnTo>
                    <a:lnTo>
                      <a:pt x="18101" y="25164"/>
                    </a:lnTo>
                    <a:lnTo>
                      <a:pt x="18058" y="25060"/>
                    </a:lnTo>
                    <a:lnTo>
                      <a:pt x="18015" y="24957"/>
                    </a:lnTo>
                    <a:lnTo>
                      <a:pt x="17980" y="24853"/>
                    </a:lnTo>
                    <a:lnTo>
                      <a:pt x="17946" y="24749"/>
                    </a:lnTo>
                    <a:lnTo>
                      <a:pt x="17920" y="24646"/>
                    </a:lnTo>
                    <a:lnTo>
                      <a:pt x="17902" y="24542"/>
                    </a:lnTo>
                    <a:lnTo>
                      <a:pt x="17885" y="24430"/>
                    </a:lnTo>
                    <a:lnTo>
                      <a:pt x="17876" y="24326"/>
                    </a:lnTo>
                    <a:lnTo>
                      <a:pt x="17876" y="24110"/>
                    </a:lnTo>
                    <a:lnTo>
                      <a:pt x="17894" y="23903"/>
                    </a:lnTo>
                    <a:lnTo>
                      <a:pt x="17928" y="23696"/>
                    </a:lnTo>
                    <a:lnTo>
                      <a:pt x="17989" y="23489"/>
                    </a:lnTo>
                    <a:lnTo>
                      <a:pt x="18066" y="23290"/>
                    </a:lnTo>
                    <a:lnTo>
                      <a:pt x="18161" y="23100"/>
                    </a:lnTo>
                    <a:lnTo>
                      <a:pt x="18213" y="23005"/>
                    </a:lnTo>
                    <a:lnTo>
                      <a:pt x="18274" y="22919"/>
                    </a:lnTo>
                    <a:lnTo>
                      <a:pt x="18343" y="22832"/>
                    </a:lnTo>
                    <a:lnTo>
                      <a:pt x="18412" y="22746"/>
                    </a:lnTo>
                    <a:lnTo>
                      <a:pt x="18481" y="22668"/>
                    </a:lnTo>
                    <a:lnTo>
                      <a:pt x="18559" y="22591"/>
                    </a:lnTo>
                    <a:lnTo>
                      <a:pt x="18645" y="22513"/>
                    </a:lnTo>
                    <a:lnTo>
                      <a:pt x="18731" y="22444"/>
                    </a:lnTo>
                    <a:lnTo>
                      <a:pt x="18818" y="22375"/>
                    </a:lnTo>
                    <a:lnTo>
                      <a:pt x="18913" y="22314"/>
                    </a:lnTo>
                    <a:lnTo>
                      <a:pt x="19008" y="22254"/>
                    </a:lnTo>
                    <a:lnTo>
                      <a:pt x="19111" y="22202"/>
                    </a:lnTo>
                    <a:lnTo>
                      <a:pt x="19215" y="22159"/>
                    </a:lnTo>
                    <a:lnTo>
                      <a:pt x="19319" y="22116"/>
                    </a:lnTo>
                    <a:lnTo>
                      <a:pt x="19422" y="22081"/>
                    </a:lnTo>
                    <a:lnTo>
                      <a:pt x="19526" y="22055"/>
                    </a:lnTo>
                    <a:lnTo>
                      <a:pt x="19629" y="22029"/>
                    </a:lnTo>
                    <a:lnTo>
                      <a:pt x="19733" y="22003"/>
                    </a:lnTo>
                    <a:lnTo>
                      <a:pt x="19837" y="21995"/>
                    </a:lnTo>
                    <a:lnTo>
                      <a:pt x="19949" y="21986"/>
                    </a:lnTo>
                    <a:lnTo>
                      <a:pt x="20165" y="21977"/>
                    </a:lnTo>
                    <a:lnTo>
                      <a:pt x="20372" y="21995"/>
                    </a:lnTo>
                    <a:lnTo>
                      <a:pt x="20579" y="22038"/>
                    </a:lnTo>
                    <a:lnTo>
                      <a:pt x="20787" y="22090"/>
                    </a:lnTo>
                    <a:lnTo>
                      <a:pt x="20985" y="22167"/>
                    </a:lnTo>
                    <a:lnTo>
                      <a:pt x="21175" y="22262"/>
                    </a:lnTo>
                    <a:lnTo>
                      <a:pt x="21270" y="22323"/>
                    </a:lnTo>
                    <a:lnTo>
                      <a:pt x="21357" y="22383"/>
                    </a:lnTo>
                    <a:lnTo>
                      <a:pt x="21443" y="22444"/>
                    </a:lnTo>
                    <a:lnTo>
                      <a:pt x="21529" y="22513"/>
                    </a:lnTo>
                    <a:lnTo>
                      <a:pt x="21607" y="22582"/>
                    </a:lnTo>
                    <a:lnTo>
                      <a:pt x="21685" y="22660"/>
                    </a:lnTo>
                    <a:lnTo>
                      <a:pt x="21762" y="22746"/>
                    </a:lnTo>
                    <a:lnTo>
                      <a:pt x="21832" y="22832"/>
                    </a:lnTo>
                    <a:lnTo>
                      <a:pt x="21892" y="22919"/>
                    </a:lnTo>
                    <a:lnTo>
                      <a:pt x="21961" y="23014"/>
                    </a:lnTo>
                    <a:lnTo>
                      <a:pt x="22004" y="23091"/>
                    </a:lnTo>
                    <a:lnTo>
                      <a:pt x="22047" y="23169"/>
                    </a:lnTo>
                    <a:lnTo>
                      <a:pt x="22117" y="23333"/>
                    </a:lnTo>
                    <a:lnTo>
                      <a:pt x="22358" y="23109"/>
                    </a:lnTo>
                    <a:lnTo>
                      <a:pt x="22600" y="22884"/>
                    </a:lnTo>
                    <a:lnTo>
                      <a:pt x="22842" y="22642"/>
                    </a:lnTo>
                    <a:lnTo>
                      <a:pt x="23066" y="22401"/>
                    </a:lnTo>
                    <a:lnTo>
                      <a:pt x="23291" y="22159"/>
                    </a:lnTo>
                    <a:lnTo>
                      <a:pt x="23507" y="21908"/>
                    </a:lnTo>
                    <a:lnTo>
                      <a:pt x="23723" y="21649"/>
                    </a:lnTo>
                    <a:lnTo>
                      <a:pt x="23930" y="21390"/>
                    </a:lnTo>
                    <a:lnTo>
                      <a:pt x="23775" y="21330"/>
                    </a:lnTo>
                    <a:lnTo>
                      <a:pt x="23697" y="21295"/>
                    </a:lnTo>
                    <a:lnTo>
                      <a:pt x="23628" y="21261"/>
                    </a:lnTo>
                    <a:lnTo>
                      <a:pt x="23524" y="21209"/>
                    </a:lnTo>
                    <a:lnTo>
                      <a:pt x="23429" y="21148"/>
                    </a:lnTo>
                    <a:lnTo>
                      <a:pt x="23334" y="21079"/>
                    </a:lnTo>
                    <a:lnTo>
                      <a:pt x="23248" y="21010"/>
                    </a:lnTo>
                    <a:lnTo>
                      <a:pt x="23170" y="20941"/>
                    </a:lnTo>
                    <a:lnTo>
                      <a:pt x="23092" y="20863"/>
                    </a:lnTo>
                    <a:lnTo>
                      <a:pt x="23015" y="20786"/>
                    </a:lnTo>
                    <a:lnTo>
                      <a:pt x="22946" y="20708"/>
                    </a:lnTo>
                    <a:lnTo>
                      <a:pt x="22876" y="20622"/>
                    </a:lnTo>
                    <a:lnTo>
                      <a:pt x="22816" y="20535"/>
                    </a:lnTo>
                    <a:lnTo>
                      <a:pt x="22712" y="20345"/>
                    </a:lnTo>
                    <a:lnTo>
                      <a:pt x="22617" y="20155"/>
                    </a:lnTo>
                    <a:lnTo>
                      <a:pt x="22548" y="19957"/>
                    </a:lnTo>
                    <a:lnTo>
                      <a:pt x="22496" y="19749"/>
                    </a:lnTo>
                    <a:lnTo>
                      <a:pt x="22462" y="19542"/>
                    </a:lnTo>
                    <a:lnTo>
                      <a:pt x="22453" y="19326"/>
                    </a:lnTo>
                    <a:lnTo>
                      <a:pt x="22453" y="19223"/>
                    </a:lnTo>
                    <a:lnTo>
                      <a:pt x="22462" y="19119"/>
                    </a:lnTo>
                    <a:lnTo>
                      <a:pt x="22471" y="19007"/>
                    </a:lnTo>
                    <a:lnTo>
                      <a:pt x="22488" y="18903"/>
                    </a:lnTo>
                    <a:lnTo>
                      <a:pt x="22514" y="18791"/>
                    </a:lnTo>
                    <a:lnTo>
                      <a:pt x="22540" y="18687"/>
                    </a:lnTo>
                    <a:lnTo>
                      <a:pt x="22574" y="18584"/>
                    </a:lnTo>
                    <a:lnTo>
                      <a:pt x="22609" y="18480"/>
                    </a:lnTo>
                    <a:lnTo>
                      <a:pt x="22661" y="18376"/>
                    </a:lnTo>
                    <a:lnTo>
                      <a:pt x="22712" y="18273"/>
                    </a:lnTo>
                    <a:lnTo>
                      <a:pt x="22764" y="18178"/>
                    </a:lnTo>
                    <a:lnTo>
                      <a:pt x="22825" y="18083"/>
                    </a:lnTo>
                    <a:lnTo>
                      <a:pt x="22885" y="17988"/>
                    </a:lnTo>
                    <a:lnTo>
                      <a:pt x="22954" y="17901"/>
                    </a:lnTo>
                    <a:lnTo>
                      <a:pt x="23032" y="17815"/>
                    </a:lnTo>
                    <a:lnTo>
                      <a:pt x="23101" y="17737"/>
                    </a:lnTo>
                    <a:lnTo>
                      <a:pt x="23187" y="17668"/>
                    </a:lnTo>
                    <a:lnTo>
                      <a:pt x="23265" y="17599"/>
                    </a:lnTo>
                    <a:lnTo>
                      <a:pt x="23351" y="17530"/>
                    </a:lnTo>
                    <a:lnTo>
                      <a:pt x="23438" y="17470"/>
                    </a:lnTo>
                    <a:lnTo>
                      <a:pt x="23619" y="17357"/>
                    </a:lnTo>
                    <a:lnTo>
                      <a:pt x="23818" y="17271"/>
                    </a:lnTo>
                    <a:lnTo>
                      <a:pt x="24016" y="17193"/>
                    </a:lnTo>
                    <a:lnTo>
                      <a:pt x="24215" y="17142"/>
                    </a:lnTo>
                    <a:lnTo>
                      <a:pt x="24431" y="17116"/>
                    </a:lnTo>
                    <a:lnTo>
                      <a:pt x="24638" y="17098"/>
                    </a:lnTo>
                    <a:lnTo>
                      <a:pt x="24750" y="17098"/>
                    </a:lnTo>
                    <a:lnTo>
                      <a:pt x="24854" y="17107"/>
                    </a:lnTo>
                    <a:lnTo>
                      <a:pt x="24966" y="17124"/>
                    </a:lnTo>
                    <a:lnTo>
                      <a:pt x="25070" y="17142"/>
                    </a:lnTo>
                    <a:lnTo>
                      <a:pt x="25173" y="17159"/>
                    </a:lnTo>
                    <a:lnTo>
                      <a:pt x="25286" y="17193"/>
                    </a:lnTo>
                    <a:lnTo>
                      <a:pt x="25389" y="17219"/>
                    </a:lnTo>
                    <a:lnTo>
                      <a:pt x="25493" y="17262"/>
                    </a:lnTo>
                    <a:lnTo>
                      <a:pt x="25597" y="17306"/>
                    </a:lnTo>
                    <a:lnTo>
                      <a:pt x="25700" y="17357"/>
                    </a:lnTo>
                    <a:lnTo>
                      <a:pt x="25769" y="17401"/>
                    </a:lnTo>
                    <a:lnTo>
                      <a:pt x="25838" y="17444"/>
                    </a:lnTo>
                    <a:lnTo>
                      <a:pt x="25968" y="17539"/>
                    </a:lnTo>
                    <a:lnTo>
                      <a:pt x="26072" y="17228"/>
                    </a:lnTo>
                    <a:lnTo>
                      <a:pt x="26167" y="16917"/>
                    </a:lnTo>
                    <a:lnTo>
                      <a:pt x="26244" y="16598"/>
                    </a:lnTo>
                    <a:lnTo>
                      <a:pt x="26322" y="16278"/>
                    </a:lnTo>
                    <a:lnTo>
                      <a:pt x="26391" y="15950"/>
                    </a:lnTo>
                    <a:lnTo>
                      <a:pt x="26460" y="15630"/>
                    </a:lnTo>
                    <a:lnTo>
                      <a:pt x="26512" y="15294"/>
                    </a:lnTo>
                    <a:lnTo>
                      <a:pt x="26555" y="14965"/>
                    </a:lnTo>
                    <a:lnTo>
                      <a:pt x="26408" y="14991"/>
                    </a:lnTo>
                    <a:lnTo>
                      <a:pt x="26262" y="15009"/>
                    </a:lnTo>
                    <a:lnTo>
                      <a:pt x="26149" y="15009"/>
                    </a:lnTo>
                    <a:lnTo>
                      <a:pt x="26037" y="15000"/>
                    </a:lnTo>
                    <a:lnTo>
                      <a:pt x="25925" y="14991"/>
                    </a:lnTo>
                    <a:lnTo>
                      <a:pt x="25813" y="14974"/>
                    </a:lnTo>
                    <a:lnTo>
                      <a:pt x="25709" y="14957"/>
                    </a:lnTo>
                    <a:lnTo>
                      <a:pt x="25605" y="14931"/>
                    </a:lnTo>
                    <a:lnTo>
                      <a:pt x="25493" y="14896"/>
                    </a:lnTo>
                    <a:lnTo>
                      <a:pt x="25398" y="14862"/>
                    </a:lnTo>
                    <a:lnTo>
                      <a:pt x="25294" y="14819"/>
                    </a:lnTo>
                    <a:lnTo>
                      <a:pt x="25199" y="14775"/>
                    </a:lnTo>
                    <a:lnTo>
                      <a:pt x="25009" y="14672"/>
                    </a:lnTo>
                    <a:lnTo>
                      <a:pt x="24837" y="14551"/>
                    </a:lnTo>
                    <a:lnTo>
                      <a:pt x="24673" y="14413"/>
                    </a:lnTo>
                    <a:lnTo>
                      <a:pt x="24526" y="14266"/>
                    </a:lnTo>
                    <a:lnTo>
                      <a:pt x="24396" y="14093"/>
                    </a:lnTo>
                    <a:lnTo>
                      <a:pt x="24275" y="13920"/>
                    </a:lnTo>
                    <a:lnTo>
                      <a:pt x="24224" y="13825"/>
                    </a:lnTo>
                    <a:lnTo>
                      <a:pt x="24180" y="13731"/>
                    </a:lnTo>
                    <a:lnTo>
                      <a:pt x="24137" y="13627"/>
                    </a:lnTo>
                    <a:lnTo>
                      <a:pt x="24094" y="13532"/>
                    </a:lnTo>
                    <a:lnTo>
                      <a:pt x="24060" y="13428"/>
                    </a:lnTo>
                    <a:lnTo>
                      <a:pt x="24034" y="13316"/>
                    </a:lnTo>
                    <a:lnTo>
                      <a:pt x="24008" y="13212"/>
                    </a:lnTo>
                    <a:lnTo>
                      <a:pt x="23990" y="13100"/>
                    </a:lnTo>
                    <a:lnTo>
                      <a:pt x="23982" y="12988"/>
                    </a:lnTo>
                    <a:lnTo>
                      <a:pt x="23973" y="12876"/>
                    </a:lnTo>
                    <a:lnTo>
                      <a:pt x="23973" y="12763"/>
                    </a:lnTo>
                    <a:lnTo>
                      <a:pt x="23982" y="12651"/>
                    </a:lnTo>
                    <a:lnTo>
                      <a:pt x="23990" y="12539"/>
                    </a:lnTo>
                    <a:lnTo>
                      <a:pt x="24008" y="12427"/>
                    </a:lnTo>
                    <a:lnTo>
                      <a:pt x="24025" y="12323"/>
                    </a:lnTo>
                    <a:lnTo>
                      <a:pt x="24051" y="12219"/>
                    </a:lnTo>
                    <a:lnTo>
                      <a:pt x="24085" y="12116"/>
                    </a:lnTo>
                    <a:lnTo>
                      <a:pt x="24120" y="12012"/>
                    </a:lnTo>
                    <a:lnTo>
                      <a:pt x="24154" y="11908"/>
                    </a:lnTo>
                    <a:lnTo>
                      <a:pt x="24206" y="11813"/>
                    </a:lnTo>
                    <a:lnTo>
                      <a:pt x="24310" y="11623"/>
                    </a:lnTo>
                    <a:lnTo>
                      <a:pt x="24431" y="11451"/>
                    </a:lnTo>
                    <a:lnTo>
                      <a:pt x="24569" y="11287"/>
                    </a:lnTo>
                    <a:lnTo>
                      <a:pt x="24716" y="11140"/>
                    </a:lnTo>
                    <a:lnTo>
                      <a:pt x="24880" y="11010"/>
                    </a:lnTo>
                    <a:lnTo>
                      <a:pt x="25061" y="10889"/>
                    </a:lnTo>
                    <a:lnTo>
                      <a:pt x="25156" y="10838"/>
                    </a:lnTo>
                    <a:lnTo>
                      <a:pt x="25251" y="10794"/>
                    </a:lnTo>
                    <a:lnTo>
                      <a:pt x="25346" y="10751"/>
                    </a:lnTo>
                    <a:lnTo>
                      <a:pt x="25450" y="10708"/>
                    </a:lnTo>
                    <a:lnTo>
                      <a:pt x="25553" y="10674"/>
                    </a:lnTo>
                    <a:lnTo>
                      <a:pt x="25666" y="10648"/>
                    </a:lnTo>
                    <a:lnTo>
                      <a:pt x="25769" y="10630"/>
                    </a:lnTo>
                    <a:lnTo>
                      <a:pt x="25882" y="10604"/>
                    </a:lnTo>
                    <a:lnTo>
                      <a:pt x="25994" y="10596"/>
                    </a:lnTo>
                    <a:lnTo>
                      <a:pt x="26106" y="10587"/>
                    </a:lnTo>
                    <a:lnTo>
                      <a:pt x="26253" y="10596"/>
                    </a:lnTo>
                    <a:lnTo>
                      <a:pt x="26400" y="10604"/>
                    </a:lnTo>
                    <a:lnTo>
                      <a:pt x="26331" y="10285"/>
                    </a:lnTo>
                    <a:lnTo>
                      <a:pt x="26253" y="9965"/>
                    </a:lnTo>
                    <a:lnTo>
                      <a:pt x="26167" y="9646"/>
                    </a:lnTo>
                    <a:lnTo>
                      <a:pt x="26072" y="9326"/>
                    </a:lnTo>
                    <a:lnTo>
                      <a:pt x="25977" y="9016"/>
                    </a:lnTo>
                    <a:lnTo>
                      <a:pt x="25864" y="8713"/>
                    </a:lnTo>
                    <a:lnTo>
                      <a:pt x="25752" y="8402"/>
                    </a:lnTo>
                    <a:lnTo>
                      <a:pt x="25631" y="8109"/>
                    </a:lnTo>
                    <a:lnTo>
                      <a:pt x="25528" y="8186"/>
                    </a:lnTo>
                    <a:lnTo>
                      <a:pt x="25415" y="8273"/>
                    </a:lnTo>
                    <a:lnTo>
                      <a:pt x="25320" y="8325"/>
                    </a:lnTo>
                    <a:lnTo>
                      <a:pt x="25217" y="8376"/>
                    </a:lnTo>
                    <a:lnTo>
                      <a:pt x="25122" y="8428"/>
                    </a:lnTo>
                    <a:lnTo>
                      <a:pt x="25018" y="8471"/>
                    </a:lnTo>
                    <a:lnTo>
                      <a:pt x="24914" y="8506"/>
                    </a:lnTo>
                    <a:lnTo>
                      <a:pt x="24811" y="8532"/>
                    </a:lnTo>
                    <a:lnTo>
                      <a:pt x="24699" y="8558"/>
                    </a:lnTo>
                    <a:lnTo>
                      <a:pt x="24595" y="8575"/>
                    </a:lnTo>
                    <a:lnTo>
                      <a:pt x="24491" y="8592"/>
                    </a:lnTo>
                    <a:lnTo>
                      <a:pt x="24379" y="8601"/>
                    </a:lnTo>
                    <a:lnTo>
                      <a:pt x="24172" y="8601"/>
                    </a:lnTo>
                    <a:lnTo>
                      <a:pt x="23956" y="8584"/>
                    </a:lnTo>
                    <a:lnTo>
                      <a:pt x="23749" y="8549"/>
                    </a:lnTo>
                    <a:lnTo>
                      <a:pt x="23541" y="8489"/>
                    </a:lnTo>
                    <a:lnTo>
                      <a:pt x="23351" y="8411"/>
                    </a:lnTo>
                    <a:lnTo>
                      <a:pt x="23153" y="8316"/>
                    </a:lnTo>
                    <a:lnTo>
                      <a:pt x="23066" y="8264"/>
                    </a:lnTo>
                    <a:lnTo>
                      <a:pt x="22971" y="8204"/>
                    </a:lnTo>
                    <a:lnTo>
                      <a:pt x="22885" y="8143"/>
                    </a:lnTo>
                    <a:lnTo>
                      <a:pt x="22807" y="8074"/>
                    </a:lnTo>
                    <a:lnTo>
                      <a:pt x="22721" y="7997"/>
                    </a:lnTo>
                    <a:lnTo>
                      <a:pt x="22643" y="7919"/>
                    </a:lnTo>
                    <a:lnTo>
                      <a:pt x="22574" y="7841"/>
                    </a:lnTo>
                    <a:lnTo>
                      <a:pt x="22505" y="7755"/>
                    </a:lnTo>
                    <a:lnTo>
                      <a:pt x="22436" y="7660"/>
                    </a:lnTo>
                    <a:lnTo>
                      <a:pt x="22376" y="7565"/>
                    </a:lnTo>
                    <a:lnTo>
                      <a:pt x="22315" y="7470"/>
                    </a:lnTo>
                    <a:lnTo>
                      <a:pt x="22263" y="7366"/>
                    </a:lnTo>
                    <a:lnTo>
                      <a:pt x="22211" y="7271"/>
                    </a:lnTo>
                    <a:lnTo>
                      <a:pt x="22177" y="7167"/>
                    </a:lnTo>
                    <a:lnTo>
                      <a:pt x="22134" y="7064"/>
                    </a:lnTo>
                    <a:lnTo>
                      <a:pt x="22108" y="6960"/>
                    </a:lnTo>
                    <a:lnTo>
                      <a:pt x="22082" y="6857"/>
                    </a:lnTo>
                    <a:lnTo>
                      <a:pt x="22065" y="6744"/>
                    </a:lnTo>
                    <a:lnTo>
                      <a:pt x="22047" y="6641"/>
                    </a:lnTo>
                    <a:lnTo>
                      <a:pt x="22039" y="6537"/>
                    </a:lnTo>
                    <a:lnTo>
                      <a:pt x="22039" y="6321"/>
                    </a:lnTo>
                    <a:lnTo>
                      <a:pt x="22056" y="6105"/>
                    </a:lnTo>
                    <a:lnTo>
                      <a:pt x="22091" y="5898"/>
                    </a:lnTo>
                    <a:lnTo>
                      <a:pt x="22151" y="5699"/>
                    </a:lnTo>
                    <a:lnTo>
                      <a:pt x="22229" y="5501"/>
                    </a:lnTo>
                    <a:lnTo>
                      <a:pt x="22324" y="5311"/>
                    </a:lnTo>
                    <a:lnTo>
                      <a:pt x="22376" y="5216"/>
                    </a:lnTo>
                    <a:lnTo>
                      <a:pt x="22436" y="5130"/>
                    </a:lnTo>
                    <a:lnTo>
                      <a:pt x="22496" y="5035"/>
                    </a:lnTo>
                    <a:lnTo>
                      <a:pt x="22566" y="4957"/>
                    </a:lnTo>
                    <a:lnTo>
                      <a:pt x="22643" y="4870"/>
                    </a:lnTo>
                    <a:lnTo>
                      <a:pt x="22721" y="4793"/>
                    </a:lnTo>
                    <a:lnTo>
                      <a:pt x="22799" y="4724"/>
                    </a:lnTo>
                    <a:lnTo>
                      <a:pt x="22885" y="4655"/>
                    </a:lnTo>
                    <a:lnTo>
                      <a:pt x="22980" y="4585"/>
                    </a:lnTo>
                    <a:lnTo>
                      <a:pt x="23075" y="4525"/>
                    </a:lnTo>
                    <a:lnTo>
                      <a:pt x="23187" y="4456"/>
                    </a:lnTo>
                    <a:lnTo>
                      <a:pt x="23308" y="4404"/>
                    </a:lnTo>
                    <a:lnTo>
                      <a:pt x="23092" y="4162"/>
                    </a:lnTo>
                    <a:lnTo>
                      <a:pt x="22868" y="3929"/>
                    </a:lnTo>
                    <a:lnTo>
                      <a:pt x="22635" y="3696"/>
                    </a:lnTo>
                    <a:lnTo>
                      <a:pt x="22401" y="3471"/>
                    </a:lnTo>
                    <a:lnTo>
                      <a:pt x="22160" y="3256"/>
                    </a:lnTo>
                    <a:lnTo>
                      <a:pt x="21918" y="3040"/>
                    </a:lnTo>
                    <a:lnTo>
                      <a:pt x="21667" y="2832"/>
                    </a:lnTo>
                    <a:lnTo>
                      <a:pt x="21408" y="2634"/>
                    </a:lnTo>
                    <a:lnTo>
                      <a:pt x="21365" y="2746"/>
                    </a:lnTo>
                    <a:lnTo>
                      <a:pt x="21322" y="2858"/>
                    </a:lnTo>
                    <a:lnTo>
                      <a:pt x="21262" y="2953"/>
                    </a:lnTo>
                    <a:lnTo>
                      <a:pt x="21201" y="3048"/>
                    </a:lnTo>
                    <a:lnTo>
                      <a:pt x="21141" y="3143"/>
                    </a:lnTo>
                    <a:lnTo>
                      <a:pt x="21072" y="3230"/>
                    </a:lnTo>
                    <a:lnTo>
                      <a:pt x="21003" y="3316"/>
                    </a:lnTo>
                    <a:lnTo>
                      <a:pt x="20925" y="3394"/>
                    </a:lnTo>
                    <a:lnTo>
                      <a:pt x="20847" y="3463"/>
                    </a:lnTo>
                    <a:lnTo>
                      <a:pt x="20761" y="3532"/>
                    </a:lnTo>
                    <a:lnTo>
                      <a:pt x="20674" y="3601"/>
                    </a:lnTo>
                    <a:lnTo>
                      <a:pt x="20588" y="3661"/>
                    </a:lnTo>
                    <a:lnTo>
                      <a:pt x="20407" y="3774"/>
                    </a:lnTo>
                    <a:lnTo>
                      <a:pt x="20217" y="3860"/>
                    </a:lnTo>
                    <a:lnTo>
                      <a:pt x="20018" y="3938"/>
                    </a:lnTo>
                    <a:lnTo>
                      <a:pt x="19811" y="3990"/>
                    </a:lnTo>
                    <a:lnTo>
                      <a:pt x="19595" y="4016"/>
                    </a:lnTo>
                    <a:lnTo>
                      <a:pt x="19388" y="4033"/>
                    </a:lnTo>
                    <a:lnTo>
                      <a:pt x="19275" y="4033"/>
                    </a:lnTo>
                    <a:lnTo>
                      <a:pt x="19172" y="4024"/>
                    </a:lnTo>
                    <a:lnTo>
                      <a:pt x="19068" y="4007"/>
                    </a:lnTo>
                    <a:lnTo>
                      <a:pt x="18956" y="3990"/>
                    </a:lnTo>
                    <a:lnTo>
                      <a:pt x="18852" y="3972"/>
                    </a:lnTo>
                    <a:lnTo>
                      <a:pt x="18749" y="3938"/>
                    </a:lnTo>
                    <a:lnTo>
                      <a:pt x="18636" y="3912"/>
                    </a:lnTo>
                    <a:lnTo>
                      <a:pt x="18533" y="3869"/>
                    </a:lnTo>
                    <a:lnTo>
                      <a:pt x="18429" y="3826"/>
                    </a:lnTo>
                    <a:lnTo>
                      <a:pt x="18334" y="3774"/>
                    </a:lnTo>
                    <a:lnTo>
                      <a:pt x="18231" y="3713"/>
                    </a:lnTo>
                    <a:lnTo>
                      <a:pt x="18136" y="3653"/>
                    </a:lnTo>
                    <a:lnTo>
                      <a:pt x="18041" y="3592"/>
                    </a:lnTo>
                    <a:lnTo>
                      <a:pt x="17954" y="3523"/>
                    </a:lnTo>
                    <a:lnTo>
                      <a:pt x="17876" y="3454"/>
                    </a:lnTo>
                    <a:lnTo>
                      <a:pt x="17799" y="3376"/>
                    </a:lnTo>
                    <a:lnTo>
                      <a:pt x="17721" y="3299"/>
                    </a:lnTo>
                    <a:lnTo>
                      <a:pt x="17652" y="3212"/>
                    </a:lnTo>
                    <a:lnTo>
                      <a:pt x="17583" y="3135"/>
                    </a:lnTo>
                    <a:lnTo>
                      <a:pt x="17522" y="3040"/>
                    </a:lnTo>
                    <a:lnTo>
                      <a:pt x="17419" y="2858"/>
                    </a:lnTo>
                    <a:lnTo>
                      <a:pt x="17324" y="2668"/>
                    </a:lnTo>
                    <a:lnTo>
                      <a:pt x="17255" y="2470"/>
                    </a:lnTo>
                    <a:lnTo>
                      <a:pt x="17203" y="2263"/>
                    </a:lnTo>
                    <a:lnTo>
                      <a:pt x="17168" y="2055"/>
                    </a:lnTo>
                    <a:lnTo>
                      <a:pt x="17160" y="1839"/>
                    </a:lnTo>
                    <a:lnTo>
                      <a:pt x="17160" y="1736"/>
                    </a:lnTo>
                    <a:lnTo>
                      <a:pt x="17168" y="1623"/>
                    </a:lnTo>
                    <a:lnTo>
                      <a:pt x="17177" y="1520"/>
                    </a:lnTo>
                    <a:lnTo>
                      <a:pt x="17194" y="1408"/>
                    </a:lnTo>
                    <a:lnTo>
                      <a:pt x="17220" y="1304"/>
                    </a:lnTo>
                    <a:lnTo>
                      <a:pt x="17246" y="1200"/>
                    </a:lnTo>
                    <a:lnTo>
                      <a:pt x="17281" y="1097"/>
                    </a:lnTo>
                    <a:lnTo>
                      <a:pt x="17315" y="984"/>
                    </a:lnTo>
                    <a:lnTo>
                      <a:pt x="17367" y="889"/>
                    </a:lnTo>
                    <a:lnTo>
                      <a:pt x="17419" y="786"/>
                    </a:lnTo>
                    <a:lnTo>
                      <a:pt x="17479" y="682"/>
                    </a:lnTo>
                    <a:lnTo>
                      <a:pt x="17548" y="579"/>
                    </a:lnTo>
                    <a:lnTo>
                      <a:pt x="17246" y="484"/>
                    </a:lnTo>
                    <a:lnTo>
                      <a:pt x="16935" y="389"/>
                    </a:lnTo>
                    <a:lnTo>
                      <a:pt x="16624" y="302"/>
                    </a:lnTo>
                    <a:lnTo>
                      <a:pt x="16313" y="225"/>
                    </a:lnTo>
                    <a:lnTo>
                      <a:pt x="15994" y="155"/>
                    </a:lnTo>
                    <a:lnTo>
                      <a:pt x="15674" y="95"/>
                    </a:lnTo>
                    <a:lnTo>
                      <a:pt x="15355" y="43"/>
                    </a:lnTo>
                    <a:lnTo>
                      <a:pt x="15035" y="0"/>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56"/>
              <p:cNvSpPr/>
              <p:nvPr/>
            </p:nvSpPr>
            <p:spPr>
              <a:xfrm>
                <a:off x="915800" y="378450"/>
                <a:ext cx="1286275" cy="1549650"/>
              </a:xfrm>
              <a:custGeom>
                <a:rect b="b" l="l" r="r" t="t"/>
                <a:pathLst>
                  <a:path extrusionOk="0" h="61986" w="51451">
                    <a:moveTo>
                      <a:pt x="0" y="0"/>
                    </a:moveTo>
                    <a:lnTo>
                      <a:pt x="0" y="61986"/>
                    </a:lnTo>
                    <a:lnTo>
                      <a:pt x="51451" y="61986"/>
                    </a:lnTo>
                    <a:lnTo>
                      <a:pt x="51451"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6"/>
              <p:cNvSpPr/>
              <p:nvPr/>
            </p:nvSpPr>
            <p:spPr>
              <a:xfrm>
                <a:off x="1177025" y="990050"/>
                <a:ext cx="143350" cy="339625"/>
              </a:xfrm>
              <a:custGeom>
                <a:rect b="b" l="l" r="r" t="t"/>
                <a:pathLst>
                  <a:path extrusionOk="0" h="13585" w="5734">
                    <a:moveTo>
                      <a:pt x="0" y="1"/>
                    </a:moveTo>
                    <a:lnTo>
                      <a:pt x="0" y="13584"/>
                    </a:lnTo>
                    <a:lnTo>
                      <a:pt x="5734" y="13584"/>
                    </a:lnTo>
                    <a:lnTo>
                      <a:pt x="5734" y="1"/>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6"/>
              <p:cNvSpPr/>
              <p:nvPr/>
            </p:nvSpPr>
            <p:spPr>
              <a:xfrm>
                <a:off x="1398725" y="823825"/>
                <a:ext cx="143600" cy="505850"/>
              </a:xfrm>
              <a:custGeom>
                <a:rect b="b" l="l" r="r" t="t"/>
                <a:pathLst>
                  <a:path extrusionOk="0" h="20234" w="5744">
                    <a:moveTo>
                      <a:pt x="1" y="0"/>
                    </a:moveTo>
                    <a:lnTo>
                      <a:pt x="1" y="20233"/>
                    </a:lnTo>
                    <a:lnTo>
                      <a:pt x="5743" y="20233"/>
                    </a:lnTo>
                    <a:lnTo>
                      <a:pt x="5743" y="0"/>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6"/>
              <p:cNvSpPr/>
              <p:nvPr/>
            </p:nvSpPr>
            <p:spPr>
              <a:xfrm>
                <a:off x="1620675" y="594550"/>
                <a:ext cx="143575" cy="735125"/>
              </a:xfrm>
              <a:custGeom>
                <a:rect b="b" l="l" r="r" t="t"/>
                <a:pathLst>
                  <a:path extrusionOk="0" h="29405" w="5743">
                    <a:moveTo>
                      <a:pt x="0" y="0"/>
                    </a:moveTo>
                    <a:lnTo>
                      <a:pt x="0" y="29404"/>
                    </a:lnTo>
                    <a:lnTo>
                      <a:pt x="5743" y="29404"/>
                    </a:lnTo>
                    <a:lnTo>
                      <a:pt x="5743" y="0"/>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6"/>
              <p:cNvSpPr/>
              <p:nvPr/>
            </p:nvSpPr>
            <p:spPr>
              <a:xfrm>
                <a:off x="1842600" y="916000"/>
                <a:ext cx="143375" cy="413675"/>
              </a:xfrm>
              <a:custGeom>
                <a:rect b="b" l="l" r="r" t="t"/>
                <a:pathLst>
                  <a:path extrusionOk="0" h="16547" w="5735">
                    <a:moveTo>
                      <a:pt x="0" y="1"/>
                    </a:moveTo>
                    <a:lnTo>
                      <a:pt x="0" y="16546"/>
                    </a:lnTo>
                    <a:lnTo>
                      <a:pt x="5734" y="16546"/>
                    </a:lnTo>
                    <a:lnTo>
                      <a:pt x="5734"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6"/>
              <p:cNvSpPr/>
              <p:nvPr/>
            </p:nvSpPr>
            <p:spPr>
              <a:xfrm>
                <a:off x="1087425" y="603175"/>
                <a:ext cx="953600" cy="735350"/>
              </a:xfrm>
              <a:custGeom>
                <a:rect b="b" l="l" r="r" t="t"/>
                <a:pathLst>
                  <a:path extrusionOk="0" h="29414" w="38144">
                    <a:moveTo>
                      <a:pt x="164" y="1"/>
                    </a:moveTo>
                    <a:lnTo>
                      <a:pt x="121" y="18"/>
                    </a:lnTo>
                    <a:lnTo>
                      <a:pt x="87" y="35"/>
                    </a:lnTo>
                    <a:lnTo>
                      <a:pt x="61" y="61"/>
                    </a:lnTo>
                    <a:lnTo>
                      <a:pt x="35" y="87"/>
                    </a:lnTo>
                    <a:lnTo>
                      <a:pt x="18" y="122"/>
                    </a:lnTo>
                    <a:lnTo>
                      <a:pt x="0" y="165"/>
                    </a:lnTo>
                    <a:lnTo>
                      <a:pt x="0" y="208"/>
                    </a:lnTo>
                    <a:lnTo>
                      <a:pt x="0" y="29413"/>
                    </a:lnTo>
                    <a:lnTo>
                      <a:pt x="37945" y="29413"/>
                    </a:lnTo>
                    <a:lnTo>
                      <a:pt x="37979" y="29405"/>
                    </a:lnTo>
                    <a:lnTo>
                      <a:pt x="38023" y="29396"/>
                    </a:lnTo>
                    <a:lnTo>
                      <a:pt x="38057" y="29379"/>
                    </a:lnTo>
                    <a:lnTo>
                      <a:pt x="38083" y="29353"/>
                    </a:lnTo>
                    <a:lnTo>
                      <a:pt x="38109" y="29318"/>
                    </a:lnTo>
                    <a:lnTo>
                      <a:pt x="38126" y="29284"/>
                    </a:lnTo>
                    <a:lnTo>
                      <a:pt x="38143" y="29249"/>
                    </a:lnTo>
                    <a:lnTo>
                      <a:pt x="38143" y="29206"/>
                    </a:lnTo>
                    <a:lnTo>
                      <a:pt x="38143" y="29163"/>
                    </a:lnTo>
                    <a:lnTo>
                      <a:pt x="38126" y="29128"/>
                    </a:lnTo>
                    <a:lnTo>
                      <a:pt x="38109" y="29094"/>
                    </a:lnTo>
                    <a:lnTo>
                      <a:pt x="38083" y="29059"/>
                    </a:lnTo>
                    <a:lnTo>
                      <a:pt x="38057" y="29033"/>
                    </a:lnTo>
                    <a:lnTo>
                      <a:pt x="38023" y="29016"/>
                    </a:lnTo>
                    <a:lnTo>
                      <a:pt x="37979" y="29007"/>
                    </a:lnTo>
                    <a:lnTo>
                      <a:pt x="37945" y="28999"/>
                    </a:lnTo>
                    <a:lnTo>
                      <a:pt x="406" y="28999"/>
                    </a:lnTo>
                    <a:lnTo>
                      <a:pt x="406" y="208"/>
                    </a:lnTo>
                    <a:lnTo>
                      <a:pt x="406" y="165"/>
                    </a:lnTo>
                    <a:lnTo>
                      <a:pt x="389" y="122"/>
                    </a:lnTo>
                    <a:lnTo>
                      <a:pt x="372" y="87"/>
                    </a:lnTo>
                    <a:lnTo>
                      <a:pt x="346" y="61"/>
                    </a:lnTo>
                    <a:lnTo>
                      <a:pt x="320" y="35"/>
                    </a:lnTo>
                    <a:lnTo>
                      <a:pt x="285" y="18"/>
                    </a:lnTo>
                    <a:lnTo>
                      <a:pt x="242"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6"/>
              <p:cNvSpPr/>
              <p:nvPr/>
            </p:nvSpPr>
            <p:spPr>
              <a:xfrm>
                <a:off x="1073825" y="1471475"/>
                <a:ext cx="965900" cy="92650"/>
              </a:xfrm>
              <a:custGeom>
                <a:rect b="b" l="l" r="r" t="t"/>
                <a:pathLst>
                  <a:path extrusionOk="0" h="3706" w="38636">
                    <a:moveTo>
                      <a:pt x="0" y="1"/>
                    </a:moveTo>
                    <a:lnTo>
                      <a:pt x="0" y="3705"/>
                    </a:lnTo>
                    <a:lnTo>
                      <a:pt x="38636" y="3705"/>
                    </a:lnTo>
                    <a:lnTo>
                      <a:pt x="38636" y="1"/>
                    </a:lnTo>
                    <a:close/>
                  </a:path>
                </a:pathLst>
              </a:custGeom>
              <a:solidFill>
                <a:srgbClr val="FEF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6"/>
              <p:cNvSpPr/>
              <p:nvPr/>
            </p:nvSpPr>
            <p:spPr>
              <a:xfrm>
                <a:off x="1073825" y="1641175"/>
                <a:ext cx="965900" cy="92425"/>
              </a:xfrm>
              <a:custGeom>
                <a:rect b="b" l="l" r="r" t="t"/>
                <a:pathLst>
                  <a:path extrusionOk="0" h="3697" w="38636">
                    <a:moveTo>
                      <a:pt x="0" y="0"/>
                    </a:moveTo>
                    <a:lnTo>
                      <a:pt x="0" y="3696"/>
                    </a:lnTo>
                    <a:lnTo>
                      <a:pt x="38636" y="3696"/>
                    </a:lnTo>
                    <a:lnTo>
                      <a:pt x="38636" y="0"/>
                    </a:lnTo>
                    <a:close/>
                  </a:path>
                </a:pathLst>
              </a:custGeom>
              <a:solidFill>
                <a:srgbClr val="FEFE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56"/>
              <p:cNvSpPr/>
              <p:nvPr/>
            </p:nvSpPr>
            <p:spPr>
              <a:xfrm>
                <a:off x="1849075" y="2301575"/>
                <a:ext cx="1074500" cy="486200"/>
              </a:xfrm>
              <a:custGeom>
                <a:rect b="b" l="l" r="r" t="t"/>
                <a:pathLst>
                  <a:path extrusionOk="0" h="19448" w="42980">
                    <a:moveTo>
                      <a:pt x="21563" y="0"/>
                    </a:moveTo>
                    <a:lnTo>
                      <a:pt x="9905" y="14940"/>
                    </a:lnTo>
                    <a:lnTo>
                      <a:pt x="1313" y="5648"/>
                    </a:lnTo>
                    <a:lnTo>
                      <a:pt x="0" y="6866"/>
                    </a:lnTo>
                    <a:lnTo>
                      <a:pt x="10026" y="17695"/>
                    </a:lnTo>
                    <a:lnTo>
                      <a:pt x="21589" y="2876"/>
                    </a:lnTo>
                    <a:lnTo>
                      <a:pt x="34879" y="19448"/>
                    </a:lnTo>
                    <a:lnTo>
                      <a:pt x="42979" y="2919"/>
                    </a:lnTo>
                    <a:lnTo>
                      <a:pt x="41641" y="1581"/>
                    </a:lnTo>
                    <a:lnTo>
                      <a:pt x="34517" y="16140"/>
                    </a:lnTo>
                    <a:lnTo>
                      <a:pt x="21563"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6"/>
              <p:cNvSpPr/>
              <p:nvPr/>
            </p:nvSpPr>
            <p:spPr>
              <a:xfrm>
                <a:off x="2661675" y="2689100"/>
                <a:ext cx="114675" cy="114650"/>
              </a:xfrm>
              <a:custGeom>
                <a:rect b="b" l="l" r="r" t="t"/>
                <a:pathLst>
                  <a:path extrusionOk="0" h="4586" w="4587">
                    <a:moveTo>
                      <a:pt x="2177" y="0"/>
                    </a:moveTo>
                    <a:lnTo>
                      <a:pt x="2056" y="9"/>
                    </a:lnTo>
                    <a:lnTo>
                      <a:pt x="1944" y="26"/>
                    </a:lnTo>
                    <a:lnTo>
                      <a:pt x="1831" y="43"/>
                    </a:lnTo>
                    <a:lnTo>
                      <a:pt x="1719" y="69"/>
                    </a:lnTo>
                    <a:lnTo>
                      <a:pt x="1607" y="104"/>
                    </a:lnTo>
                    <a:lnTo>
                      <a:pt x="1503" y="138"/>
                    </a:lnTo>
                    <a:lnTo>
                      <a:pt x="1400" y="182"/>
                    </a:lnTo>
                    <a:lnTo>
                      <a:pt x="1296" y="225"/>
                    </a:lnTo>
                    <a:lnTo>
                      <a:pt x="1201" y="277"/>
                    </a:lnTo>
                    <a:lnTo>
                      <a:pt x="1106" y="328"/>
                    </a:lnTo>
                    <a:lnTo>
                      <a:pt x="1011" y="389"/>
                    </a:lnTo>
                    <a:lnTo>
                      <a:pt x="916" y="449"/>
                    </a:lnTo>
                    <a:lnTo>
                      <a:pt x="830" y="518"/>
                    </a:lnTo>
                    <a:lnTo>
                      <a:pt x="752" y="596"/>
                    </a:lnTo>
                    <a:lnTo>
                      <a:pt x="674" y="665"/>
                    </a:lnTo>
                    <a:lnTo>
                      <a:pt x="596" y="752"/>
                    </a:lnTo>
                    <a:lnTo>
                      <a:pt x="519" y="829"/>
                    </a:lnTo>
                    <a:lnTo>
                      <a:pt x="458" y="916"/>
                    </a:lnTo>
                    <a:lnTo>
                      <a:pt x="389" y="1011"/>
                    </a:lnTo>
                    <a:lnTo>
                      <a:pt x="329" y="1106"/>
                    </a:lnTo>
                    <a:lnTo>
                      <a:pt x="277" y="1201"/>
                    </a:lnTo>
                    <a:lnTo>
                      <a:pt x="225" y="1296"/>
                    </a:lnTo>
                    <a:lnTo>
                      <a:pt x="182" y="1399"/>
                    </a:lnTo>
                    <a:lnTo>
                      <a:pt x="139" y="1503"/>
                    </a:lnTo>
                    <a:lnTo>
                      <a:pt x="104" y="1606"/>
                    </a:lnTo>
                    <a:lnTo>
                      <a:pt x="70" y="1719"/>
                    </a:lnTo>
                    <a:lnTo>
                      <a:pt x="44" y="1831"/>
                    </a:lnTo>
                    <a:lnTo>
                      <a:pt x="26" y="1943"/>
                    </a:lnTo>
                    <a:lnTo>
                      <a:pt x="9" y="2056"/>
                    </a:lnTo>
                    <a:lnTo>
                      <a:pt x="1" y="2168"/>
                    </a:lnTo>
                    <a:lnTo>
                      <a:pt x="1" y="2289"/>
                    </a:lnTo>
                    <a:lnTo>
                      <a:pt x="1" y="2410"/>
                    </a:lnTo>
                    <a:lnTo>
                      <a:pt x="9" y="2522"/>
                    </a:lnTo>
                    <a:lnTo>
                      <a:pt x="26" y="2643"/>
                    </a:lnTo>
                    <a:lnTo>
                      <a:pt x="44" y="2755"/>
                    </a:lnTo>
                    <a:lnTo>
                      <a:pt x="70" y="2859"/>
                    </a:lnTo>
                    <a:lnTo>
                      <a:pt x="104" y="2971"/>
                    </a:lnTo>
                    <a:lnTo>
                      <a:pt x="139" y="3075"/>
                    </a:lnTo>
                    <a:lnTo>
                      <a:pt x="182" y="3178"/>
                    </a:lnTo>
                    <a:lnTo>
                      <a:pt x="225" y="3282"/>
                    </a:lnTo>
                    <a:lnTo>
                      <a:pt x="277" y="3385"/>
                    </a:lnTo>
                    <a:lnTo>
                      <a:pt x="329" y="3480"/>
                    </a:lnTo>
                    <a:lnTo>
                      <a:pt x="389" y="3567"/>
                    </a:lnTo>
                    <a:lnTo>
                      <a:pt x="458" y="3662"/>
                    </a:lnTo>
                    <a:lnTo>
                      <a:pt x="519" y="3748"/>
                    </a:lnTo>
                    <a:lnTo>
                      <a:pt x="596" y="3834"/>
                    </a:lnTo>
                    <a:lnTo>
                      <a:pt x="674" y="3912"/>
                    </a:lnTo>
                    <a:lnTo>
                      <a:pt x="752" y="3990"/>
                    </a:lnTo>
                    <a:lnTo>
                      <a:pt x="830" y="4059"/>
                    </a:lnTo>
                    <a:lnTo>
                      <a:pt x="916" y="4128"/>
                    </a:lnTo>
                    <a:lnTo>
                      <a:pt x="1011" y="4189"/>
                    </a:lnTo>
                    <a:lnTo>
                      <a:pt x="1106" y="4249"/>
                    </a:lnTo>
                    <a:lnTo>
                      <a:pt x="1201" y="4301"/>
                    </a:lnTo>
                    <a:lnTo>
                      <a:pt x="1296" y="4353"/>
                    </a:lnTo>
                    <a:lnTo>
                      <a:pt x="1400" y="4404"/>
                    </a:lnTo>
                    <a:lnTo>
                      <a:pt x="1503" y="4439"/>
                    </a:lnTo>
                    <a:lnTo>
                      <a:pt x="1607" y="4482"/>
                    </a:lnTo>
                    <a:lnTo>
                      <a:pt x="1719" y="4508"/>
                    </a:lnTo>
                    <a:lnTo>
                      <a:pt x="1831" y="4534"/>
                    </a:lnTo>
                    <a:lnTo>
                      <a:pt x="1944" y="4551"/>
                    </a:lnTo>
                    <a:lnTo>
                      <a:pt x="2056" y="4568"/>
                    </a:lnTo>
                    <a:lnTo>
                      <a:pt x="2177" y="4577"/>
                    </a:lnTo>
                    <a:lnTo>
                      <a:pt x="2289" y="4586"/>
                    </a:lnTo>
                    <a:lnTo>
                      <a:pt x="2410" y="4577"/>
                    </a:lnTo>
                    <a:lnTo>
                      <a:pt x="2522" y="4568"/>
                    </a:lnTo>
                    <a:lnTo>
                      <a:pt x="2643" y="4551"/>
                    </a:lnTo>
                    <a:lnTo>
                      <a:pt x="2755" y="4534"/>
                    </a:lnTo>
                    <a:lnTo>
                      <a:pt x="2868" y="4508"/>
                    </a:lnTo>
                    <a:lnTo>
                      <a:pt x="2971" y="4482"/>
                    </a:lnTo>
                    <a:lnTo>
                      <a:pt x="3075" y="4439"/>
                    </a:lnTo>
                    <a:lnTo>
                      <a:pt x="3187" y="4404"/>
                    </a:lnTo>
                    <a:lnTo>
                      <a:pt x="3282" y="4353"/>
                    </a:lnTo>
                    <a:lnTo>
                      <a:pt x="3386" y="4301"/>
                    </a:lnTo>
                    <a:lnTo>
                      <a:pt x="3481" y="4249"/>
                    </a:lnTo>
                    <a:lnTo>
                      <a:pt x="3576" y="4189"/>
                    </a:lnTo>
                    <a:lnTo>
                      <a:pt x="3662" y="4128"/>
                    </a:lnTo>
                    <a:lnTo>
                      <a:pt x="3748" y="4059"/>
                    </a:lnTo>
                    <a:lnTo>
                      <a:pt x="3835" y="3990"/>
                    </a:lnTo>
                    <a:lnTo>
                      <a:pt x="3912" y="3912"/>
                    </a:lnTo>
                    <a:lnTo>
                      <a:pt x="3990" y="3834"/>
                    </a:lnTo>
                    <a:lnTo>
                      <a:pt x="4059" y="3748"/>
                    </a:lnTo>
                    <a:lnTo>
                      <a:pt x="4128" y="3662"/>
                    </a:lnTo>
                    <a:lnTo>
                      <a:pt x="4189" y="3567"/>
                    </a:lnTo>
                    <a:lnTo>
                      <a:pt x="4249" y="3480"/>
                    </a:lnTo>
                    <a:lnTo>
                      <a:pt x="4310" y="3385"/>
                    </a:lnTo>
                    <a:lnTo>
                      <a:pt x="4353" y="3282"/>
                    </a:lnTo>
                    <a:lnTo>
                      <a:pt x="4405" y="3178"/>
                    </a:lnTo>
                    <a:lnTo>
                      <a:pt x="4448" y="3075"/>
                    </a:lnTo>
                    <a:lnTo>
                      <a:pt x="4482" y="2971"/>
                    </a:lnTo>
                    <a:lnTo>
                      <a:pt x="4508" y="2859"/>
                    </a:lnTo>
                    <a:lnTo>
                      <a:pt x="4534" y="2755"/>
                    </a:lnTo>
                    <a:lnTo>
                      <a:pt x="4560" y="2643"/>
                    </a:lnTo>
                    <a:lnTo>
                      <a:pt x="4569" y="2522"/>
                    </a:lnTo>
                    <a:lnTo>
                      <a:pt x="4577" y="2410"/>
                    </a:lnTo>
                    <a:lnTo>
                      <a:pt x="4586" y="2289"/>
                    </a:lnTo>
                    <a:lnTo>
                      <a:pt x="4577" y="2168"/>
                    </a:lnTo>
                    <a:lnTo>
                      <a:pt x="4569" y="2056"/>
                    </a:lnTo>
                    <a:lnTo>
                      <a:pt x="4560" y="1943"/>
                    </a:lnTo>
                    <a:lnTo>
                      <a:pt x="4534" y="1831"/>
                    </a:lnTo>
                    <a:lnTo>
                      <a:pt x="4508" y="1719"/>
                    </a:lnTo>
                    <a:lnTo>
                      <a:pt x="4482" y="1606"/>
                    </a:lnTo>
                    <a:lnTo>
                      <a:pt x="4448" y="1503"/>
                    </a:lnTo>
                    <a:lnTo>
                      <a:pt x="4405" y="1399"/>
                    </a:lnTo>
                    <a:lnTo>
                      <a:pt x="4353" y="1296"/>
                    </a:lnTo>
                    <a:lnTo>
                      <a:pt x="4310" y="1201"/>
                    </a:lnTo>
                    <a:lnTo>
                      <a:pt x="4249" y="1106"/>
                    </a:lnTo>
                    <a:lnTo>
                      <a:pt x="4189" y="1011"/>
                    </a:lnTo>
                    <a:lnTo>
                      <a:pt x="4128" y="916"/>
                    </a:lnTo>
                    <a:lnTo>
                      <a:pt x="4059" y="829"/>
                    </a:lnTo>
                    <a:lnTo>
                      <a:pt x="3990" y="752"/>
                    </a:lnTo>
                    <a:lnTo>
                      <a:pt x="3912" y="665"/>
                    </a:lnTo>
                    <a:lnTo>
                      <a:pt x="3835" y="596"/>
                    </a:lnTo>
                    <a:lnTo>
                      <a:pt x="3748" y="518"/>
                    </a:lnTo>
                    <a:lnTo>
                      <a:pt x="3662" y="449"/>
                    </a:lnTo>
                    <a:lnTo>
                      <a:pt x="3576" y="389"/>
                    </a:lnTo>
                    <a:lnTo>
                      <a:pt x="3481" y="328"/>
                    </a:lnTo>
                    <a:lnTo>
                      <a:pt x="3386" y="277"/>
                    </a:lnTo>
                    <a:lnTo>
                      <a:pt x="3282" y="225"/>
                    </a:lnTo>
                    <a:lnTo>
                      <a:pt x="3187" y="182"/>
                    </a:lnTo>
                    <a:lnTo>
                      <a:pt x="3075" y="138"/>
                    </a:lnTo>
                    <a:lnTo>
                      <a:pt x="2971" y="104"/>
                    </a:lnTo>
                    <a:lnTo>
                      <a:pt x="2868" y="69"/>
                    </a:lnTo>
                    <a:lnTo>
                      <a:pt x="2755" y="43"/>
                    </a:lnTo>
                    <a:lnTo>
                      <a:pt x="2643" y="26"/>
                    </a:lnTo>
                    <a:lnTo>
                      <a:pt x="2522" y="9"/>
                    </a:lnTo>
                    <a:lnTo>
                      <a:pt x="2410"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6"/>
              <p:cNvSpPr/>
              <p:nvPr/>
            </p:nvSpPr>
            <p:spPr>
              <a:xfrm>
                <a:off x="2851000" y="2284100"/>
                <a:ext cx="114450" cy="114425"/>
              </a:xfrm>
              <a:custGeom>
                <a:rect b="b" l="l" r="r" t="t"/>
                <a:pathLst>
                  <a:path extrusionOk="0" h="4577" w="4578">
                    <a:moveTo>
                      <a:pt x="2168" y="0"/>
                    </a:moveTo>
                    <a:lnTo>
                      <a:pt x="2056" y="9"/>
                    </a:lnTo>
                    <a:lnTo>
                      <a:pt x="1944" y="26"/>
                    </a:lnTo>
                    <a:lnTo>
                      <a:pt x="1832" y="43"/>
                    </a:lnTo>
                    <a:lnTo>
                      <a:pt x="1719" y="69"/>
                    </a:lnTo>
                    <a:lnTo>
                      <a:pt x="1607" y="104"/>
                    </a:lnTo>
                    <a:lnTo>
                      <a:pt x="1504" y="138"/>
                    </a:lnTo>
                    <a:lnTo>
                      <a:pt x="1400" y="173"/>
                    </a:lnTo>
                    <a:lnTo>
                      <a:pt x="1296" y="225"/>
                    </a:lnTo>
                    <a:lnTo>
                      <a:pt x="1201" y="276"/>
                    </a:lnTo>
                    <a:lnTo>
                      <a:pt x="1098" y="328"/>
                    </a:lnTo>
                    <a:lnTo>
                      <a:pt x="1011" y="389"/>
                    </a:lnTo>
                    <a:lnTo>
                      <a:pt x="916" y="449"/>
                    </a:lnTo>
                    <a:lnTo>
                      <a:pt x="830" y="518"/>
                    </a:lnTo>
                    <a:lnTo>
                      <a:pt x="752" y="596"/>
                    </a:lnTo>
                    <a:lnTo>
                      <a:pt x="666" y="665"/>
                    </a:lnTo>
                    <a:lnTo>
                      <a:pt x="597" y="751"/>
                    </a:lnTo>
                    <a:lnTo>
                      <a:pt x="519" y="829"/>
                    </a:lnTo>
                    <a:lnTo>
                      <a:pt x="450" y="915"/>
                    </a:lnTo>
                    <a:lnTo>
                      <a:pt x="390" y="1010"/>
                    </a:lnTo>
                    <a:lnTo>
                      <a:pt x="329" y="1097"/>
                    </a:lnTo>
                    <a:lnTo>
                      <a:pt x="277" y="1200"/>
                    </a:lnTo>
                    <a:lnTo>
                      <a:pt x="225" y="1295"/>
                    </a:lnTo>
                    <a:lnTo>
                      <a:pt x="182" y="1399"/>
                    </a:lnTo>
                    <a:lnTo>
                      <a:pt x="139" y="1503"/>
                    </a:lnTo>
                    <a:lnTo>
                      <a:pt x="105" y="1606"/>
                    </a:lnTo>
                    <a:lnTo>
                      <a:pt x="70" y="1718"/>
                    </a:lnTo>
                    <a:lnTo>
                      <a:pt x="44" y="1831"/>
                    </a:lnTo>
                    <a:lnTo>
                      <a:pt x="27" y="1943"/>
                    </a:lnTo>
                    <a:lnTo>
                      <a:pt x="10" y="2055"/>
                    </a:lnTo>
                    <a:lnTo>
                      <a:pt x="1" y="2168"/>
                    </a:lnTo>
                    <a:lnTo>
                      <a:pt x="1" y="2288"/>
                    </a:lnTo>
                    <a:lnTo>
                      <a:pt x="1" y="2409"/>
                    </a:lnTo>
                    <a:lnTo>
                      <a:pt x="10" y="2522"/>
                    </a:lnTo>
                    <a:lnTo>
                      <a:pt x="27" y="2634"/>
                    </a:lnTo>
                    <a:lnTo>
                      <a:pt x="44" y="2755"/>
                    </a:lnTo>
                    <a:lnTo>
                      <a:pt x="70" y="2858"/>
                    </a:lnTo>
                    <a:lnTo>
                      <a:pt x="105" y="2971"/>
                    </a:lnTo>
                    <a:lnTo>
                      <a:pt x="139" y="3074"/>
                    </a:lnTo>
                    <a:lnTo>
                      <a:pt x="182" y="3178"/>
                    </a:lnTo>
                    <a:lnTo>
                      <a:pt x="225" y="3282"/>
                    </a:lnTo>
                    <a:lnTo>
                      <a:pt x="277" y="3385"/>
                    </a:lnTo>
                    <a:lnTo>
                      <a:pt x="329" y="3480"/>
                    </a:lnTo>
                    <a:lnTo>
                      <a:pt x="390" y="3566"/>
                    </a:lnTo>
                    <a:lnTo>
                      <a:pt x="450" y="3661"/>
                    </a:lnTo>
                    <a:lnTo>
                      <a:pt x="519" y="3748"/>
                    </a:lnTo>
                    <a:lnTo>
                      <a:pt x="597" y="3826"/>
                    </a:lnTo>
                    <a:lnTo>
                      <a:pt x="666" y="3912"/>
                    </a:lnTo>
                    <a:lnTo>
                      <a:pt x="752" y="3981"/>
                    </a:lnTo>
                    <a:lnTo>
                      <a:pt x="830" y="4059"/>
                    </a:lnTo>
                    <a:lnTo>
                      <a:pt x="916" y="4128"/>
                    </a:lnTo>
                    <a:lnTo>
                      <a:pt x="1011" y="4188"/>
                    </a:lnTo>
                    <a:lnTo>
                      <a:pt x="1098" y="4249"/>
                    </a:lnTo>
                    <a:lnTo>
                      <a:pt x="1201" y="4301"/>
                    </a:lnTo>
                    <a:lnTo>
                      <a:pt x="1296" y="4352"/>
                    </a:lnTo>
                    <a:lnTo>
                      <a:pt x="1400" y="4404"/>
                    </a:lnTo>
                    <a:lnTo>
                      <a:pt x="1504" y="4439"/>
                    </a:lnTo>
                    <a:lnTo>
                      <a:pt x="1607" y="4473"/>
                    </a:lnTo>
                    <a:lnTo>
                      <a:pt x="1719" y="4508"/>
                    </a:lnTo>
                    <a:lnTo>
                      <a:pt x="1832" y="4534"/>
                    </a:lnTo>
                    <a:lnTo>
                      <a:pt x="1944" y="4551"/>
                    </a:lnTo>
                    <a:lnTo>
                      <a:pt x="2056" y="4568"/>
                    </a:lnTo>
                    <a:lnTo>
                      <a:pt x="2168" y="4577"/>
                    </a:lnTo>
                    <a:lnTo>
                      <a:pt x="2410" y="4577"/>
                    </a:lnTo>
                    <a:lnTo>
                      <a:pt x="2523" y="4568"/>
                    </a:lnTo>
                    <a:lnTo>
                      <a:pt x="2643" y="4551"/>
                    </a:lnTo>
                    <a:lnTo>
                      <a:pt x="2756" y="4534"/>
                    </a:lnTo>
                    <a:lnTo>
                      <a:pt x="2859" y="4508"/>
                    </a:lnTo>
                    <a:lnTo>
                      <a:pt x="2972" y="4473"/>
                    </a:lnTo>
                    <a:lnTo>
                      <a:pt x="3075" y="4439"/>
                    </a:lnTo>
                    <a:lnTo>
                      <a:pt x="3179" y="4404"/>
                    </a:lnTo>
                    <a:lnTo>
                      <a:pt x="3282" y="4352"/>
                    </a:lnTo>
                    <a:lnTo>
                      <a:pt x="3386" y="4301"/>
                    </a:lnTo>
                    <a:lnTo>
                      <a:pt x="3481" y="4249"/>
                    </a:lnTo>
                    <a:lnTo>
                      <a:pt x="3567" y="4188"/>
                    </a:lnTo>
                    <a:lnTo>
                      <a:pt x="3662" y="4128"/>
                    </a:lnTo>
                    <a:lnTo>
                      <a:pt x="3749" y="4059"/>
                    </a:lnTo>
                    <a:lnTo>
                      <a:pt x="3835" y="3981"/>
                    </a:lnTo>
                    <a:lnTo>
                      <a:pt x="3913" y="3912"/>
                    </a:lnTo>
                    <a:lnTo>
                      <a:pt x="3991" y="3826"/>
                    </a:lnTo>
                    <a:lnTo>
                      <a:pt x="4060" y="3748"/>
                    </a:lnTo>
                    <a:lnTo>
                      <a:pt x="4129" y="3661"/>
                    </a:lnTo>
                    <a:lnTo>
                      <a:pt x="4189" y="3566"/>
                    </a:lnTo>
                    <a:lnTo>
                      <a:pt x="4250" y="3480"/>
                    </a:lnTo>
                    <a:lnTo>
                      <a:pt x="4301" y="3385"/>
                    </a:lnTo>
                    <a:lnTo>
                      <a:pt x="4353" y="3282"/>
                    </a:lnTo>
                    <a:lnTo>
                      <a:pt x="4405" y="3178"/>
                    </a:lnTo>
                    <a:lnTo>
                      <a:pt x="4440" y="3074"/>
                    </a:lnTo>
                    <a:lnTo>
                      <a:pt x="4483" y="2971"/>
                    </a:lnTo>
                    <a:lnTo>
                      <a:pt x="4509" y="2858"/>
                    </a:lnTo>
                    <a:lnTo>
                      <a:pt x="4535" y="2755"/>
                    </a:lnTo>
                    <a:lnTo>
                      <a:pt x="4552" y="2634"/>
                    </a:lnTo>
                    <a:lnTo>
                      <a:pt x="4569" y="2522"/>
                    </a:lnTo>
                    <a:lnTo>
                      <a:pt x="4578" y="2409"/>
                    </a:lnTo>
                    <a:lnTo>
                      <a:pt x="4578" y="2288"/>
                    </a:lnTo>
                    <a:lnTo>
                      <a:pt x="4578" y="2168"/>
                    </a:lnTo>
                    <a:lnTo>
                      <a:pt x="4569" y="2055"/>
                    </a:lnTo>
                    <a:lnTo>
                      <a:pt x="4552" y="1943"/>
                    </a:lnTo>
                    <a:lnTo>
                      <a:pt x="4535" y="1831"/>
                    </a:lnTo>
                    <a:lnTo>
                      <a:pt x="4509" y="1718"/>
                    </a:lnTo>
                    <a:lnTo>
                      <a:pt x="4483" y="1606"/>
                    </a:lnTo>
                    <a:lnTo>
                      <a:pt x="4440" y="1503"/>
                    </a:lnTo>
                    <a:lnTo>
                      <a:pt x="4405" y="1399"/>
                    </a:lnTo>
                    <a:lnTo>
                      <a:pt x="4353" y="1295"/>
                    </a:lnTo>
                    <a:lnTo>
                      <a:pt x="4301" y="1200"/>
                    </a:lnTo>
                    <a:lnTo>
                      <a:pt x="4250" y="1097"/>
                    </a:lnTo>
                    <a:lnTo>
                      <a:pt x="4189" y="1010"/>
                    </a:lnTo>
                    <a:lnTo>
                      <a:pt x="4129" y="915"/>
                    </a:lnTo>
                    <a:lnTo>
                      <a:pt x="4060" y="829"/>
                    </a:lnTo>
                    <a:lnTo>
                      <a:pt x="3991" y="751"/>
                    </a:lnTo>
                    <a:lnTo>
                      <a:pt x="3913" y="665"/>
                    </a:lnTo>
                    <a:lnTo>
                      <a:pt x="3835" y="596"/>
                    </a:lnTo>
                    <a:lnTo>
                      <a:pt x="3749" y="518"/>
                    </a:lnTo>
                    <a:lnTo>
                      <a:pt x="3662" y="449"/>
                    </a:lnTo>
                    <a:lnTo>
                      <a:pt x="3567" y="389"/>
                    </a:lnTo>
                    <a:lnTo>
                      <a:pt x="3481" y="328"/>
                    </a:lnTo>
                    <a:lnTo>
                      <a:pt x="3386" y="276"/>
                    </a:lnTo>
                    <a:lnTo>
                      <a:pt x="3282" y="225"/>
                    </a:lnTo>
                    <a:lnTo>
                      <a:pt x="3179" y="173"/>
                    </a:lnTo>
                    <a:lnTo>
                      <a:pt x="3075" y="138"/>
                    </a:lnTo>
                    <a:lnTo>
                      <a:pt x="2972" y="104"/>
                    </a:lnTo>
                    <a:lnTo>
                      <a:pt x="2859" y="69"/>
                    </a:lnTo>
                    <a:lnTo>
                      <a:pt x="2756" y="43"/>
                    </a:lnTo>
                    <a:lnTo>
                      <a:pt x="2643" y="26"/>
                    </a:lnTo>
                    <a:lnTo>
                      <a:pt x="2523" y="9"/>
                    </a:lnTo>
                    <a:lnTo>
                      <a:pt x="2410" y="0"/>
                    </a:lnTo>
                    <a:close/>
                  </a:path>
                </a:pathLst>
              </a:custGeom>
              <a:solidFill>
                <a:srgbClr val="8888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56"/>
              <p:cNvSpPr/>
              <p:nvPr/>
            </p:nvSpPr>
            <p:spPr>
              <a:xfrm>
                <a:off x="2329000" y="2284100"/>
                <a:ext cx="114650" cy="114425"/>
              </a:xfrm>
              <a:custGeom>
                <a:rect b="b" l="l" r="r" t="t"/>
                <a:pathLst>
                  <a:path extrusionOk="0" h="4577" w="4586">
                    <a:moveTo>
                      <a:pt x="2176" y="0"/>
                    </a:moveTo>
                    <a:lnTo>
                      <a:pt x="2055" y="9"/>
                    </a:lnTo>
                    <a:lnTo>
                      <a:pt x="1943" y="26"/>
                    </a:lnTo>
                    <a:lnTo>
                      <a:pt x="1831" y="43"/>
                    </a:lnTo>
                    <a:lnTo>
                      <a:pt x="1719" y="69"/>
                    </a:lnTo>
                    <a:lnTo>
                      <a:pt x="1606" y="104"/>
                    </a:lnTo>
                    <a:lnTo>
                      <a:pt x="1503" y="138"/>
                    </a:lnTo>
                    <a:lnTo>
                      <a:pt x="1399" y="173"/>
                    </a:lnTo>
                    <a:lnTo>
                      <a:pt x="1296" y="225"/>
                    </a:lnTo>
                    <a:lnTo>
                      <a:pt x="1201" y="276"/>
                    </a:lnTo>
                    <a:lnTo>
                      <a:pt x="1106" y="328"/>
                    </a:lnTo>
                    <a:lnTo>
                      <a:pt x="1011" y="389"/>
                    </a:lnTo>
                    <a:lnTo>
                      <a:pt x="924" y="449"/>
                    </a:lnTo>
                    <a:lnTo>
                      <a:pt x="838" y="518"/>
                    </a:lnTo>
                    <a:lnTo>
                      <a:pt x="752" y="596"/>
                    </a:lnTo>
                    <a:lnTo>
                      <a:pt x="674" y="665"/>
                    </a:lnTo>
                    <a:lnTo>
                      <a:pt x="596" y="751"/>
                    </a:lnTo>
                    <a:lnTo>
                      <a:pt x="527" y="829"/>
                    </a:lnTo>
                    <a:lnTo>
                      <a:pt x="458" y="915"/>
                    </a:lnTo>
                    <a:lnTo>
                      <a:pt x="389" y="1010"/>
                    </a:lnTo>
                    <a:lnTo>
                      <a:pt x="328" y="1097"/>
                    </a:lnTo>
                    <a:lnTo>
                      <a:pt x="277" y="1200"/>
                    </a:lnTo>
                    <a:lnTo>
                      <a:pt x="225" y="1295"/>
                    </a:lnTo>
                    <a:lnTo>
                      <a:pt x="182" y="1399"/>
                    </a:lnTo>
                    <a:lnTo>
                      <a:pt x="138" y="1503"/>
                    </a:lnTo>
                    <a:lnTo>
                      <a:pt x="104" y="1606"/>
                    </a:lnTo>
                    <a:lnTo>
                      <a:pt x="69" y="1718"/>
                    </a:lnTo>
                    <a:lnTo>
                      <a:pt x="43" y="1831"/>
                    </a:lnTo>
                    <a:lnTo>
                      <a:pt x="26" y="1943"/>
                    </a:lnTo>
                    <a:lnTo>
                      <a:pt x="9" y="2055"/>
                    </a:lnTo>
                    <a:lnTo>
                      <a:pt x="0" y="2168"/>
                    </a:lnTo>
                    <a:lnTo>
                      <a:pt x="0" y="2288"/>
                    </a:lnTo>
                    <a:lnTo>
                      <a:pt x="0" y="2409"/>
                    </a:lnTo>
                    <a:lnTo>
                      <a:pt x="9" y="2522"/>
                    </a:lnTo>
                    <a:lnTo>
                      <a:pt x="26" y="2634"/>
                    </a:lnTo>
                    <a:lnTo>
                      <a:pt x="43" y="2755"/>
                    </a:lnTo>
                    <a:lnTo>
                      <a:pt x="69" y="2858"/>
                    </a:lnTo>
                    <a:lnTo>
                      <a:pt x="104" y="2971"/>
                    </a:lnTo>
                    <a:lnTo>
                      <a:pt x="138" y="3074"/>
                    </a:lnTo>
                    <a:lnTo>
                      <a:pt x="182" y="3178"/>
                    </a:lnTo>
                    <a:lnTo>
                      <a:pt x="225" y="3282"/>
                    </a:lnTo>
                    <a:lnTo>
                      <a:pt x="277" y="3385"/>
                    </a:lnTo>
                    <a:lnTo>
                      <a:pt x="328" y="3480"/>
                    </a:lnTo>
                    <a:lnTo>
                      <a:pt x="389" y="3566"/>
                    </a:lnTo>
                    <a:lnTo>
                      <a:pt x="458" y="3661"/>
                    </a:lnTo>
                    <a:lnTo>
                      <a:pt x="527" y="3748"/>
                    </a:lnTo>
                    <a:lnTo>
                      <a:pt x="596" y="3826"/>
                    </a:lnTo>
                    <a:lnTo>
                      <a:pt x="674" y="3912"/>
                    </a:lnTo>
                    <a:lnTo>
                      <a:pt x="752" y="3981"/>
                    </a:lnTo>
                    <a:lnTo>
                      <a:pt x="838" y="4059"/>
                    </a:lnTo>
                    <a:lnTo>
                      <a:pt x="924" y="4128"/>
                    </a:lnTo>
                    <a:lnTo>
                      <a:pt x="1011" y="4188"/>
                    </a:lnTo>
                    <a:lnTo>
                      <a:pt x="1106" y="4249"/>
                    </a:lnTo>
                    <a:lnTo>
                      <a:pt x="1201" y="4301"/>
                    </a:lnTo>
                    <a:lnTo>
                      <a:pt x="1296" y="4352"/>
                    </a:lnTo>
                    <a:lnTo>
                      <a:pt x="1399" y="4404"/>
                    </a:lnTo>
                    <a:lnTo>
                      <a:pt x="1503" y="4439"/>
                    </a:lnTo>
                    <a:lnTo>
                      <a:pt x="1606" y="4473"/>
                    </a:lnTo>
                    <a:lnTo>
                      <a:pt x="1719" y="4508"/>
                    </a:lnTo>
                    <a:lnTo>
                      <a:pt x="1831" y="4534"/>
                    </a:lnTo>
                    <a:lnTo>
                      <a:pt x="1943" y="4551"/>
                    </a:lnTo>
                    <a:lnTo>
                      <a:pt x="2055" y="4568"/>
                    </a:lnTo>
                    <a:lnTo>
                      <a:pt x="2176" y="4577"/>
                    </a:lnTo>
                    <a:lnTo>
                      <a:pt x="2410" y="4577"/>
                    </a:lnTo>
                    <a:lnTo>
                      <a:pt x="2522" y="4568"/>
                    </a:lnTo>
                    <a:lnTo>
                      <a:pt x="2643" y="4551"/>
                    </a:lnTo>
                    <a:lnTo>
                      <a:pt x="2755" y="4534"/>
                    </a:lnTo>
                    <a:lnTo>
                      <a:pt x="2867" y="4508"/>
                    </a:lnTo>
                    <a:lnTo>
                      <a:pt x="2971" y="4473"/>
                    </a:lnTo>
                    <a:lnTo>
                      <a:pt x="3083" y="4439"/>
                    </a:lnTo>
                    <a:lnTo>
                      <a:pt x="3187" y="4404"/>
                    </a:lnTo>
                    <a:lnTo>
                      <a:pt x="3282" y="4352"/>
                    </a:lnTo>
                    <a:lnTo>
                      <a:pt x="3385" y="4301"/>
                    </a:lnTo>
                    <a:lnTo>
                      <a:pt x="3480" y="4249"/>
                    </a:lnTo>
                    <a:lnTo>
                      <a:pt x="3575" y="4188"/>
                    </a:lnTo>
                    <a:lnTo>
                      <a:pt x="3662" y="4128"/>
                    </a:lnTo>
                    <a:lnTo>
                      <a:pt x="3748" y="4059"/>
                    </a:lnTo>
                    <a:lnTo>
                      <a:pt x="3834" y="3981"/>
                    </a:lnTo>
                    <a:lnTo>
                      <a:pt x="3912" y="3912"/>
                    </a:lnTo>
                    <a:lnTo>
                      <a:pt x="3990" y="3826"/>
                    </a:lnTo>
                    <a:lnTo>
                      <a:pt x="4059" y="3748"/>
                    </a:lnTo>
                    <a:lnTo>
                      <a:pt x="4128" y="3661"/>
                    </a:lnTo>
                    <a:lnTo>
                      <a:pt x="4188" y="3566"/>
                    </a:lnTo>
                    <a:lnTo>
                      <a:pt x="4249" y="3480"/>
                    </a:lnTo>
                    <a:lnTo>
                      <a:pt x="4309" y="3385"/>
                    </a:lnTo>
                    <a:lnTo>
                      <a:pt x="4361" y="3282"/>
                    </a:lnTo>
                    <a:lnTo>
                      <a:pt x="4404" y="3178"/>
                    </a:lnTo>
                    <a:lnTo>
                      <a:pt x="4448" y="3074"/>
                    </a:lnTo>
                    <a:lnTo>
                      <a:pt x="4482" y="2971"/>
                    </a:lnTo>
                    <a:lnTo>
                      <a:pt x="4508" y="2858"/>
                    </a:lnTo>
                    <a:lnTo>
                      <a:pt x="4534" y="2755"/>
                    </a:lnTo>
                    <a:lnTo>
                      <a:pt x="4560" y="2634"/>
                    </a:lnTo>
                    <a:lnTo>
                      <a:pt x="4568" y="2522"/>
                    </a:lnTo>
                    <a:lnTo>
                      <a:pt x="4577" y="2409"/>
                    </a:lnTo>
                    <a:lnTo>
                      <a:pt x="4586" y="2288"/>
                    </a:lnTo>
                    <a:lnTo>
                      <a:pt x="4577" y="2168"/>
                    </a:lnTo>
                    <a:lnTo>
                      <a:pt x="4568" y="2055"/>
                    </a:lnTo>
                    <a:lnTo>
                      <a:pt x="4560" y="1943"/>
                    </a:lnTo>
                    <a:lnTo>
                      <a:pt x="4534" y="1831"/>
                    </a:lnTo>
                    <a:lnTo>
                      <a:pt x="4508" y="1718"/>
                    </a:lnTo>
                    <a:lnTo>
                      <a:pt x="4482" y="1606"/>
                    </a:lnTo>
                    <a:lnTo>
                      <a:pt x="4448" y="1503"/>
                    </a:lnTo>
                    <a:lnTo>
                      <a:pt x="4404" y="1399"/>
                    </a:lnTo>
                    <a:lnTo>
                      <a:pt x="4361" y="1295"/>
                    </a:lnTo>
                    <a:lnTo>
                      <a:pt x="4309" y="1200"/>
                    </a:lnTo>
                    <a:lnTo>
                      <a:pt x="4249" y="1097"/>
                    </a:lnTo>
                    <a:lnTo>
                      <a:pt x="4188" y="1010"/>
                    </a:lnTo>
                    <a:lnTo>
                      <a:pt x="4128" y="915"/>
                    </a:lnTo>
                    <a:lnTo>
                      <a:pt x="4059" y="829"/>
                    </a:lnTo>
                    <a:lnTo>
                      <a:pt x="3990" y="751"/>
                    </a:lnTo>
                    <a:lnTo>
                      <a:pt x="3912" y="665"/>
                    </a:lnTo>
                    <a:lnTo>
                      <a:pt x="3834" y="596"/>
                    </a:lnTo>
                    <a:lnTo>
                      <a:pt x="3748" y="518"/>
                    </a:lnTo>
                    <a:lnTo>
                      <a:pt x="3662" y="449"/>
                    </a:lnTo>
                    <a:lnTo>
                      <a:pt x="3575" y="389"/>
                    </a:lnTo>
                    <a:lnTo>
                      <a:pt x="3480" y="328"/>
                    </a:lnTo>
                    <a:lnTo>
                      <a:pt x="3385" y="276"/>
                    </a:lnTo>
                    <a:lnTo>
                      <a:pt x="3282" y="225"/>
                    </a:lnTo>
                    <a:lnTo>
                      <a:pt x="3187" y="173"/>
                    </a:lnTo>
                    <a:lnTo>
                      <a:pt x="3083" y="138"/>
                    </a:lnTo>
                    <a:lnTo>
                      <a:pt x="2971" y="104"/>
                    </a:lnTo>
                    <a:lnTo>
                      <a:pt x="2867" y="69"/>
                    </a:lnTo>
                    <a:lnTo>
                      <a:pt x="2755" y="43"/>
                    </a:lnTo>
                    <a:lnTo>
                      <a:pt x="2643" y="26"/>
                    </a:lnTo>
                    <a:lnTo>
                      <a:pt x="2522" y="9"/>
                    </a:lnTo>
                    <a:lnTo>
                      <a:pt x="2410" y="0"/>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6"/>
              <p:cNvSpPr/>
              <p:nvPr/>
            </p:nvSpPr>
            <p:spPr>
              <a:xfrm>
                <a:off x="2047700" y="2645475"/>
                <a:ext cx="114650" cy="114450"/>
              </a:xfrm>
              <a:custGeom>
                <a:rect b="b" l="l" r="r" t="t"/>
                <a:pathLst>
                  <a:path extrusionOk="0" h="4578" w="4586">
                    <a:moveTo>
                      <a:pt x="2176" y="1"/>
                    </a:moveTo>
                    <a:lnTo>
                      <a:pt x="2055" y="10"/>
                    </a:lnTo>
                    <a:lnTo>
                      <a:pt x="1943" y="27"/>
                    </a:lnTo>
                    <a:lnTo>
                      <a:pt x="1831" y="44"/>
                    </a:lnTo>
                    <a:lnTo>
                      <a:pt x="1719" y="70"/>
                    </a:lnTo>
                    <a:lnTo>
                      <a:pt x="1615" y="105"/>
                    </a:lnTo>
                    <a:lnTo>
                      <a:pt x="1503" y="139"/>
                    </a:lnTo>
                    <a:lnTo>
                      <a:pt x="1399" y="182"/>
                    </a:lnTo>
                    <a:lnTo>
                      <a:pt x="1304" y="225"/>
                    </a:lnTo>
                    <a:lnTo>
                      <a:pt x="1200" y="277"/>
                    </a:lnTo>
                    <a:lnTo>
                      <a:pt x="1105" y="329"/>
                    </a:lnTo>
                    <a:lnTo>
                      <a:pt x="1010" y="390"/>
                    </a:lnTo>
                    <a:lnTo>
                      <a:pt x="924" y="450"/>
                    </a:lnTo>
                    <a:lnTo>
                      <a:pt x="838" y="519"/>
                    </a:lnTo>
                    <a:lnTo>
                      <a:pt x="751" y="597"/>
                    </a:lnTo>
                    <a:lnTo>
                      <a:pt x="674" y="666"/>
                    </a:lnTo>
                    <a:lnTo>
                      <a:pt x="596" y="752"/>
                    </a:lnTo>
                    <a:lnTo>
                      <a:pt x="527" y="830"/>
                    </a:lnTo>
                    <a:lnTo>
                      <a:pt x="458" y="916"/>
                    </a:lnTo>
                    <a:lnTo>
                      <a:pt x="389" y="1011"/>
                    </a:lnTo>
                    <a:lnTo>
                      <a:pt x="337" y="1098"/>
                    </a:lnTo>
                    <a:lnTo>
                      <a:pt x="276" y="1201"/>
                    </a:lnTo>
                    <a:lnTo>
                      <a:pt x="225" y="1296"/>
                    </a:lnTo>
                    <a:lnTo>
                      <a:pt x="181" y="1400"/>
                    </a:lnTo>
                    <a:lnTo>
                      <a:pt x="138" y="1503"/>
                    </a:lnTo>
                    <a:lnTo>
                      <a:pt x="104" y="1607"/>
                    </a:lnTo>
                    <a:lnTo>
                      <a:pt x="78" y="1719"/>
                    </a:lnTo>
                    <a:lnTo>
                      <a:pt x="52" y="1832"/>
                    </a:lnTo>
                    <a:lnTo>
                      <a:pt x="26" y="1944"/>
                    </a:lnTo>
                    <a:lnTo>
                      <a:pt x="17" y="2056"/>
                    </a:lnTo>
                    <a:lnTo>
                      <a:pt x="9" y="2168"/>
                    </a:lnTo>
                    <a:lnTo>
                      <a:pt x="0" y="2289"/>
                    </a:lnTo>
                    <a:lnTo>
                      <a:pt x="9" y="2410"/>
                    </a:lnTo>
                    <a:lnTo>
                      <a:pt x="17" y="2522"/>
                    </a:lnTo>
                    <a:lnTo>
                      <a:pt x="26" y="2635"/>
                    </a:lnTo>
                    <a:lnTo>
                      <a:pt x="52" y="2756"/>
                    </a:lnTo>
                    <a:lnTo>
                      <a:pt x="78" y="2859"/>
                    </a:lnTo>
                    <a:lnTo>
                      <a:pt x="104" y="2972"/>
                    </a:lnTo>
                    <a:lnTo>
                      <a:pt x="138" y="3075"/>
                    </a:lnTo>
                    <a:lnTo>
                      <a:pt x="181" y="3179"/>
                    </a:lnTo>
                    <a:lnTo>
                      <a:pt x="225" y="3282"/>
                    </a:lnTo>
                    <a:lnTo>
                      <a:pt x="276" y="3386"/>
                    </a:lnTo>
                    <a:lnTo>
                      <a:pt x="337" y="3481"/>
                    </a:lnTo>
                    <a:lnTo>
                      <a:pt x="389" y="3567"/>
                    </a:lnTo>
                    <a:lnTo>
                      <a:pt x="458" y="3662"/>
                    </a:lnTo>
                    <a:lnTo>
                      <a:pt x="527" y="3749"/>
                    </a:lnTo>
                    <a:lnTo>
                      <a:pt x="596" y="3826"/>
                    </a:lnTo>
                    <a:lnTo>
                      <a:pt x="674" y="3913"/>
                    </a:lnTo>
                    <a:lnTo>
                      <a:pt x="751" y="3982"/>
                    </a:lnTo>
                    <a:lnTo>
                      <a:pt x="838" y="4060"/>
                    </a:lnTo>
                    <a:lnTo>
                      <a:pt x="924" y="4129"/>
                    </a:lnTo>
                    <a:lnTo>
                      <a:pt x="1010" y="4189"/>
                    </a:lnTo>
                    <a:lnTo>
                      <a:pt x="1105" y="4250"/>
                    </a:lnTo>
                    <a:lnTo>
                      <a:pt x="1200" y="4301"/>
                    </a:lnTo>
                    <a:lnTo>
                      <a:pt x="1304" y="4353"/>
                    </a:lnTo>
                    <a:lnTo>
                      <a:pt x="1399" y="4405"/>
                    </a:lnTo>
                    <a:lnTo>
                      <a:pt x="1503" y="4440"/>
                    </a:lnTo>
                    <a:lnTo>
                      <a:pt x="1615" y="4474"/>
                    </a:lnTo>
                    <a:lnTo>
                      <a:pt x="1719" y="4509"/>
                    </a:lnTo>
                    <a:lnTo>
                      <a:pt x="1831" y="4535"/>
                    </a:lnTo>
                    <a:lnTo>
                      <a:pt x="1943" y="4552"/>
                    </a:lnTo>
                    <a:lnTo>
                      <a:pt x="2055" y="4569"/>
                    </a:lnTo>
                    <a:lnTo>
                      <a:pt x="2176" y="4578"/>
                    </a:lnTo>
                    <a:lnTo>
                      <a:pt x="2409" y="4578"/>
                    </a:lnTo>
                    <a:lnTo>
                      <a:pt x="2530" y="4569"/>
                    </a:lnTo>
                    <a:lnTo>
                      <a:pt x="2643" y="4552"/>
                    </a:lnTo>
                    <a:lnTo>
                      <a:pt x="2755" y="4535"/>
                    </a:lnTo>
                    <a:lnTo>
                      <a:pt x="2867" y="4509"/>
                    </a:lnTo>
                    <a:lnTo>
                      <a:pt x="2971" y="4474"/>
                    </a:lnTo>
                    <a:lnTo>
                      <a:pt x="3083" y="4440"/>
                    </a:lnTo>
                    <a:lnTo>
                      <a:pt x="3187" y="4405"/>
                    </a:lnTo>
                    <a:lnTo>
                      <a:pt x="3290" y="4353"/>
                    </a:lnTo>
                    <a:lnTo>
                      <a:pt x="3385" y="4301"/>
                    </a:lnTo>
                    <a:lnTo>
                      <a:pt x="3480" y="4250"/>
                    </a:lnTo>
                    <a:lnTo>
                      <a:pt x="3575" y="4189"/>
                    </a:lnTo>
                    <a:lnTo>
                      <a:pt x="3662" y="4129"/>
                    </a:lnTo>
                    <a:lnTo>
                      <a:pt x="3748" y="4060"/>
                    </a:lnTo>
                    <a:lnTo>
                      <a:pt x="3834" y="3982"/>
                    </a:lnTo>
                    <a:lnTo>
                      <a:pt x="3912" y="3913"/>
                    </a:lnTo>
                    <a:lnTo>
                      <a:pt x="3990" y="3826"/>
                    </a:lnTo>
                    <a:lnTo>
                      <a:pt x="4059" y="3749"/>
                    </a:lnTo>
                    <a:lnTo>
                      <a:pt x="4128" y="3662"/>
                    </a:lnTo>
                    <a:lnTo>
                      <a:pt x="4197" y="3567"/>
                    </a:lnTo>
                    <a:lnTo>
                      <a:pt x="4257" y="3481"/>
                    </a:lnTo>
                    <a:lnTo>
                      <a:pt x="4309" y="3386"/>
                    </a:lnTo>
                    <a:lnTo>
                      <a:pt x="4361" y="3282"/>
                    </a:lnTo>
                    <a:lnTo>
                      <a:pt x="4404" y="3179"/>
                    </a:lnTo>
                    <a:lnTo>
                      <a:pt x="4447" y="3075"/>
                    </a:lnTo>
                    <a:lnTo>
                      <a:pt x="4482" y="2972"/>
                    </a:lnTo>
                    <a:lnTo>
                      <a:pt x="4517" y="2859"/>
                    </a:lnTo>
                    <a:lnTo>
                      <a:pt x="4542" y="2756"/>
                    </a:lnTo>
                    <a:lnTo>
                      <a:pt x="4560" y="2635"/>
                    </a:lnTo>
                    <a:lnTo>
                      <a:pt x="4577" y="2522"/>
                    </a:lnTo>
                    <a:lnTo>
                      <a:pt x="4586" y="2410"/>
                    </a:lnTo>
                    <a:lnTo>
                      <a:pt x="4586" y="2289"/>
                    </a:lnTo>
                    <a:lnTo>
                      <a:pt x="4586" y="2168"/>
                    </a:lnTo>
                    <a:lnTo>
                      <a:pt x="4577" y="2056"/>
                    </a:lnTo>
                    <a:lnTo>
                      <a:pt x="4560" y="1944"/>
                    </a:lnTo>
                    <a:lnTo>
                      <a:pt x="4542" y="1832"/>
                    </a:lnTo>
                    <a:lnTo>
                      <a:pt x="4517" y="1719"/>
                    </a:lnTo>
                    <a:lnTo>
                      <a:pt x="4482" y="1607"/>
                    </a:lnTo>
                    <a:lnTo>
                      <a:pt x="4447" y="1503"/>
                    </a:lnTo>
                    <a:lnTo>
                      <a:pt x="4404" y="1400"/>
                    </a:lnTo>
                    <a:lnTo>
                      <a:pt x="4361" y="1296"/>
                    </a:lnTo>
                    <a:lnTo>
                      <a:pt x="4309" y="1201"/>
                    </a:lnTo>
                    <a:lnTo>
                      <a:pt x="4257" y="1098"/>
                    </a:lnTo>
                    <a:lnTo>
                      <a:pt x="4197" y="1011"/>
                    </a:lnTo>
                    <a:lnTo>
                      <a:pt x="4128" y="916"/>
                    </a:lnTo>
                    <a:lnTo>
                      <a:pt x="4059" y="830"/>
                    </a:lnTo>
                    <a:lnTo>
                      <a:pt x="3990" y="752"/>
                    </a:lnTo>
                    <a:lnTo>
                      <a:pt x="3912" y="666"/>
                    </a:lnTo>
                    <a:lnTo>
                      <a:pt x="3834" y="597"/>
                    </a:lnTo>
                    <a:lnTo>
                      <a:pt x="3748" y="519"/>
                    </a:lnTo>
                    <a:lnTo>
                      <a:pt x="3662" y="450"/>
                    </a:lnTo>
                    <a:lnTo>
                      <a:pt x="3575" y="390"/>
                    </a:lnTo>
                    <a:lnTo>
                      <a:pt x="3480" y="329"/>
                    </a:lnTo>
                    <a:lnTo>
                      <a:pt x="3385" y="277"/>
                    </a:lnTo>
                    <a:lnTo>
                      <a:pt x="3290" y="225"/>
                    </a:lnTo>
                    <a:lnTo>
                      <a:pt x="3187" y="182"/>
                    </a:lnTo>
                    <a:lnTo>
                      <a:pt x="3083" y="139"/>
                    </a:lnTo>
                    <a:lnTo>
                      <a:pt x="2971" y="105"/>
                    </a:lnTo>
                    <a:lnTo>
                      <a:pt x="2867" y="70"/>
                    </a:lnTo>
                    <a:lnTo>
                      <a:pt x="2755" y="44"/>
                    </a:lnTo>
                    <a:lnTo>
                      <a:pt x="2643" y="27"/>
                    </a:lnTo>
                    <a:lnTo>
                      <a:pt x="2530" y="10"/>
                    </a:lnTo>
                    <a:lnTo>
                      <a:pt x="2409" y="1"/>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6"/>
              <p:cNvSpPr/>
              <p:nvPr/>
            </p:nvSpPr>
            <p:spPr>
              <a:xfrm>
                <a:off x="1820575" y="2411675"/>
                <a:ext cx="114650" cy="114450"/>
              </a:xfrm>
              <a:custGeom>
                <a:rect b="b" l="l" r="r" t="t"/>
                <a:pathLst>
                  <a:path extrusionOk="0" h="4578" w="4586">
                    <a:moveTo>
                      <a:pt x="2177" y="1"/>
                    </a:moveTo>
                    <a:lnTo>
                      <a:pt x="2056" y="9"/>
                    </a:lnTo>
                    <a:lnTo>
                      <a:pt x="1944" y="27"/>
                    </a:lnTo>
                    <a:lnTo>
                      <a:pt x="1831" y="44"/>
                    </a:lnTo>
                    <a:lnTo>
                      <a:pt x="1719" y="70"/>
                    </a:lnTo>
                    <a:lnTo>
                      <a:pt x="1607" y="104"/>
                    </a:lnTo>
                    <a:lnTo>
                      <a:pt x="1503" y="139"/>
                    </a:lnTo>
                    <a:lnTo>
                      <a:pt x="1399" y="182"/>
                    </a:lnTo>
                    <a:lnTo>
                      <a:pt x="1296" y="225"/>
                    </a:lnTo>
                    <a:lnTo>
                      <a:pt x="1201" y="277"/>
                    </a:lnTo>
                    <a:lnTo>
                      <a:pt x="1106" y="329"/>
                    </a:lnTo>
                    <a:lnTo>
                      <a:pt x="1011" y="389"/>
                    </a:lnTo>
                    <a:lnTo>
                      <a:pt x="916" y="450"/>
                    </a:lnTo>
                    <a:lnTo>
                      <a:pt x="830" y="519"/>
                    </a:lnTo>
                    <a:lnTo>
                      <a:pt x="752" y="596"/>
                    </a:lnTo>
                    <a:lnTo>
                      <a:pt x="674" y="666"/>
                    </a:lnTo>
                    <a:lnTo>
                      <a:pt x="596" y="752"/>
                    </a:lnTo>
                    <a:lnTo>
                      <a:pt x="519" y="830"/>
                    </a:lnTo>
                    <a:lnTo>
                      <a:pt x="458" y="916"/>
                    </a:lnTo>
                    <a:lnTo>
                      <a:pt x="389" y="1011"/>
                    </a:lnTo>
                    <a:lnTo>
                      <a:pt x="329" y="1097"/>
                    </a:lnTo>
                    <a:lnTo>
                      <a:pt x="277" y="1201"/>
                    </a:lnTo>
                    <a:lnTo>
                      <a:pt x="225" y="1296"/>
                    </a:lnTo>
                    <a:lnTo>
                      <a:pt x="182" y="1400"/>
                    </a:lnTo>
                    <a:lnTo>
                      <a:pt x="139" y="1503"/>
                    </a:lnTo>
                    <a:lnTo>
                      <a:pt x="104" y="1607"/>
                    </a:lnTo>
                    <a:lnTo>
                      <a:pt x="70" y="1719"/>
                    </a:lnTo>
                    <a:lnTo>
                      <a:pt x="44" y="1831"/>
                    </a:lnTo>
                    <a:lnTo>
                      <a:pt x="26" y="1944"/>
                    </a:lnTo>
                    <a:lnTo>
                      <a:pt x="9" y="2056"/>
                    </a:lnTo>
                    <a:lnTo>
                      <a:pt x="1" y="2168"/>
                    </a:lnTo>
                    <a:lnTo>
                      <a:pt x="1" y="2289"/>
                    </a:lnTo>
                    <a:lnTo>
                      <a:pt x="1" y="2410"/>
                    </a:lnTo>
                    <a:lnTo>
                      <a:pt x="9" y="2522"/>
                    </a:lnTo>
                    <a:lnTo>
                      <a:pt x="26" y="2634"/>
                    </a:lnTo>
                    <a:lnTo>
                      <a:pt x="44" y="2755"/>
                    </a:lnTo>
                    <a:lnTo>
                      <a:pt x="70" y="2859"/>
                    </a:lnTo>
                    <a:lnTo>
                      <a:pt x="104" y="2971"/>
                    </a:lnTo>
                    <a:lnTo>
                      <a:pt x="139" y="3075"/>
                    </a:lnTo>
                    <a:lnTo>
                      <a:pt x="182" y="3178"/>
                    </a:lnTo>
                    <a:lnTo>
                      <a:pt x="225" y="3282"/>
                    </a:lnTo>
                    <a:lnTo>
                      <a:pt x="277" y="3386"/>
                    </a:lnTo>
                    <a:lnTo>
                      <a:pt x="329" y="3481"/>
                    </a:lnTo>
                    <a:lnTo>
                      <a:pt x="389" y="3567"/>
                    </a:lnTo>
                    <a:lnTo>
                      <a:pt x="458" y="3662"/>
                    </a:lnTo>
                    <a:lnTo>
                      <a:pt x="519" y="3748"/>
                    </a:lnTo>
                    <a:lnTo>
                      <a:pt x="596" y="3826"/>
                    </a:lnTo>
                    <a:lnTo>
                      <a:pt x="674" y="3913"/>
                    </a:lnTo>
                    <a:lnTo>
                      <a:pt x="752" y="3982"/>
                    </a:lnTo>
                    <a:lnTo>
                      <a:pt x="830" y="4059"/>
                    </a:lnTo>
                    <a:lnTo>
                      <a:pt x="916" y="4128"/>
                    </a:lnTo>
                    <a:lnTo>
                      <a:pt x="1011" y="4189"/>
                    </a:lnTo>
                    <a:lnTo>
                      <a:pt x="1106" y="4249"/>
                    </a:lnTo>
                    <a:lnTo>
                      <a:pt x="1201" y="4301"/>
                    </a:lnTo>
                    <a:lnTo>
                      <a:pt x="1296" y="4353"/>
                    </a:lnTo>
                    <a:lnTo>
                      <a:pt x="1399" y="4405"/>
                    </a:lnTo>
                    <a:lnTo>
                      <a:pt x="1503" y="4439"/>
                    </a:lnTo>
                    <a:lnTo>
                      <a:pt x="1607" y="4474"/>
                    </a:lnTo>
                    <a:lnTo>
                      <a:pt x="1719" y="4508"/>
                    </a:lnTo>
                    <a:lnTo>
                      <a:pt x="1831" y="4534"/>
                    </a:lnTo>
                    <a:lnTo>
                      <a:pt x="1944" y="4552"/>
                    </a:lnTo>
                    <a:lnTo>
                      <a:pt x="2056" y="4569"/>
                    </a:lnTo>
                    <a:lnTo>
                      <a:pt x="2177" y="4577"/>
                    </a:lnTo>
                    <a:lnTo>
                      <a:pt x="2410" y="4577"/>
                    </a:lnTo>
                    <a:lnTo>
                      <a:pt x="2522" y="4569"/>
                    </a:lnTo>
                    <a:lnTo>
                      <a:pt x="2643" y="4552"/>
                    </a:lnTo>
                    <a:lnTo>
                      <a:pt x="2755" y="4534"/>
                    </a:lnTo>
                    <a:lnTo>
                      <a:pt x="2868" y="4508"/>
                    </a:lnTo>
                    <a:lnTo>
                      <a:pt x="2971" y="4474"/>
                    </a:lnTo>
                    <a:lnTo>
                      <a:pt x="3083" y="4439"/>
                    </a:lnTo>
                    <a:lnTo>
                      <a:pt x="3187" y="4405"/>
                    </a:lnTo>
                    <a:lnTo>
                      <a:pt x="3282" y="4353"/>
                    </a:lnTo>
                    <a:lnTo>
                      <a:pt x="3386" y="4301"/>
                    </a:lnTo>
                    <a:lnTo>
                      <a:pt x="3481" y="4249"/>
                    </a:lnTo>
                    <a:lnTo>
                      <a:pt x="3576" y="4189"/>
                    </a:lnTo>
                    <a:lnTo>
                      <a:pt x="3662" y="4128"/>
                    </a:lnTo>
                    <a:lnTo>
                      <a:pt x="3748" y="4059"/>
                    </a:lnTo>
                    <a:lnTo>
                      <a:pt x="3835" y="3982"/>
                    </a:lnTo>
                    <a:lnTo>
                      <a:pt x="3912" y="3913"/>
                    </a:lnTo>
                    <a:lnTo>
                      <a:pt x="3990" y="3826"/>
                    </a:lnTo>
                    <a:lnTo>
                      <a:pt x="4059" y="3748"/>
                    </a:lnTo>
                    <a:lnTo>
                      <a:pt x="4128" y="3662"/>
                    </a:lnTo>
                    <a:lnTo>
                      <a:pt x="4189" y="3567"/>
                    </a:lnTo>
                    <a:lnTo>
                      <a:pt x="4249" y="3481"/>
                    </a:lnTo>
                    <a:lnTo>
                      <a:pt x="4310" y="3386"/>
                    </a:lnTo>
                    <a:lnTo>
                      <a:pt x="4353" y="3282"/>
                    </a:lnTo>
                    <a:lnTo>
                      <a:pt x="4405" y="3178"/>
                    </a:lnTo>
                    <a:lnTo>
                      <a:pt x="4448" y="3075"/>
                    </a:lnTo>
                    <a:lnTo>
                      <a:pt x="4482" y="2971"/>
                    </a:lnTo>
                    <a:lnTo>
                      <a:pt x="4508" y="2859"/>
                    </a:lnTo>
                    <a:lnTo>
                      <a:pt x="4534" y="2755"/>
                    </a:lnTo>
                    <a:lnTo>
                      <a:pt x="4560" y="2634"/>
                    </a:lnTo>
                    <a:lnTo>
                      <a:pt x="4569" y="2522"/>
                    </a:lnTo>
                    <a:lnTo>
                      <a:pt x="4577" y="2410"/>
                    </a:lnTo>
                    <a:lnTo>
                      <a:pt x="4586" y="2289"/>
                    </a:lnTo>
                    <a:lnTo>
                      <a:pt x="4577" y="2168"/>
                    </a:lnTo>
                    <a:lnTo>
                      <a:pt x="4569" y="2056"/>
                    </a:lnTo>
                    <a:lnTo>
                      <a:pt x="4560" y="1944"/>
                    </a:lnTo>
                    <a:lnTo>
                      <a:pt x="4534" y="1831"/>
                    </a:lnTo>
                    <a:lnTo>
                      <a:pt x="4508" y="1719"/>
                    </a:lnTo>
                    <a:lnTo>
                      <a:pt x="4482" y="1607"/>
                    </a:lnTo>
                    <a:lnTo>
                      <a:pt x="4448" y="1503"/>
                    </a:lnTo>
                    <a:lnTo>
                      <a:pt x="4405" y="1400"/>
                    </a:lnTo>
                    <a:lnTo>
                      <a:pt x="4353" y="1296"/>
                    </a:lnTo>
                    <a:lnTo>
                      <a:pt x="4310" y="1201"/>
                    </a:lnTo>
                    <a:lnTo>
                      <a:pt x="4249" y="1097"/>
                    </a:lnTo>
                    <a:lnTo>
                      <a:pt x="4189" y="1011"/>
                    </a:lnTo>
                    <a:lnTo>
                      <a:pt x="4128" y="916"/>
                    </a:lnTo>
                    <a:lnTo>
                      <a:pt x="4059" y="830"/>
                    </a:lnTo>
                    <a:lnTo>
                      <a:pt x="3990" y="752"/>
                    </a:lnTo>
                    <a:lnTo>
                      <a:pt x="3912" y="666"/>
                    </a:lnTo>
                    <a:lnTo>
                      <a:pt x="3835" y="596"/>
                    </a:lnTo>
                    <a:lnTo>
                      <a:pt x="3748" y="519"/>
                    </a:lnTo>
                    <a:lnTo>
                      <a:pt x="3662" y="450"/>
                    </a:lnTo>
                    <a:lnTo>
                      <a:pt x="3576" y="389"/>
                    </a:lnTo>
                    <a:lnTo>
                      <a:pt x="3481" y="329"/>
                    </a:lnTo>
                    <a:lnTo>
                      <a:pt x="3386" y="277"/>
                    </a:lnTo>
                    <a:lnTo>
                      <a:pt x="3282" y="225"/>
                    </a:lnTo>
                    <a:lnTo>
                      <a:pt x="3187" y="182"/>
                    </a:lnTo>
                    <a:lnTo>
                      <a:pt x="3083" y="139"/>
                    </a:lnTo>
                    <a:lnTo>
                      <a:pt x="2971" y="104"/>
                    </a:lnTo>
                    <a:lnTo>
                      <a:pt x="2868" y="70"/>
                    </a:lnTo>
                    <a:lnTo>
                      <a:pt x="2755" y="44"/>
                    </a:lnTo>
                    <a:lnTo>
                      <a:pt x="2643" y="27"/>
                    </a:lnTo>
                    <a:lnTo>
                      <a:pt x="2522" y="9"/>
                    </a:lnTo>
                    <a:lnTo>
                      <a:pt x="2410" y="1"/>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6"/>
              <p:cNvSpPr/>
              <p:nvPr/>
            </p:nvSpPr>
            <p:spPr>
              <a:xfrm>
                <a:off x="1705300" y="2196425"/>
                <a:ext cx="1298150" cy="775300"/>
              </a:xfrm>
              <a:custGeom>
                <a:rect b="b" l="l" r="r" t="t"/>
                <a:pathLst>
                  <a:path extrusionOk="0" h="31012" w="51926">
                    <a:moveTo>
                      <a:pt x="207" y="1"/>
                    </a:moveTo>
                    <a:lnTo>
                      <a:pt x="164" y="10"/>
                    </a:lnTo>
                    <a:lnTo>
                      <a:pt x="121" y="18"/>
                    </a:lnTo>
                    <a:lnTo>
                      <a:pt x="87" y="36"/>
                    </a:lnTo>
                    <a:lnTo>
                      <a:pt x="61" y="61"/>
                    </a:lnTo>
                    <a:lnTo>
                      <a:pt x="35" y="96"/>
                    </a:lnTo>
                    <a:lnTo>
                      <a:pt x="17" y="131"/>
                    </a:lnTo>
                    <a:lnTo>
                      <a:pt x="0" y="165"/>
                    </a:lnTo>
                    <a:lnTo>
                      <a:pt x="0" y="208"/>
                    </a:lnTo>
                    <a:lnTo>
                      <a:pt x="0" y="31011"/>
                    </a:lnTo>
                    <a:lnTo>
                      <a:pt x="51762" y="31011"/>
                    </a:lnTo>
                    <a:lnTo>
                      <a:pt x="51796" y="31003"/>
                    </a:lnTo>
                    <a:lnTo>
                      <a:pt x="51831" y="30977"/>
                    </a:lnTo>
                    <a:lnTo>
                      <a:pt x="51865" y="30951"/>
                    </a:lnTo>
                    <a:lnTo>
                      <a:pt x="51891" y="30925"/>
                    </a:lnTo>
                    <a:lnTo>
                      <a:pt x="51908" y="30890"/>
                    </a:lnTo>
                    <a:lnTo>
                      <a:pt x="51917" y="30847"/>
                    </a:lnTo>
                    <a:lnTo>
                      <a:pt x="51926" y="30813"/>
                    </a:lnTo>
                    <a:lnTo>
                      <a:pt x="51917" y="30769"/>
                    </a:lnTo>
                    <a:lnTo>
                      <a:pt x="51908" y="30726"/>
                    </a:lnTo>
                    <a:lnTo>
                      <a:pt x="51891" y="30692"/>
                    </a:lnTo>
                    <a:lnTo>
                      <a:pt x="51865" y="30666"/>
                    </a:lnTo>
                    <a:lnTo>
                      <a:pt x="51831" y="30640"/>
                    </a:lnTo>
                    <a:lnTo>
                      <a:pt x="51796" y="30623"/>
                    </a:lnTo>
                    <a:lnTo>
                      <a:pt x="51762" y="30605"/>
                    </a:lnTo>
                    <a:lnTo>
                      <a:pt x="406" y="30605"/>
                    </a:lnTo>
                    <a:lnTo>
                      <a:pt x="406" y="208"/>
                    </a:lnTo>
                    <a:lnTo>
                      <a:pt x="406" y="165"/>
                    </a:lnTo>
                    <a:lnTo>
                      <a:pt x="389" y="131"/>
                    </a:lnTo>
                    <a:lnTo>
                      <a:pt x="371" y="96"/>
                    </a:lnTo>
                    <a:lnTo>
                      <a:pt x="346" y="61"/>
                    </a:lnTo>
                    <a:lnTo>
                      <a:pt x="320" y="36"/>
                    </a:lnTo>
                    <a:lnTo>
                      <a:pt x="285" y="18"/>
                    </a:lnTo>
                    <a:lnTo>
                      <a:pt x="242" y="10"/>
                    </a:lnTo>
                    <a:lnTo>
                      <a:pt x="207"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6"/>
              <p:cNvSpPr/>
              <p:nvPr/>
            </p:nvSpPr>
            <p:spPr>
              <a:xfrm>
                <a:off x="1969550" y="4151750"/>
                <a:ext cx="884500" cy="884500"/>
              </a:xfrm>
              <a:custGeom>
                <a:rect b="b" l="l" r="r" t="t"/>
                <a:pathLst>
                  <a:path extrusionOk="0" h="35380" w="35380">
                    <a:moveTo>
                      <a:pt x="17694" y="0"/>
                    </a:moveTo>
                    <a:lnTo>
                      <a:pt x="17237" y="9"/>
                    </a:lnTo>
                    <a:lnTo>
                      <a:pt x="16779" y="26"/>
                    </a:lnTo>
                    <a:lnTo>
                      <a:pt x="16330" y="52"/>
                    </a:lnTo>
                    <a:lnTo>
                      <a:pt x="15881" y="86"/>
                    </a:lnTo>
                    <a:lnTo>
                      <a:pt x="15440" y="138"/>
                    </a:lnTo>
                    <a:lnTo>
                      <a:pt x="15000" y="199"/>
                    </a:lnTo>
                    <a:lnTo>
                      <a:pt x="14560" y="276"/>
                    </a:lnTo>
                    <a:lnTo>
                      <a:pt x="14128" y="354"/>
                    </a:lnTo>
                    <a:lnTo>
                      <a:pt x="13696" y="449"/>
                    </a:lnTo>
                    <a:lnTo>
                      <a:pt x="13273" y="553"/>
                    </a:lnTo>
                    <a:lnTo>
                      <a:pt x="12850" y="674"/>
                    </a:lnTo>
                    <a:lnTo>
                      <a:pt x="12427" y="795"/>
                    </a:lnTo>
                    <a:lnTo>
                      <a:pt x="12021" y="924"/>
                    </a:lnTo>
                    <a:lnTo>
                      <a:pt x="11606" y="1071"/>
                    </a:lnTo>
                    <a:lnTo>
                      <a:pt x="11200" y="1226"/>
                    </a:lnTo>
                    <a:lnTo>
                      <a:pt x="10803" y="1390"/>
                    </a:lnTo>
                    <a:lnTo>
                      <a:pt x="10415" y="1563"/>
                    </a:lnTo>
                    <a:lnTo>
                      <a:pt x="10017" y="1744"/>
                    </a:lnTo>
                    <a:lnTo>
                      <a:pt x="9637" y="1934"/>
                    </a:lnTo>
                    <a:lnTo>
                      <a:pt x="9257" y="2133"/>
                    </a:lnTo>
                    <a:lnTo>
                      <a:pt x="8886" y="2340"/>
                    </a:lnTo>
                    <a:lnTo>
                      <a:pt x="8515" y="2556"/>
                    </a:lnTo>
                    <a:lnTo>
                      <a:pt x="8152" y="2789"/>
                    </a:lnTo>
                    <a:lnTo>
                      <a:pt x="7798" y="3023"/>
                    </a:lnTo>
                    <a:lnTo>
                      <a:pt x="7453" y="3264"/>
                    </a:lnTo>
                    <a:lnTo>
                      <a:pt x="7107" y="3515"/>
                    </a:lnTo>
                    <a:lnTo>
                      <a:pt x="6770" y="3774"/>
                    </a:lnTo>
                    <a:lnTo>
                      <a:pt x="6434" y="4041"/>
                    </a:lnTo>
                    <a:lnTo>
                      <a:pt x="6114" y="4309"/>
                    </a:lnTo>
                    <a:lnTo>
                      <a:pt x="5795" y="4594"/>
                    </a:lnTo>
                    <a:lnTo>
                      <a:pt x="5484" y="4888"/>
                    </a:lnTo>
                    <a:lnTo>
                      <a:pt x="5181" y="5181"/>
                    </a:lnTo>
                    <a:lnTo>
                      <a:pt x="4888" y="5484"/>
                    </a:lnTo>
                    <a:lnTo>
                      <a:pt x="4594" y="5795"/>
                    </a:lnTo>
                    <a:lnTo>
                      <a:pt x="4318" y="6114"/>
                    </a:lnTo>
                    <a:lnTo>
                      <a:pt x="4041" y="6434"/>
                    </a:lnTo>
                    <a:lnTo>
                      <a:pt x="3774" y="6770"/>
                    </a:lnTo>
                    <a:lnTo>
                      <a:pt x="3515" y="7107"/>
                    </a:lnTo>
                    <a:lnTo>
                      <a:pt x="3264" y="7453"/>
                    </a:lnTo>
                    <a:lnTo>
                      <a:pt x="3022" y="7798"/>
                    </a:lnTo>
                    <a:lnTo>
                      <a:pt x="2789" y="8152"/>
                    </a:lnTo>
                    <a:lnTo>
                      <a:pt x="2565" y="8515"/>
                    </a:lnTo>
                    <a:lnTo>
                      <a:pt x="2340" y="8886"/>
                    </a:lnTo>
                    <a:lnTo>
                      <a:pt x="2133" y="9257"/>
                    </a:lnTo>
                    <a:lnTo>
                      <a:pt x="1934" y="9637"/>
                    </a:lnTo>
                    <a:lnTo>
                      <a:pt x="1744" y="10017"/>
                    </a:lnTo>
                    <a:lnTo>
                      <a:pt x="1563" y="10406"/>
                    </a:lnTo>
                    <a:lnTo>
                      <a:pt x="1390" y="10803"/>
                    </a:lnTo>
                    <a:lnTo>
                      <a:pt x="1226" y="11200"/>
                    </a:lnTo>
                    <a:lnTo>
                      <a:pt x="1071" y="11606"/>
                    </a:lnTo>
                    <a:lnTo>
                      <a:pt x="933" y="12012"/>
                    </a:lnTo>
                    <a:lnTo>
                      <a:pt x="795" y="12427"/>
                    </a:lnTo>
                    <a:lnTo>
                      <a:pt x="674" y="12850"/>
                    </a:lnTo>
                    <a:lnTo>
                      <a:pt x="553" y="13273"/>
                    </a:lnTo>
                    <a:lnTo>
                      <a:pt x="449" y="13696"/>
                    </a:lnTo>
                    <a:lnTo>
                      <a:pt x="363" y="14128"/>
                    </a:lnTo>
                    <a:lnTo>
                      <a:pt x="276" y="14560"/>
                    </a:lnTo>
                    <a:lnTo>
                      <a:pt x="207" y="15000"/>
                    </a:lnTo>
                    <a:lnTo>
                      <a:pt x="138" y="15440"/>
                    </a:lnTo>
                    <a:lnTo>
                      <a:pt x="95" y="15881"/>
                    </a:lnTo>
                    <a:lnTo>
                      <a:pt x="52" y="16330"/>
                    </a:lnTo>
                    <a:lnTo>
                      <a:pt x="26" y="16779"/>
                    </a:lnTo>
                    <a:lnTo>
                      <a:pt x="9" y="17237"/>
                    </a:lnTo>
                    <a:lnTo>
                      <a:pt x="0" y="17686"/>
                    </a:lnTo>
                    <a:lnTo>
                      <a:pt x="9" y="18143"/>
                    </a:lnTo>
                    <a:lnTo>
                      <a:pt x="26" y="18601"/>
                    </a:lnTo>
                    <a:lnTo>
                      <a:pt x="52" y="19050"/>
                    </a:lnTo>
                    <a:lnTo>
                      <a:pt x="95" y="19499"/>
                    </a:lnTo>
                    <a:lnTo>
                      <a:pt x="138" y="19940"/>
                    </a:lnTo>
                    <a:lnTo>
                      <a:pt x="207" y="20380"/>
                    </a:lnTo>
                    <a:lnTo>
                      <a:pt x="276" y="20820"/>
                    </a:lnTo>
                    <a:lnTo>
                      <a:pt x="363" y="21252"/>
                    </a:lnTo>
                    <a:lnTo>
                      <a:pt x="449" y="21684"/>
                    </a:lnTo>
                    <a:lnTo>
                      <a:pt x="553" y="22107"/>
                    </a:lnTo>
                    <a:lnTo>
                      <a:pt x="674" y="22530"/>
                    </a:lnTo>
                    <a:lnTo>
                      <a:pt x="795" y="22953"/>
                    </a:lnTo>
                    <a:lnTo>
                      <a:pt x="933" y="23368"/>
                    </a:lnTo>
                    <a:lnTo>
                      <a:pt x="1071" y="23774"/>
                    </a:lnTo>
                    <a:lnTo>
                      <a:pt x="1226" y="24180"/>
                    </a:lnTo>
                    <a:lnTo>
                      <a:pt x="1390" y="24577"/>
                    </a:lnTo>
                    <a:lnTo>
                      <a:pt x="1563" y="24974"/>
                    </a:lnTo>
                    <a:lnTo>
                      <a:pt x="1744" y="25363"/>
                    </a:lnTo>
                    <a:lnTo>
                      <a:pt x="1934" y="25743"/>
                    </a:lnTo>
                    <a:lnTo>
                      <a:pt x="2133" y="26123"/>
                    </a:lnTo>
                    <a:lnTo>
                      <a:pt x="2340" y="26494"/>
                    </a:lnTo>
                    <a:lnTo>
                      <a:pt x="2565" y="26865"/>
                    </a:lnTo>
                    <a:lnTo>
                      <a:pt x="2789" y="27228"/>
                    </a:lnTo>
                    <a:lnTo>
                      <a:pt x="3022" y="27582"/>
                    </a:lnTo>
                    <a:lnTo>
                      <a:pt x="3264" y="27927"/>
                    </a:lnTo>
                    <a:lnTo>
                      <a:pt x="3515" y="28273"/>
                    </a:lnTo>
                    <a:lnTo>
                      <a:pt x="3774" y="28610"/>
                    </a:lnTo>
                    <a:lnTo>
                      <a:pt x="4041" y="28946"/>
                    </a:lnTo>
                    <a:lnTo>
                      <a:pt x="4318" y="29266"/>
                    </a:lnTo>
                    <a:lnTo>
                      <a:pt x="4594" y="29585"/>
                    </a:lnTo>
                    <a:lnTo>
                      <a:pt x="4888" y="29896"/>
                    </a:lnTo>
                    <a:lnTo>
                      <a:pt x="5181" y="30199"/>
                    </a:lnTo>
                    <a:lnTo>
                      <a:pt x="5484" y="30492"/>
                    </a:lnTo>
                    <a:lnTo>
                      <a:pt x="5795" y="30786"/>
                    </a:lnTo>
                    <a:lnTo>
                      <a:pt x="6114" y="31071"/>
                    </a:lnTo>
                    <a:lnTo>
                      <a:pt x="6434" y="31338"/>
                    </a:lnTo>
                    <a:lnTo>
                      <a:pt x="6770" y="31606"/>
                    </a:lnTo>
                    <a:lnTo>
                      <a:pt x="7107" y="31865"/>
                    </a:lnTo>
                    <a:lnTo>
                      <a:pt x="7453" y="32116"/>
                    </a:lnTo>
                    <a:lnTo>
                      <a:pt x="7798" y="32357"/>
                    </a:lnTo>
                    <a:lnTo>
                      <a:pt x="8152" y="32591"/>
                    </a:lnTo>
                    <a:lnTo>
                      <a:pt x="8515" y="32824"/>
                    </a:lnTo>
                    <a:lnTo>
                      <a:pt x="8886" y="33040"/>
                    </a:lnTo>
                    <a:lnTo>
                      <a:pt x="9257" y="33247"/>
                    </a:lnTo>
                    <a:lnTo>
                      <a:pt x="9637" y="33446"/>
                    </a:lnTo>
                    <a:lnTo>
                      <a:pt x="10017" y="33635"/>
                    </a:lnTo>
                    <a:lnTo>
                      <a:pt x="10415" y="33817"/>
                    </a:lnTo>
                    <a:lnTo>
                      <a:pt x="10803" y="33990"/>
                    </a:lnTo>
                    <a:lnTo>
                      <a:pt x="11200" y="34154"/>
                    </a:lnTo>
                    <a:lnTo>
                      <a:pt x="11606" y="34309"/>
                    </a:lnTo>
                    <a:lnTo>
                      <a:pt x="12021" y="34447"/>
                    </a:lnTo>
                    <a:lnTo>
                      <a:pt x="12427" y="34585"/>
                    </a:lnTo>
                    <a:lnTo>
                      <a:pt x="12850" y="34706"/>
                    </a:lnTo>
                    <a:lnTo>
                      <a:pt x="13273" y="34827"/>
                    </a:lnTo>
                    <a:lnTo>
                      <a:pt x="13696" y="34931"/>
                    </a:lnTo>
                    <a:lnTo>
                      <a:pt x="14128" y="35026"/>
                    </a:lnTo>
                    <a:lnTo>
                      <a:pt x="14560" y="35104"/>
                    </a:lnTo>
                    <a:lnTo>
                      <a:pt x="15000" y="35181"/>
                    </a:lnTo>
                    <a:lnTo>
                      <a:pt x="15440" y="35242"/>
                    </a:lnTo>
                    <a:lnTo>
                      <a:pt x="15881" y="35294"/>
                    </a:lnTo>
                    <a:lnTo>
                      <a:pt x="16330" y="35328"/>
                    </a:lnTo>
                    <a:lnTo>
                      <a:pt x="16779" y="35354"/>
                    </a:lnTo>
                    <a:lnTo>
                      <a:pt x="17237" y="35371"/>
                    </a:lnTo>
                    <a:lnTo>
                      <a:pt x="17694" y="35380"/>
                    </a:lnTo>
                    <a:lnTo>
                      <a:pt x="18143" y="35371"/>
                    </a:lnTo>
                    <a:lnTo>
                      <a:pt x="18601" y="35354"/>
                    </a:lnTo>
                    <a:lnTo>
                      <a:pt x="19050" y="35328"/>
                    </a:lnTo>
                    <a:lnTo>
                      <a:pt x="19499" y="35294"/>
                    </a:lnTo>
                    <a:lnTo>
                      <a:pt x="19948" y="35242"/>
                    </a:lnTo>
                    <a:lnTo>
                      <a:pt x="20389" y="35181"/>
                    </a:lnTo>
                    <a:lnTo>
                      <a:pt x="20820" y="35104"/>
                    </a:lnTo>
                    <a:lnTo>
                      <a:pt x="21252" y="35026"/>
                    </a:lnTo>
                    <a:lnTo>
                      <a:pt x="21684" y="34931"/>
                    </a:lnTo>
                    <a:lnTo>
                      <a:pt x="22116" y="34827"/>
                    </a:lnTo>
                    <a:lnTo>
                      <a:pt x="22530" y="34706"/>
                    </a:lnTo>
                    <a:lnTo>
                      <a:pt x="22953" y="34585"/>
                    </a:lnTo>
                    <a:lnTo>
                      <a:pt x="23368" y="34447"/>
                    </a:lnTo>
                    <a:lnTo>
                      <a:pt x="23774" y="34309"/>
                    </a:lnTo>
                    <a:lnTo>
                      <a:pt x="24180" y="34154"/>
                    </a:lnTo>
                    <a:lnTo>
                      <a:pt x="24577" y="33990"/>
                    </a:lnTo>
                    <a:lnTo>
                      <a:pt x="24974" y="33817"/>
                    </a:lnTo>
                    <a:lnTo>
                      <a:pt x="25363" y="33635"/>
                    </a:lnTo>
                    <a:lnTo>
                      <a:pt x="25743" y="33446"/>
                    </a:lnTo>
                    <a:lnTo>
                      <a:pt x="26123" y="33247"/>
                    </a:lnTo>
                    <a:lnTo>
                      <a:pt x="26494" y="33040"/>
                    </a:lnTo>
                    <a:lnTo>
                      <a:pt x="26865" y="32824"/>
                    </a:lnTo>
                    <a:lnTo>
                      <a:pt x="27228" y="32591"/>
                    </a:lnTo>
                    <a:lnTo>
                      <a:pt x="27582" y="32357"/>
                    </a:lnTo>
                    <a:lnTo>
                      <a:pt x="27936" y="32116"/>
                    </a:lnTo>
                    <a:lnTo>
                      <a:pt x="28273" y="31865"/>
                    </a:lnTo>
                    <a:lnTo>
                      <a:pt x="28610" y="31606"/>
                    </a:lnTo>
                    <a:lnTo>
                      <a:pt x="28946" y="31338"/>
                    </a:lnTo>
                    <a:lnTo>
                      <a:pt x="29266" y="31071"/>
                    </a:lnTo>
                    <a:lnTo>
                      <a:pt x="29585" y="30786"/>
                    </a:lnTo>
                    <a:lnTo>
                      <a:pt x="29896" y="30492"/>
                    </a:lnTo>
                    <a:lnTo>
                      <a:pt x="30199" y="30199"/>
                    </a:lnTo>
                    <a:lnTo>
                      <a:pt x="30501" y="29896"/>
                    </a:lnTo>
                    <a:lnTo>
                      <a:pt x="30786" y="29585"/>
                    </a:lnTo>
                    <a:lnTo>
                      <a:pt x="31071" y="29266"/>
                    </a:lnTo>
                    <a:lnTo>
                      <a:pt x="31338" y="28946"/>
                    </a:lnTo>
                    <a:lnTo>
                      <a:pt x="31606" y="28610"/>
                    </a:lnTo>
                    <a:lnTo>
                      <a:pt x="31865" y="28273"/>
                    </a:lnTo>
                    <a:lnTo>
                      <a:pt x="32116" y="27927"/>
                    </a:lnTo>
                    <a:lnTo>
                      <a:pt x="32357" y="27582"/>
                    </a:lnTo>
                    <a:lnTo>
                      <a:pt x="32599" y="27228"/>
                    </a:lnTo>
                    <a:lnTo>
                      <a:pt x="32824" y="26865"/>
                    </a:lnTo>
                    <a:lnTo>
                      <a:pt x="33040" y="26494"/>
                    </a:lnTo>
                    <a:lnTo>
                      <a:pt x="33247" y="26123"/>
                    </a:lnTo>
                    <a:lnTo>
                      <a:pt x="33445" y="25743"/>
                    </a:lnTo>
                    <a:lnTo>
                      <a:pt x="33635" y="25363"/>
                    </a:lnTo>
                    <a:lnTo>
                      <a:pt x="33817" y="24974"/>
                    </a:lnTo>
                    <a:lnTo>
                      <a:pt x="33990" y="24577"/>
                    </a:lnTo>
                    <a:lnTo>
                      <a:pt x="34154" y="24180"/>
                    </a:lnTo>
                    <a:lnTo>
                      <a:pt x="34309" y="23774"/>
                    </a:lnTo>
                    <a:lnTo>
                      <a:pt x="34456" y="23368"/>
                    </a:lnTo>
                    <a:lnTo>
                      <a:pt x="34585" y="22953"/>
                    </a:lnTo>
                    <a:lnTo>
                      <a:pt x="34715" y="22530"/>
                    </a:lnTo>
                    <a:lnTo>
                      <a:pt x="34827" y="22107"/>
                    </a:lnTo>
                    <a:lnTo>
                      <a:pt x="34931" y="21684"/>
                    </a:lnTo>
                    <a:lnTo>
                      <a:pt x="35026" y="21252"/>
                    </a:lnTo>
                    <a:lnTo>
                      <a:pt x="35104" y="20820"/>
                    </a:lnTo>
                    <a:lnTo>
                      <a:pt x="35181" y="20380"/>
                    </a:lnTo>
                    <a:lnTo>
                      <a:pt x="35242" y="19940"/>
                    </a:lnTo>
                    <a:lnTo>
                      <a:pt x="35293" y="19499"/>
                    </a:lnTo>
                    <a:lnTo>
                      <a:pt x="35328" y="19050"/>
                    </a:lnTo>
                    <a:lnTo>
                      <a:pt x="35363" y="18601"/>
                    </a:lnTo>
                    <a:lnTo>
                      <a:pt x="35380" y="18143"/>
                    </a:lnTo>
                    <a:lnTo>
                      <a:pt x="35380" y="17686"/>
                    </a:lnTo>
                    <a:lnTo>
                      <a:pt x="35380" y="17237"/>
                    </a:lnTo>
                    <a:lnTo>
                      <a:pt x="35363" y="16779"/>
                    </a:lnTo>
                    <a:lnTo>
                      <a:pt x="35328" y="16330"/>
                    </a:lnTo>
                    <a:lnTo>
                      <a:pt x="35293" y="15881"/>
                    </a:lnTo>
                    <a:lnTo>
                      <a:pt x="35242" y="15440"/>
                    </a:lnTo>
                    <a:lnTo>
                      <a:pt x="35181" y="15000"/>
                    </a:lnTo>
                    <a:lnTo>
                      <a:pt x="35104" y="14560"/>
                    </a:lnTo>
                    <a:lnTo>
                      <a:pt x="35026" y="14128"/>
                    </a:lnTo>
                    <a:lnTo>
                      <a:pt x="34931" y="13696"/>
                    </a:lnTo>
                    <a:lnTo>
                      <a:pt x="34827" y="13273"/>
                    </a:lnTo>
                    <a:lnTo>
                      <a:pt x="34715" y="12850"/>
                    </a:lnTo>
                    <a:lnTo>
                      <a:pt x="34585" y="12427"/>
                    </a:lnTo>
                    <a:lnTo>
                      <a:pt x="34456" y="12012"/>
                    </a:lnTo>
                    <a:lnTo>
                      <a:pt x="34309" y="11606"/>
                    </a:lnTo>
                    <a:lnTo>
                      <a:pt x="34154" y="11200"/>
                    </a:lnTo>
                    <a:lnTo>
                      <a:pt x="33990" y="10803"/>
                    </a:lnTo>
                    <a:lnTo>
                      <a:pt x="33817" y="10406"/>
                    </a:lnTo>
                    <a:lnTo>
                      <a:pt x="33635" y="10017"/>
                    </a:lnTo>
                    <a:lnTo>
                      <a:pt x="33445" y="9637"/>
                    </a:lnTo>
                    <a:lnTo>
                      <a:pt x="33247" y="9257"/>
                    </a:lnTo>
                    <a:lnTo>
                      <a:pt x="33040" y="8886"/>
                    </a:lnTo>
                    <a:lnTo>
                      <a:pt x="32824" y="8515"/>
                    </a:lnTo>
                    <a:lnTo>
                      <a:pt x="32599" y="8152"/>
                    </a:lnTo>
                    <a:lnTo>
                      <a:pt x="32357" y="7798"/>
                    </a:lnTo>
                    <a:lnTo>
                      <a:pt x="32116" y="7453"/>
                    </a:lnTo>
                    <a:lnTo>
                      <a:pt x="31865" y="7107"/>
                    </a:lnTo>
                    <a:lnTo>
                      <a:pt x="31606" y="6770"/>
                    </a:lnTo>
                    <a:lnTo>
                      <a:pt x="31338" y="6434"/>
                    </a:lnTo>
                    <a:lnTo>
                      <a:pt x="31071" y="6114"/>
                    </a:lnTo>
                    <a:lnTo>
                      <a:pt x="30786" y="5795"/>
                    </a:lnTo>
                    <a:lnTo>
                      <a:pt x="30501" y="5484"/>
                    </a:lnTo>
                    <a:lnTo>
                      <a:pt x="30199" y="5181"/>
                    </a:lnTo>
                    <a:lnTo>
                      <a:pt x="29896" y="4888"/>
                    </a:lnTo>
                    <a:lnTo>
                      <a:pt x="29585" y="4594"/>
                    </a:lnTo>
                    <a:lnTo>
                      <a:pt x="29266" y="4309"/>
                    </a:lnTo>
                    <a:lnTo>
                      <a:pt x="28946" y="4041"/>
                    </a:lnTo>
                    <a:lnTo>
                      <a:pt x="28610" y="3774"/>
                    </a:lnTo>
                    <a:lnTo>
                      <a:pt x="28273" y="3515"/>
                    </a:lnTo>
                    <a:lnTo>
                      <a:pt x="27936" y="3264"/>
                    </a:lnTo>
                    <a:lnTo>
                      <a:pt x="27582" y="3023"/>
                    </a:lnTo>
                    <a:lnTo>
                      <a:pt x="27228" y="2789"/>
                    </a:lnTo>
                    <a:lnTo>
                      <a:pt x="26865" y="2556"/>
                    </a:lnTo>
                    <a:lnTo>
                      <a:pt x="26494" y="2340"/>
                    </a:lnTo>
                    <a:lnTo>
                      <a:pt x="26123" y="2133"/>
                    </a:lnTo>
                    <a:lnTo>
                      <a:pt x="25743" y="1934"/>
                    </a:lnTo>
                    <a:lnTo>
                      <a:pt x="25363" y="1744"/>
                    </a:lnTo>
                    <a:lnTo>
                      <a:pt x="24974" y="1563"/>
                    </a:lnTo>
                    <a:lnTo>
                      <a:pt x="24577" y="1390"/>
                    </a:lnTo>
                    <a:lnTo>
                      <a:pt x="24180" y="1226"/>
                    </a:lnTo>
                    <a:lnTo>
                      <a:pt x="23774" y="1071"/>
                    </a:lnTo>
                    <a:lnTo>
                      <a:pt x="23368" y="924"/>
                    </a:lnTo>
                    <a:lnTo>
                      <a:pt x="22953" y="795"/>
                    </a:lnTo>
                    <a:lnTo>
                      <a:pt x="22530" y="674"/>
                    </a:lnTo>
                    <a:lnTo>
                      <a:pt x="22116" y="553"/>
                    </a:lnTo>
                    <a:lnTo>
                      <a:pt x="21684" y="449"/>
                    </a:lnTo>
                    <a:lnTo>
                      <a:pt x="21252" y="354"/>
                    </a:lnTo>
                    <a:lnTo>
                      <a:pt x="20820" y="276"/>
                    </a:lnTo>
                    <a:lnTo>
                      <a:pt x="20389" y="199"/>
                    </a:lnTo>
                    <a:lnTo>
                      <a:pt x="19948" y="138"/>
                    </a:lnTo>
                    <a:lnTo>
                      <a:pt x="19499" y="86"/>
                    </a:lnTo>
                    <a:lnTo>
                      <a:pt x="19050" y="52"/>
                    </a:lnTo>
                    <a:lnTo>
                      <a:pt x="18601" y="26"/>
                    </a:lnTo>
                    <a:lnTo>
                      <a:pt x="18143" y="9"/>
                    </a:lnTo>
                    <a:lnTo>
                      <a:pt x="17694"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56"/>
              <p:cNvSpPr/>
              <p:nvPr/>
            </p:nvSpPr>
            <p:spPr>
              <a:xfrm>
                <a:off x="2036025" y="4480525"/>
                <a:ext cx="553350" cy="485575"/>
              </a:xfrm>
              <a:custGeom>
                <a:rect b="b" l="l" r="r" t="t"/>
                <a:pathLst>
                  <a:path extrusionOk="0" h="19423" w="22134">
                    <a:moveTo>
                      <a:pt x="813" y="1"/>
                    </a:moveTo>
                    <a:lnTo>
                      <a:pt x="718" y="286"/>
                    </a:lnTo>
                    <a:lnTo>
                      <a:pt x="623" y="580"/>
                    </a:lnTo>
                    <a:lnTo>
                      <a:pt x="536" y="873"/>
                    </a:lnTo>
                    <a:lnTo>
                      <a:pt x="458" y="1175"/>
                    </a:lnTo>
                    <a:lnTo>
                      <a:pt x="389" y="1469"/>
                    </a:lnTo>
                    <a:lnTo>
                      <a:pt x="320" y="1771"/>
                    </a:lnTo>
                    <a:lnTo>
                      <a:pt x="260" y="2074"/>
                    </a:lnTo>
                    <a:lnTo>
                      <a:pt x="208" y="2367"/>
                    </a:lnTo>
                    <a:lnTo>
                      <a:pt x="156" y="2669"/>
                    </a:lnTo>
                    <a:lnTo>
                      <a:pt x="113" y="2980"/>
                    </a:lnTo>
                    <a:lnTo>
                      <a:pt x="79" y="3282"/>
                    </a:lnTo>
                    <a:lnTo>
                      <a:pt x="53" y="3585"/>
                    </a:lnTo>
                    <a:lnTo>
                      <a:pt x="27" y="3896"/>
                    </a:lnTo>
                    <a:lnTo>
                      <a:pt x="9" y="4198"/>
                    </a:lnTo>
                    <a:lnTo>
                      <a:pt x="1" y="4509"/>
                    </a:lnTo>
                    <a:lnTo>
                      <a:pt x="1" y="4811"/>
                    </a:lnTo>
                    <a:lnTo>
                      <a:pt x="1" y="5182"/>
                    </a:lnTo>
                    <a:lnTo>
                      <a:pt x="18" y="5562"/>
                    </a:lnTo>
                    <a:lnTo>
                      <a:pt x="44" y="5925"/>
                    </a:lnTo>
                    <a:lnTo>
                      <a:pt x="79" y="6296"/>
                    </a:lnTo>
                    <a:lnTo>
                      <a:pt x="122" y="6659"/>
                    </a:lnTo>
                    <a:lnTo>
                      <a:pt x="165" y="7022"/>
                    </a:lnTo>
                    <a:lnTo>
                      <a:pt x="225" y="7384"/>
                    </a:lnTo>
                    <a:lnTo>
                      <a:pt x="294" y="7738"/>
                    </a:lnTo>
                    <a:lnTo>
                      <a:pt x="372" y="8092"/>
                    </a:lnTo>
                    <a:lnTo>
                      <a:pt x="458" y="8447"/>
                    </a:lnTo>
                    <a:lnTo>
                      <a:pt x="553" y="8792"/>
                    </a:lnTo>
                    <a:lnTo>
                      <a:pt x="657" y="9137"/>
                    </a:lnTo>
                    <a:lnTo>
                      <a:pt x="769" y="9474"/>
                    </a:lnTo>
                    <a:lnTo>
                      <a:pt x="890" y="9811"/>
                    </a:lnTo>
                    <a:lnTo>
                      <a:pt x="1020" y="10148"/>
                    </a:lnTo>
                    <a:lnTo>
                      <a:pt x="1158" y="10476"/>
                    </a:lnTo>
                    <a:lnTo>
                      <a:pt x="1296" y="10804"/>
                    </a:lnTo>
                    <a:lnTo>
                      <a:pt x="1452" y="11124"/>
                    </a:lnTo>
                    <a:lnTo>
                      <a:pt x="1607" y="11443"/>
                    </a:lnTo>
                    <a:lnTo>
                      <a:pt x="1771" y="11754"/>
                    </a:lnTo>
                    <a:lnTo>
                      <a:pt x="1944" y="12065"/>
                    </a:lnTo>
                    <a:lnTo>
                      <a:pt x="2125" y="12367"/>
                    </a:lnTo>
                    <a:lnTo>
                      <a:pt x="2315" y="12661"/>
                    </a:lnTo>
                    <a:lnTo>
                      <a:pt x="2505" y="12954"/>
                    </a:lnTo>
                    <a:lnTo>
                      <a:pt x="2712" y="13248"/>
                    </a:lnTo>
                    <a:lnTo>
                      <a:pt x="2920" y="13533"/>
                    </a:lnTo>
                    <a:lnTo>
                      <a:pt x="3136" y="13809"/>
                    </a:lnTo>
                    <a:lnTo>
                      <a:pt x="3351" y="14086"/>
                    </a:lnTo>
                    <a:lnTo>
                      <a:pt x="3585" y="14353"/>
                    </a:lnTo>
                    <a:lnTo>
                      <a:pt x="3818" y="14612"/>
                    </a:lnTo>
                    <a:lnTo>
                      <a:pt x="4051" y="14871"/>
                    </a:lnTo>
                    <a:lnTo>
                      <a:pt x="4301" y="15122"/>
                    </a:lnTo>
                    <a:lnTo>
                      <a:pt x="4552" y="15372"/>
                    </a:lnTo>
                    <a:lnTo>
                      <a:pt x="4811" y="15605"/>
                    </a:lnTo>
                    <a:lnTo>
                      <a:pt x="5070" y="15847"/>
                    </a:lnTo>
                    <a:lnTo>
                      <a:pt x="5338" y="16072"/>
                    </a:lnTo>
                    <a:lnTo>
                      <a:pt x="5614" y="16288"/>
                    </a:lnTo>
                    <a:lnTo>
                      <a:pt x="5890" y="16504"/>
                    </a:lnTo>
                    <a:lnTo>
                      <a:pt x="6175" y="16711"/>
                    </a:lnTo>
                    <a:lnTo>
                      <a:pt x="6469" y="16918"/>
                    </a:lnTo>
                    <a:lnTo>
                      <a:pt x="6762" y="17108"/>
                    </a:lnTo>
                    <a:lnTo>
                      <a:pt x="7056" y="17298"/>
                    </a:lnTo>
                    <a:lnTo>
                      <a:pt x="7358" y="17479"/>
                    </a:lnTo>
                    <a:lnTo>
                      <a:pt x="7669" y="17652"/>
                    </a:lnTo>
                    <a:lnTo>
                      <a:pt x="7980" y="17816"/>
                    </a:lnTo>
                    <a:lnTo>
                      <a:pt x="8300" y="17972"/>
                    </a:lnTo>
                    <a:lnTo>
                      <a:pt x="8619" y="18127"/>
                    </a:lnTo>
                    <a:lnTo>
                      <a:pt x="8947" y="18265"/>
                    </a:lnTo>
                    <a:lnTo>
                      <a:pt x="9275" y="18403"/>
                    </a:lnTo>
                    <a:lnTo>
                      <a:pt x="9612" y="18533"/>
                    </a:lnTo>
                    <a:lnTo>
                      <a:pt x="9949" y="18654"/>
                    </a:lnTo>
                    <a:lnTo>
                      <a:pt x="10286" y="18766"/>
                    </a:lnTo>
                    <a:lnTo>
                      <a:pt x="10631" y="18870"/>
                    </a:lnTo>
                    <a:lnTo>
                      <a:pt x="10977" y="18965"/>
                    </a:lnTo>
                    <a:lnTo>
                      <a:pt x="11331" y="19051"/>
                    </a:lnTo>
                    <a:lnTo>
                      <a:pt x="11685" y="19129"/>
                    </a:lnTo>
                    <a:lnTo>
                      <a:pt x="12039" y="19198"/>
                    </a:lnTo>
                    <a:lnTo>
                      <a:pt x="12401" y="19258"/>
                    </a:lnTo>
                    <a:lnTo>
                      <a:pt x="12764" y="19310"/>
                    </a:lnTo>
                    <a:lnTo>
                      <a:pt x="13127" y="19345"/>
                    </a:lnTo>
                    <a:lnTo>
                      <a:pt x="13498" y="19379"/>
                    </a:lnTo>
                    <a:lnTo>
                      <a:pt x="13861" y="19405"/>
                    </a:lnTo>
                    <a:lnTo>
                      <a:pt x="14241" y="19422"/>
                    </a:lnTo>
                    <a:lnTo>
                      <a:pt x="14612" y="19422"/>
                    </a:lnTo>
                    <a:lnTo>
                      <a:pt x="15104" y="19414"/>
                    </a:lnTo>
                    <a:lnTo>
                      <a:pt x="15605" y="19388"/>
                    </a:lnTo>
                    <a:lnTo>
                      <a:pt x="16097" y="19353"/>
                    </a:lnTo>
                    <a:lnTo>
                      <a:pt x="16581" y="19293"/>
                    </a:lnTo>
                    <a:lnTo>
                      <a:pt x="17073" y="19215"/>
                    </a:lnTo>
                    <a:lnTo>
                      <a:pt x="17557" y="19129"/>
                    </a:lnTo>
                    <a:lnTo>
                      <a:pt x="18040" y="19016"/>
                    </a:lnTo>
                    <a:lnTo>
                      <a:pt x="18515" y="18896"/>
                    </a:lnTo>
                    <a:lnTo>
                      <a:pt x="18982" y="18757"/>
                    </a:lnTo>
                    <a:lnTo>
                      <a:pt x="19457" y="18602"/>
                    </a:lnTo>
                    <a:lnTo>
                      <a:pt x="19914" y="18429"/>
                    </a:lnTo>
                    <a:lnTo>
                      <a:pt x="20372" y="18239"/>
                    </a:lnTo>
                    <a:lnTo>
                      <a:pt x="20821" y="18041"/>
                    </a:lnTo>
                    <a:lnTo>
                      <a:pt x="21261" y="17825"/>
                    </a:lnTo>
                    <a:lnTo>
                      <a:pt x="21702" y="17592"/>
                    </a:lnTo>
                    <a:lnTo>
                      <a:pt x="22134" y="17341"/>
                    </a:lnTo>
                    <a:lnTo>
                      <a:pt x="14612" y="4811"/>
                    </a:lnTo>
                    <a:lnTo>
                      <a:pt x="813" y="1"/>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6"/>
              <p:cNvSpPr/>
              <p:nvPr/>
            </p:nvSpPr>
            <p:spPr>
              <a:xfrm>
                <a:off x="2420325" y="4593875"/>
                <a:ext cx="365300" cy="311975"/>
              </a:xfrm>
              <a:custGeom>
                <a:rect b="b" l="l" r="r" t="t"/>
                <a:pathLst>
                  <a:path extrusionOk="0" h="12479" w="14612">
                    <a:moveTo>
                      <a:pt x="0" y="1"/>
                    </a:moveTo>
                    <a:lnTo>
                      <a:pt x="7617" y="12479"/>
                    </a:lnTo>
                    <a:lnTo>
                      <a:pt x="8005" y="12229"/>
                    </a:lnTo>
                    <a:lnTo>
                      <a:pt x="8394" y="11961"/>
                    </a:lnTo>
                    <a:lnTo>
                      <a:pt x="8774" y="11685"/>
                    </a:lnTo>
                    <a:lnTo>
                      <a:pt x="9145" y="11400"/>
                    </a:lnTo>
                    <a:lnTo>
                      <a:pt x="9499" y="11106"/>
                    </a:lnTo>
                    <a:lnTo>
                      <a:pt x="9853" y="10795"/>
                    </a:lnTo>
                    <a:lnTo>
                      <a:pt x="10190" y="10476"/>
                    </a:lnTo>
                    <a:lnTo>
                      <a:pt x="10518" y="10147"/>
                    </a:lnTo>
                    <a:lnTo>
                      <a:pt x="10838" y="9802"/>
                    </a:lnTo>
                    <a:lnTo>
                      <a:pt x="11140" y="9457"/>
                    </a:lnTo>
                    <a:lnTo>
                      <a:pt x="11442" y="9094"/>
                    </a:lnTo>
                    <a:lnTo>
                      <a:pt x="11727" y="8723"/>
                    </a:lnTo>
                    <a:lnTo>
                      <a:pt x="11995" y="8343"/>
                    </a:lnTo>
                    <a:lnTo>
                      <a:pt x="12254" y="7954"/>
                    </a:lnTo>
                    <a:lnTo>
                      <a:pt x="12504" y="7557"/>
                    </a:lnTo>
                    <a:lnTo>
                      <a:pt x="12737" y="7151"/>
                    </a:lnTo>
                    <a:lnTo>
                      <a:pt x="12962" y="6745"/>
                    </a:lnTo>
                    <a:lnTo>
                      <a:pt x="13169" y="6322"/>
                    </a:lnTo>
                    <a:lnTo>
                      <a:pt x="13368" y="5899"/>
                    </a:lnTo>
                    <a:lnTo>
                      <a:pt x="13549" y="5467"/>
                    </a:lnTo>
                    <a:lnTo>
                      <a:pt x="13722" y="5035"/>
                    </a:lnTo>
                    <a:lnTo>
                      <a:pt x="13869" y="4595"/>
                    </a:lnTo>
                    <a:lnTo>
                      <a:pt x="14007" y="4146"/>
                    </a:lnTo>
                    <a:lnTo>
                      <a:pt x="14136" y="3697"/>
                    </a:lnTo>
                    <a:lnTo>
                      <a:pt x="14249" y="3248"/>
                    </a:lnTo>
                    <a:lnTo>
                      <a:pt x="14344" y="2790"/>
                    </a:lnTo>
                    <a:lnTo>
                      <a:pt x="14421" y="2332"/>
                    </a:lnTo>
                    <a:lnTo>
                      <a:pt x="14490" y="1875"/>
                    </a:lnTo>
                    <a:lnTo>
                      <a:pt x="14542" y="1408"/>
                    </a:lnTo>
                    <a:lnTo>
                      <a:pt x="14577" y="942"/>
                    </a:lnTo>
                    <a:lnTo>
                      <a:pt x="14603" y="476"/>
                    </a:lnTo>
                    <a:lnTo>
                      <a:pt x="14611" y="1"/>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6"/>
              <p:cNvSpPr/>
              <p:nvPr/>
            </p:nvSpPr>
            <p:spPr>
              <a:xfrm>
                <a:off x="2422250" y="4307400"/>
                <a:ext cx="365325" cy="269025"/>
              </a:xfrm>
              <a:custGeom>
                <a:rect b="b" l="l" r="r" t="t"/>
                <a:pathLst>
                  <a:path extrusionOk="0" h="10761" w="14613">
                    <a:moveTo>
                      <a:pt x="9897" y="0"/>
                    </a:moveTo>
                    <a:lnTo>
                      <a:pt x="1" y="10760"/>
                    </a:lnTo>
                    <a:lnTo>
                      <a:pt x="14612" y="10562"/>
                    </a:lnTo>
                    <a:lnTo>
                      <a:pt x="14603" y="10182"/>
                    </a:lnTo>
                    <a:lnTo>
                      <a:pt x="14586" y="9810"/>
                    </a:lnTo>
                    <a:lnTo>
                      <a:pt x="14560" y="9448"/>
                    </a:lnTo>
                    <a:lnTo>
                      <a:pt x="14517" y="9076"/>
                    </a:lnTo>
                    <a:lnTo>
                      <a:pt x="14474" y="8705"/>
                    </a:lnTo>
                    <a:lnTo>
                      <a:pt x="14413" y="8342"/>
                    </a:lnTo>
                    <a:lnTo>
                      <a:pt x="14353" y="7971"/>
                    </a:lnTo>
                    <a:lnTo>
                      <a:pt x="14275" y="7608"/>
                    </a:lnTo>
                    <a:lnTo>
                      <a:pt x="14189" y="7246"/>
                    </a:lnTo>
                    <a:lnTo>
                      <a:pt x="14094" y="6891"/>
                    </a:lnTo>
                    <a:lnTo>
                      <a:pt x="13990" y="6537"/>
                    </a:lnTo>
                    <a:lnTo>
                      <a:pt x="13878" y="6183"/>
                    </a:lnTo>
                    <a:lnTo>
                      <a:pt x="13757" y="5829"/>
                    </a:lnTo>
                    <a:lnTo>
                      <a:pt x="13628" y="5484"/>
                    </a:lnTo>
                    <a:lnTo>
                      <a:pt x="13489" y="5138"/>
                    </a:lnTo>
                    <a:lnTo>
                      <a:pt x="13343" y="4793"/>
                    </a:lnTo>
                    <a:lnTo>
                      <a:pt x="13187" y="4456"/>
                    </a:lnTo>
                    <a:lnTo>
                      <a:pt x="13023" y="4119"/>
                    </a:lnTo>
                    <a:lnTo>
                      <a:pt x="12850" y="3791"/>
                    </a:lnTo>
                    <a:lnTo>
                      <a:pt x="12669" y="3472"/>
                    </a:lnTo>
                    <a:lnTo>
                      <a:pt x="12479" y="3152"/>
                    </a:lnTo>
                    <a:lnTo>
                      <a:pt x="12281" y="2833"/>
                    </a:lnTo>
                    <a:lnTo>
                      <a:pt x="12073" y="2522"/>
                    </a:lnTo>
                    <a:lnTo>
                      <a:pt x="11866" y="2220"/>
                    </a:lnTo>
                    <a:lnTo>
                      <a:pt x="11641" y="1926"/>
                    </a:lnTo>
                    <a:lnTo>
                      <a:pt x="11417" y="1632"/>
                    </a:lnTo>
                    <a:lnTo>
                      <a:pt x="11175" y="1347"/>
                    </a:lnTo>
                    <a:lnTo>
                      <a:pt x="10933" y="1062"/>
                    </a:lnTo>
                    <a:lnTo>
                      <a:pt x="10683" y="786"/>
                    </a:lnTo>
                    <a:lnTo>
                      <a:pt x="10433" y="518"/>
                    </a:lnTo>
                    <a:lnTo>
                      <a:pt x="10165" y="259"/>
                    </a:lnTo>
                    <a:lnTo>
                      <a:pt x="9897" y="0"/>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56"/>
              <p:cNvSpPr/>
              <p:nvPr/>
            </p:nvSpPr>
            <p:spPr>
              <a:xfrm>
                <a:off x="1899800" y="3869350"/>
                <a:ext cx="1024000" cy="56600"/>
              </a:xfrm>
              <a:custGeom>
                <a:rect b="b" l="l" r="r" t="t"/>
                <a:pathLst>
                  <a:path extrusionOk="0" h="2264" w="40960">
                    <a:moveTo>
                      <a:pt x="1" y="1"/>
                    </a:moveTo>
                    <a:lnTo>
                      <a:pt x="1" y="2263"/>
                    </a:lnTo>
                    <a:lnTo>
                      <a:pt x="40959" y="2263"/>
                    </a:lnTo>
                    <a:lnTo>
                      <a:pt x="40959" y="1"/>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6"/>
              <p:cNvSpPr/>
              <p:nvPr/>
            </p:nvSpPr>
            <p:spPr>
              <a:xfrm>
                <a:off x="1899800" y="3757300"/>
                <a:ext cx="1024000" cy="56825"/>
              </a:xfrm>
              <a:custGeom>
                <a:rect b="b" l="l" r="r" t="t"/>
                <a:pathLst>
                  <a:path extrusionOk="0" h="2273" w="40960">
                    <a:moveTo>
                      <a:pt x="1" y="1"/>
                    </a:moveTo>
                    <a:lnTo>
                      <a:pt x="1" y="2272"/>
                    </a:lnTo>
                    <a:lnTo>
                      <a:pt x="40959" y="2272"/>
                    </a:lnTo>
                    <a:lnTo>
                      <a:pt x="40959" y="1"/>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56"/>
              <p:cNvSpPr/>
              <p:nvPr/>
            </p:nvSpPr>
            <p:spPr>
              <a:xfrm>
                <a:off x="1899800" y="3645475"/>
                <a:ext cx="1024000" cy="56600"/>
              </a:xfrm>
              <a:custGeom>
                <a:rect b="b" l="l" r="r" t="t"/>
                <a:pathLst>
                  <a:path extrusionOk="0" h="2264" w="40960">
                    <a:moveTo>
                      <a:pt x="1" y="1"/>
                    </a:moveTo>
                    <a:lnTo>
                      <a:pt x="1" y="2263"/>
                    </a:lnTo>
                    <a:lnTo>
                      <a:pt x="40959" y="2263"/>
                    </a:lnTo>
                    <a:lnTo>
                      <a:pt x="40959" y="1"/>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56"/>
              <p:cNvSpPr/>
              <p:nvPr/>
            </p:nvSpPr>
            <p:spPr>
              <a:xfrm>
                <a:off x="1899800" y="3533425"/>
                <a:ext cx="1024000" cy="56600"/>
              </a:xfrm>
              <a:custGeom>
                <a:rect b="b" l="l" r="r" t="t"/>
                <a:pathLst>
                  <a:path extrusionOk="0" h="2264" w="40960">
                    <a:moveTo>
                      <a:pt x="1" y="1"/>
                    </a:moveTo>
                    <a:lnTo>
                      <a:pt x="1" y="2263"/>
                    </a:lnTo>
                    <a:lnTo>
                      <a:pt x="40959" y="2263"/>
                    </a:lnTo>
                    <a:lnTo>
                      <a:pt x="40959" y="1"/>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56"/>
              <p:cNvSpPr/>
              <p:nvPr/>
            </p:nvSpPr>
            <p:spPr>
              <a:xfrm>
                <a:off x="1899800" y="3973200"/>
                <a:ext cx="1024000" cy="56800"/>
              </a:xfrm>
              <a:custGeom>
                <a:rect b="b" l="l" r="r" t="t"/>
                <a:pathLst>
                  <a:path extrusionOk="0" h="2272" w="40960">
                    <a:moveTo>
                      <a:pt x="1" y="0"/>
                    </a:moveTo>
                    <a:lnTo>
                      <a:pt x="1" y="2272"/>
                    </a:lnTo>
                    <a:lnTo>
                      <a:pt x="40959" y="2272"/>
                    </a:lnTo>
                    <a:lnTo>
                      <a:pt x="40959" y="0"/>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56"/>
              <p:cNvSpPr/>
              <p:nvPr/>
            </p:nvSpPr>
            <p:spPr>
              <a:xfrm>
                <a:off x="3150225" y="5066675"/>
                <a:ext cx="1775275" cy="56800"/>
              </a:xfrm>
              <a:custGeom>
                <a:rect b="b" l="l" r="r" t="t"/>
                <a:pathLst>
                  <a:path extrusionOk="0" h="2272" w="71011">
                    <a:moveTo>
                      <a:pt x="1" y="0"/>
                    </a:moveTo>
                    <a:lnTo>
                      <a:pt x="1" y="2272"/>
                    </a:lnTo>
                    <a:lnTo>
                      <a:pt x="71011" y="2272"/>
                    </a:lnTo>
                    <a:lnTo>
                      <a:pt x="71011" y="0"/>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6"/>
              <p:cNvSpPr/>
              <p:nvPr/>
            </p:nvSpPr>
            <p:spPr>
              <a:xfrm>
                <a:off x="3150225" y="4954850"/>
                <a:ext cx="1775275" cy="56575"/>
              </a:xfrm>
              <a:custGeom>
                <a:rect b="b" l="l" r="r" t="t"/>
                <a:pathLst>
                  <a:path extrusionOk="0" h="2263" w="71011">
                    <a:moveTo>
                      <a:pt x="1" y="0"/>
                    </a:moveTo>
                    <a:lnTo>
                      <a:pt x="1" y="2263"/>
                    </a:lnTo>
                    <a:lnTo>
                      <a:pt x="71011" y="2263"/>
                    </a:lnTo>
                    <a:lnTo>
                      <a:pt x="71011" y="0"/>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56"/>
              <p:cNvSpPr/>
              <p:nvPr/>
            </p:nvSpPr>
            <p:spPr>
              <a:xfrm>
                <a:off x="3150225" y="4842800"/>
                <a:ext cx="1775275" cy="56800"/>
              </a:xfrm>
              <a:custGeom>
                <a:rect b="b" l="l" r="r" t="t"/>
                <a:pathLst>
                  <a:path extrusionOk="0" h="2272" w="71011">
                    <a:moveTo>
                      <a:pt x="1" y="0"/>
                    </a:moveTo>
                    <a:lnTo>
                      <a:pt x="1" y="2272"/>
                    </a:lnTo>
                    <a:lnTo>
                      <a:pt x="71011" y="2272"/>
                    </a:lnTo>
                    <a:lnTo>
                      <a:pt x="71011" y="0"/>
                    </a:lnTo>
                    <a:close/>
                  </a:path>
                </a:pathLst>
              </a:custGeom>
              <a:solidFill>
                <a:srgbClr val="66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56"/>
              <p:cNvSpPr/>
              <p:nvPr/>
            </p:nvSpPr>
            <p:spPr>
              <a:xfrm>
                <a:off x="2552000" y="350800"/>
                <a:ext cx="855375" cy="855175"/>
              </a:xfrm>
              <a:custGeom>
                <a:rect b="b" l="l" r="r" t="t"/>
                <a:pathLst>
                  <a:path extrusionOk="0" h="34207" w="34215">
                    <a:moveTo>
                      <a:pt x="16667" y="1"/>
                    </a:moveTo>
                    <a:lnTo>
                      <a:pt x="16227" y="18"/>
                    </a:lnTo>
                    <a:lnTo>
                      <a:pt x="15795" y="44"/>
                    </a:lnTo>
                    <a:lnTo>
                      <a:pt x="15363" y="87"/>
                    </a:lnTo>
                    <a:lnTo>
                      <a:pt x="14932" y="130"/>
                    </a:lnTo>
                    <a:lnTo>
                      <a:pt x="14500" y="191"/>
                    </a:lnTo>
                    <a:lnTo>
                      <a:pt x="14085" y="260"/>
                    </a:lnTo>
                    <a:lnTo>
                      <a:pt x="13662" y="346"/>
                    </a:lnTo>
                    <a:lnTo>
                      <a:pt x="13248" y="433"/>
                    </a:lnTo>
                    <a:lnTo>
                      <a:pt x="12833" y="536"/>
                    </a:lnTo>
                    <a:lnTo>
                      <a:pt x="12427" y="648"/>
                    </a:lnTo>
                    <a:lnTo>
                      <a:pt x="12021" y="769"/>
                    </a:lnTo>
                    <a:lnTo>
                      <a:pt x="11624" y="899"/>
                    </a:lnTo>
                    <a:lnTo>
                      <a:pt x="11227" y="1037"/>
                    </a:lnTo>
                    <a:lnTo>
                      <a:pt x="10838" y="1184"/>
                    </a:lnTo>
                    <a:lnTo>
                      <a:pt x="10450" y="1339"/>
                    </a:lnTo>
                    <a:lnTo>
                      <a:pt x="10070" y="1512"/>
                    </a:lnTo>
                    <a:lnTo>
                      <a:pt x="9690" y="1685"/>
                    </a:lnTo>
                    <a:lnTo>
                      <a:pt x="9318" y="1866"/>
                    </a:lnTo>
                    <a:lnTo>
                      <a:pt x="8956" y="2065"/>
                    </a:lnTo>
                    <a:lnTo>
                      <a:pt x="8593" y="2263"/>
                    </a:lnTo>
                    <a:lnTo>
                      <a:pt x="8239" y="2471"/>
                    </a:lnTo>
                    <a:lnTo>
                      <a:pt x="7885" y="2695"/>
                    </a:lnTo>
                    <a:lnTo>
                      <a:pt x="7548" y="2920"/>
                    </a:lnTo>
                    <a:lnTo>
                      <a:pt x="7203" y="3153"/>
                    </a:lnTo>
                    <a:lnTo>
                      <a:pt x="6875" y="3395"/>
                    </a:lnTo>
                    <a:lnTo>
                      <a:pt x="6546" y="3645"/>
                    </a:lnTo>
                    <a:lnTo>
                      <a:pt x="6227" y="3904"/>
                    </a:lnTo>
                    <a:lnTo>
                      <a:pt x="5916" y="4172"/>
                    </a:lnTo>
                    <a:lnTo>
                      <a:pt x="5605" y="4439"/>
                    </a:lnTo>
                    <a:lnTo>
                      <a:pt x="5303" y="4724"/>
                    </a:lnTo>
                    <a:lnTo>
                      <a:pt x="5009" y="5009"/>
                    </a:lnTo>
                    <a:lnTo>
                      <a:pt x="4724" y="5303"/>
                    </a:lnTo>
                    <a:lnTo>
                      <a:pt x="4448" y="5605"/>
                    </a:lnTo>
                    <a:lnTo>
                      <a:pt x="4172" y="5907"/>
                    </a:lnTo>
                    <a:lnTo>
                      <a:pt x="3913" y="6218"/>
                    </a:lnTo>
                    <a:lnTo>
                      <a:pt x="3654" y="6538"/>
                    </a:lnTo>
                    <a:lnTo>
                      <a:pt x="3403" y="6866"/>
                    </a:lnTo>
                    <a:lnTo>
                      <a:pt x="3161" y="7203"/>
                    </a:lnTo>
                    <a:lnTo>
                      <a:pt x="2928" y="7540"/>
                    </a:lnTo>
                    <a:lnTo>
                      <a:pt x="2695" y="7885"/>
                    </a:lnTo>
                    <a:lnTo>
                      <a:pt x="2479" y="8230"/>
                    </a:lnTo>
                    <a:lnTo>
                      <a:pt x="2272" y="8584"/>
                    </a:lnTo>
                    <a:lnTo>
                      <a:pt x="2065" y="8947"/>
                    </a:lnTo>
                    <a:lnTo>
                      <a:pt x="1875" y="9318"/>
                    </a:lnTo>
                    <a:lnTo>
                      <a:pt x="1693" y="9690"/>
                    </a:lnTo>
                    <a:lnTo>
                      <a:pt x="1512" y="10061"/>
                    </a:lnTo>
                    <a:lnTo>
                      <a:pt x="1348" y="10441"/>
                    </a:lnTo>
                    <a:lnTo>
                      <a:pt x="1192" y="10830"/>
                    </a:lnTo>
                    <a:lnTo>
                      <a:pt x="1037" y="11218"/>
                    </a:lnTo>
                    <a:lnTo>
                      <a:pt x="899" y="11616"/>
                    </a:lnTo>
                    <a:lnTo>
                      <a:pt x="769" y="12013"/>
                    </a:lnTo>
                    <a:lnTo>
                      <a:pt x="648" y="12419"/>
                    </a:lnTo>
                    <a:lnTo>
                      <a:pt x="545" y="12825"/>
                    </a:lnTo>
                    <a:lnTo>
                      <a:pt x="441" y="13239"/>
                    </a:lnTo>
                    <a:lnTo>
                      <a:pt x="355" y="13654"/>
                    </a:lnTo>
                    <a:lnTo>
                      <a:pt x="268" y="14077"/>
                    </a:lnTo>
                    <a:lnTo>
                      <a:pt x="199" y="14500"/>
                    </a:lnTo>
                    <a:lnTo>
                      <a:pt x="139" y="14923"/>
                    </a:lnTo>
                    <a:lnTo>
                      <a:pt x="87" y="15355"/>
                    </a:lnTo>
                    <a:lnTo>
                      <a:pt x="53" y="15787"/>
                    </a:lnTo>
                    <a:lnTo>
                      <a:pt x="27" y="16227"/>
                    </a:lnTo>
                    <a:lnTo>
                      <a:pt x="9" y="16659"/>
                    </a:lnTo>
                    <a:lnTo>
                      <a:pt x="1" y="17099"/>
                    </a:lnTo>
                    <a:lnTo>
                      <a:pt x="9" y="17548"/>
                    </a:lnTo>
                    <a:lnTo>
                      <a:pt x="27" y="17980"/>
                    </a:lnTo>
                    <a:lnTo>
                      <a:pt x="53" y="18420"/>
                    </a:lnTo>
                    <a:lnTo>
                      <a:pt x="87" y="18852"/>
                    </a:lnTo>
                    <a:lnTo>
                      <a:pt x="139" y="19284"/>
                    </a:lnTo>
                    <a:lnTo>
                      <a:pt x="199" y="19707"/>
                    </a:lnTo>
                    <a:lnTo>
                      <a:pt x="268" y="20130"/>
                    </a:lnTo>
                    <a:lnTo>
                      <a:pt x="355" y="20553"/>
                    </a:lnTo>
                    <a:lnTo>
                      <a:pt x="441" y="20968"/>
                    </a:lnTo>
                    <a:lnTo>
                      <a:pt x="545" y="21382"/>
                    </a:lnTo>
                    <a:lnTo>
                      <a:pt x="648" y="21788"/>
                    </a:lnTo>
                    <a:lnTo>
                      <a:pt x="769" y="22194"/>
                    </a:lnTo>
                    <a:lnTo>
                      <a:pt x="899" y="22591"/>
                    </a:lnTo>
                    <a:lnTo>
                      <a:pt x="1037" y="22989"/>
                    </a:lnTo>
                    <a:lnTo>
                      <a:pt x="1192" y="23377"/>
                    </a:lnTo>
                    <a:lnTo>
                      <a:pt x="1348" y="23766"/>
                    </a:lnTo>
                    <a:lnTo>
                      <a:pt x="1512" y="24146"/>
                    </a:lnTo>
                    <a:lnTo>
                      <a:pt x="1693" y="24517"/>
                    </a:lnTo>
                    <a:lnTo>
                      <a:pt x="1875" y="24888"/>
                    </a:lnTo>
                    <a:lnTo>
                      <a:pt x="2065" y="25260"/>
                    </a:lnTo>
                    <a:lnTo>
                      <a:pt x="2272" y="25614"/>
                    </a:lnTo>
                    <a:lnTo>
                      <a:pt x="2479" y="25976"/>
                    </a:lnTo>
                    <a:lnTo>
                      <a:pt x="2695" y="26322"/>
                    </a:lnTo>
                    <a:lnTo>
                      <a:pt x="2928" y="26667"/>
                    </a:lnTo>
                    <a:lnTo>
                      <a:pt x="3161" y="27004"/>
                    </a:lnTo>
                    <a:lnTo>
                      <a:pt x="3403" y="27341"/>
                    </a:lnTo>
                    <a:lnTo>
                      <a:pt x="3654" y="27660"/>
                    </a:lnTo>
                    <a:lnTo>
                      <a:pt x="3913" y="27980"/>
                    </a:lnTo>
                    <a:lnTo>
                      <a:pt x="4172" y="28299"/>
                    </a:lnTo>
                    <a:lnTo>
                      <a:pt x="4448" y="28602"/>
                    </a:lnTo>
                    <a:lnTo>
                      <a:pt x="4724" y="28904"/>
                    </a:lnTo>
                    <a:lnTo>
                      <a:pt x="5009" y="29198"/>
                    </a:lnTo>
                    <a:lnTo>
                      <a:pt x="5303" y="29482"/>
                    </a:lnTo>
                    <a:lnTo>
                      <a:pt x="5605" y="29767"/>
                    </a:lnTo>
                    <a:lnTo>
                      <a:pt x="5916" y="30035"/>
                    </a:lnTo>
                    <a:lnTo>
                      <a:pt x="6227" y="30303"/>
                    </a:lnTo>
                    <a:lnTo>
                      <a:pt x="6546" y="30562"/>
                    </a:lnTo>
                    <a:lnTo>
                      <a:pt x="6875" y="30812"/>
                    </a:lnTo>
                    <a:lnTo>
                      <a:pt x="7203" y="31054"/>
                    </a:lnTo>
                    <a:lnTo>
                      <a:pt x="7548" y="31287"/>
                    </a:lnTo>
                    <a:lnTo>
                      <a:pt x="7885" y="31512"/>
                    </a:lnTo>
                    <a:lnTo>
                      <a:pt x="8239" y="31736"/>
                    </a:lnTo>
                    <a:lnTo>
                      <a:pt x="8593" y="31944"/>
                    </a:lnTo>
                    <a:lnTo>
                      <a:pt x="8956" y="32142"/>
                    </a:lnTo>
                    <a:lnTo>
                      <a:pt x="9318" y="32341"/>
                    </a:lnTo>
                    <a:lnTo>
                      <a:pt x="9690" y="32522"/>
                    </a:lnTo>
                    <a:lnTo>
                      <a:pt x="10070" y="32695"/>
                    </a:lnTo>
                    <a:lnTo>
                      <a:pt x="10450" y="32868"/>
                    </a:lnTo>
                    <a:lnTo>
                      <a:pt x="10838" y="33023"/>
                    </a:lnTo>
                    <a:lnTo>
                      <a:pt x="11227" y="33170"/>
                    </a:lnTo>
                    <a:lnTo>
                      <a:pt x="11624" y="33308"/>
                    </a:lnTo>
                    <a:lnTo>
                      <a:pt x="12021" y="33438"/>
                    </a:lnTo>
                    <a:lnTo>
                      <a:pt x="12427" y="33558"/>
                    </a:lnTo>
                    <a:lnTo>
                      <a:pt x="12833" y="33671"/>
                    </a:lnTo>
                    <a:lnTo>
                      <a:pt x="13248" y="33774"/>
                    </a:lnTo>
                    <a:lnTo>
                      <a:pt x="13662" y="33861"/>
                    </a:lnTo>
                    <a:lnTo>
                      <a:pt x="14085" y="33938"/>
                    </a:lnTo>
                    <a:lnTo>
                      <a:pt x="14500" y="34016"/>
                    </a:lnTo>
                    <a:lnTo>
                      <a:pt x="14932" y="34068"/>
                    </a:lnTo>
                    <a:lnTo>
                      <a:pt x="15363" y="34120"/>
                    </a:lnTo>
                    <a:lnTo>
                      <a:pt x="15795" y="34163"/>
                    </a:lnTo>
                    <a:lnTo>
                      <a:pt x="16227" y="34189"/>
                    </a:lnTo>
                    <a:lnTo>
                      <a:pt x="16667" y="34206"/>
                    </a:lnTo>
                    <a:lnTo>
                      <a:pt x="17548" y="34206"/>
                    </a:lnTo>
                    <a:lnTo>
                      <a:pt x="17989" y="34189"/>
                    </a:lnTo>
                    <a:lnTo>
                      <a:pt x="18429" y="34163"/>
                    </a:lnTo>
                    <a:lnTo>
                      <a:pt x="18861" y="34120"/>
                    </a:lnTo>
                    <a:lnTo>
                      <a:pt x="19284" y="34068"/>
                    </a:lnTo>
                    <a:lnTo>
                      <a:pt x="19716" y="34016"/>
                    </a:lnTo>
                    <a:lnTo>
                      <a:pt x="20139" y="33938"/>
                    </a:lnTo>
                    <a:lnTo>
                      <a:pt x="20553" y="33861"/>
                    </a:lnTo>
                    <a:lnTo>
                      <a:pt x="20976" y="33774"/>
                    </a:lnTo>
                    <a:lnTo>
                      <a:pt x="21382" y="33671"/>
                    </a:lnTo>
                    <a:lnTo>
                      <a:pt x="21788" y="33558"/>
                    </a:lnTo>
                    <a:lnTo>
                      <a:pt x="22194" y="33438"/>
                    </a:lnTo>
                    <a:lnTo>
                      <a:pt x="22591" y="33308"/>
                    </a:lnTo>
                    <a:lnTo>
                      <a:pt x="22989" y="33170"/>
                    </a:lnTo>
                    <a:lnTo>
                      <a:pt x="23386" y="33023"/>
                    </a:lnTo>
                    <a:lnTo>
                      <a:pt x="23766" y="32868"/>
                    </a:lnTo>
                    <a:lnTo>
                      <a:pt x="24146" y="32695"/>
                    </a:lnTo>
                    <a:lnTo>
                      <a:pt x="24526" y="32522"/>
                    </a:lnTo>
                    <a:lnTo>
                      <a:pt x="24897" y="32341"/>
                    </a:lnTo>
                    <a:lnTo>
                      <a:pt x="25260" y="32142"/>
                    </a:lnTo>
                    <a:lnTo>
                      <a:pt x="25622" y="31944"/>
                    </a:lnTo>
                    <a:lnTo>
                      <a:pt x="25976" y="31736"/>
                    </a:lnTo>
                    <a:lnTo>
                      <a:pt x="26330" y="31512"/>
                    </a:lnTo>
                    <a:lnTo>
                      <a:pt x="26676" y="31287"/>
                    </a:lnTo>
                    <a:lnTo>
                      <a:pt x="27013" y="31054"/>
                    </a:lnTo>
                    <a:lnTo>
                      <a:pt x="27341" y="30812"/>
                    </a:lnTo>
                    <a:lnTo>
                      <a:pt x="27669" y="30562"/>
                    </a:lnTo>
                    <a:lnTo>
                      <a:pt x="27989" y="30303"/>
                    </a:lnTo>
                    <a:lnTo>
                      <a:pt x="28308" y="30035"/>
                    </a:lnTo>
                    <a:lnTo>
                      <a:pt x="28610" y="29767"/>
                    </a:lnTo>
                    <a:lnTo>
                      <a:pt x="28913" y="29482"/>
                    </a:lnTo>
                    <a:lnTo>
                      <a:pt x="29206" y="29198"/>
                    </a:lnTo>
                    <a:lnTo>
                      <a:pt x="29491" y="28904"/>
                    </a:lnTo>
                    <a:lnTo>
                      <a:pt x="29767" y="28602"/>
                    </a:lnTo>
                    <a:lnTo>
                      <a:pt x="30044" y="28299"/>
                    </a:lnTo>
                    <a:lnTo>
                      <a:pt x="30311" y="27980"/>
                    </a:lnTo>
                    <a:lnTo>
                      <a:pt x="30571" y="27660"/>
                    </a:lnTo>
                    <a:lnTo>
                      <a:pt x="30821" y="27341"/>
                    </a:lnTo>
                    <a:lnTo>
                      <a:pt x="31063" y="27004"/>
                    </a:lnTo>
                    <a:lnTo>
                      <a:pt x="31296" y="26667"/>
                    </a:lnTo>
                    <a:lnTo>
                      <a:pt x="31520" y="26322"/>
                    </a:lnTo>
                    <a:lnTo>
                      <a:pt x="31736" y="25976"/>
                    </a:lnTo>
                    <a:lnTo>
                      <a:pt x="31952" y="25614"/>
                    </a:lnTo>
                    <a:lnTo>
                      <a:pt x="32151" y="25260"/>
                    </a:lnTo>
                    <a:lnTo>
                      <a:pt x="32341" y="24888"/>
                    </a:lnTo>
                    <a:lnTo>
                      <a:pt x="32531" y="24517"/>
                    </a:lnTo>
                    <a:lnTo>
                      <a:pt x="32704" y="24146"/>
                    </a:lnTo>
                    <a:lnTo>
                      <a:pt x="32868" y="23766"/>
                    </a:lnTo>
                    <a:lnTo>
                      <a:pt x="33032" y="23377"/>
                    </a:lnTo>
                    <a:lnTo>
                      <a:pt x="33178" y="22989"/>
                    </a:lnTo>
                    <a:lnTo>
                      <a:pt x="33317" y="22591"/>
                    </a:lnTo>
                    <a:lnTo>
                      <a:pt x="33446" y="22194"/>
                    </a:lnTo>
                    <a:lnTo>
                      <a:pt x="33567" y="21788"/>
                    </a:lnTo>
                    <a:lnTo>
                      <a:pt x="33679" y="21382"/>
                    </a:lnTo>
                    <a:lnTo>
                      <a:pt x="33774" y="20968"/>
                    </a:lnTo>
                    <a:lnTo>
                      <a:pt x="33869" y="20553"/>
                    </a:lnTo>
                    <a:lnTo>
                      <a:pt x="33947" y="20130"/>
                    </a:lnTo>
                    <a:lnTo>
                      <a:pt x="34016" y="19707"/>
                    </a:lnTo>
                    <a:lnTo>
                      <a:pt x="34077" y="19284"/>
                    </a:lnTo>
                    <a:lnTo>
                      <a:pt x="34128" y="18852"/>
                    </a:lnTo>
                    <a:lnTo>
                      <a:pt x="34163" y="18420"/>
                    </a:lnTo>
                    <a:lnTo>
                      <a:pt x="34189" y="17980"/>
                    </a:lnTo>
                    <a:lnTo>
                      <a:pt x="34206" y="17548"/>
                    </a:lnTo>
                    <a:lnTo>
                      <a:pt x="34215" y="17099"/>
                    </a:lnTo>
                    <a:lnTo>
                      <a:pt x="34206" y="16659"/>
                    </a:lnTo>
                    <a:lnTo>
                      <a:pt x="34189" y="16227"/>
                    </a:lnTo>
                    <a:lnTo>
                      <a:pt x="34163" y="15787"/>
                    </a:lnTo>
                    <a:lnTo>
                      <a:pt x="34128" y="15355"/>
                    </a:lnTo>
                    <a:lnTo>
                      <a:pt x="34077" y="14923"/>
                    </a:lnTo>
                    <a:lnTo>
                      <a:pt x="34016" y="14500"/>
                    </a:lnTo>
                    <a:lnTo>
                      <a:pt x="33947" y="14077"/>
                    </a:lnTo>
                    <a:lnTo>
                      <a:pt x="33869" y="13654"/>
                    </a:lnTo>
                    <a:lnTo>
                      <a:pt x="33774" y="13239"/>
                    </a:lnTo>
                    <a:lnTo>
                      <a:pt x="33679" y="12825"/>
                    </a:lnTo>
                    <a:lnTo>
                      <a:pt x="33567" y="12419"/>
                    </a:lnTo>
                    <a:lnTo>
                      <a:pt x="33446" y="12013"/>
                    </a:lnTo>
                    <a:lnTo>
                      <a:pt x="33317" y="11616"/>
                    </a:lnTo>
                    <a:lnTo>
                      <a:pt x="33178" y="11218"/>
                    </a:lnTo>
                    <a:lnTo>
                      <a:pt x="33032" y="10830"/>
                    </a:lnTo>
                    <a:lnTo>
                      <a:pt x="32868" y="10441"/>
                    </a:lnTo>
                    <a:lnTo>
                      <a:pt x="32704" y="10061"/>
                    </a:lnTo>
                    <a:lnTo>
                      <a:pt x="32531" y="9690"/>
                    </a:lnTo>
                    <a:lnTo>
                      <a:pt x="32341" y="9318"/>
                    </a:lnTo>
                    <a:lnTo>
                      <a:pt x="32151" y="8947"/>
                    </a:lnTo>
                    <a:lnTo>
                      <a:pt x="31952" y="8584"/>
                    </a:lnTo>
                    <a:lnTo>
                      <a:pt x="31736" y="8230"/>
                    </a:lnTo>
                    <a:lnTo>
                      <a:pt x="31520" y="7885"/>
                    </a:lnTo>
                    <a:lnTo>
                      <a:pt x="31296" y="7540"/>
                    </a:lnTo>
                    <a:lnTo>
                      <a:pt x="31063" y="7203"/>
                    </a:lnTo>
                    <a:lnTo>
                      <a:pt x="30821" y="6866"/>
                    </a:lnTo>
                    <a:lnTo>
                      <a:pt x="30571" y="6538"/>
                    </a:lnTo>
                    <a:lnTo>
                      <a:pt x="30311" y="6218"/>
                    </a:lnTo>
                    <a:lnTo>
                      <a:pt x="30044" y="5907"/>
                    </a:lnTo>
                    <a:lnTo>
                      <a:pt x="29767" y="5605"/>
                    </a:lnTo>
                    <a:lnTo>
                      <a:pt x="29491" y="5303"/>
                    </a:lnTo>
                    <a:lnTo>
                      <a:pt x="29206" y="5009"/>
                    </a:lnTo>
                    <a:lnTo>
                      <a:pt x="28913" y="4724"/>
                    </a:lnTo>
                    <a:lnTo>
                      <a:pt x="28610" y="4439"/>
                    </a:lnTo>
                    <a:lnTo>
                      <a:pt x="28308" y="4172"/>
                    </a:lnTo>
                    <a:lnTo>
                      <a:pt x="27989" y="3904"/>
                    </a:lnTo>
                    <a:lnTo>
                      <a:pt x="27669" y="3645"/>
                    </a:lnTo>
                    <a:lnTo>
                      <a:pt x="27341" y="3395"/>
                    </a:lnTo>
                    <a:lnTo>
                      <a:pt x="27013" y="3153"/>
                    </a:lnTo>
                    <a:lnTo>
                      <a:pt x="26676" y="2920"/>
                    </a:lnTo>
                    <a:lnTo>
                      <a:pt x="26330" y="2695"/>
                    </a:lnTo>
                    <a:lnTo>
                      <a:pt x="25976" y="2471"/>
                    </a:lnTo>
                    <a:lnTo>
                      <a:pt x="25622" y="2263"/>
                    </a:lnTo>
                    <a:lnTo>
                      <a:pt x="25260" y="2065"/>
                    </a:lnTo>
                    <a:lnTo>
                      <a:pt x="24897" y="1866"/>
                    </a:lnTo>
                    <a:lnTo>
                      <a:pt x="24526" y="1685"/>
                    </a:lnTo>
                    <a:lnTo>
                      <a:pt x="24146" y="1512"/>
                    </a:lnTo>
                    <a:lnTo>
                      <a:pt x="23766" y="1339"/>
                    </a:lnTo>
                    <a:lnTo>
                      <a:pt x="23386" y="1184"/>
                    </a:lnTo>
                    <a:lnTo>
                      <a:pt x="22989" y="1037"/>
                    </a:lnTo>
                    <a:lnTo>
                      <a:pt x="22591" y="899"/>
                    </a:lnTo>
                    <a:lnTo>
                      <a:pt x="22194" y="769"/>
                    </a:lnTo>
                    <a:lnTo>
                      <a:pt x="21788" y="648"/>
                    </a:lnTo>
                    <a:lnTo>
                      <a:pt x="21382" y="536"/>
                    </a:lnTo>
                    <a:lnTo>
                      <a:pt x="20976" y="433"/>
                    </a:lnTo>
                    <a:lnTo>
                      <a:pt x="20553" y="346"/>
                    </a:lnTo>
                    <a:lnTo>
                      <a:pt x="20139" y="260"/>
                    </a:lnTo>
                    <a:lnTo>
                      <a:pt x="19716" y="191"/>
                    </a:lnTo>
                    <a:lnTo>
                      <a:pt x="19284" y="130"/>
                    </a:lnTo>
                    <a:lnTo>
                      <a:pt x="18861" y="87"/>
                    </a:lnTo>
                    <a:lnTo>
                      <a:pt x="18429" y="44"/>
                    </a:lnTo>
                    <a:lnTo>
                      <a:pt x="17989" y="18"/>
                    </a:lnTo>
                    <a:lnTo>
                      <a:pt x="17548"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56"/>
              <p:cNvSpPr/>
              <p:nvPr/>
            </p:nvSpPr>
            <p:spPr>
              <a:xfrm>
                <a:off x="2616350" y="668600"/>
                <a:ext cx="534975" cy="469575"/>
              </a:xfrm>
              <a:custGeom>
                <a:rect b="b" l="l" r="r" t="t"/>
                <a:pathLst>
                  <a:path extrusionOk="0" h="18783" w="21399">
                    <a:moveTo>
                      <a:pt x="786" y="0"/>
                    </a:moveTo>
                    <a:lnTo>
                      <a:pt x="691" y="285"/>
                    </a:lnTo>
                    <a:lnTo>
                      <a:pt x="605" y="570"/>
                    </a:lnTo>
                    <a:lnTo>
                      <a:pt x="518" y="847"/>
                    </a:lnTo>
                    <a:lnTo>
                      <a:pt x="441" y="1140"/>
                    </a:lnTo>
                    <a:lnTo>
                      <a:pt x="371" y="1425"/>
                    </a:lnTo>
                    <a:lnTo>
                      <a:pt x="311" y="1710"/>
                    </a:lnTo>
                    <a:lnTo>
                      <a:pt x="251" y="2004"/>
                    </a:lnTo>
                    <a:lnTo>
                      <a:pt x="199" y="2297"/>
                    </a:lnTo>
                    <a:lnTo>
                      <a:pt x="156" y="2591"/>
                    </a:lnTo>
                    <a:lnTo>
                      <a:pt x="112" y="2885"/>
                    </a:lnTo>
                    <a:lnTo>
                      <a:pt x="78" y="3178"/>
                    </a:lnTo>
                    <a:lnTo>
                      <a:pt x="52" y="3472"/>
                    </a:lnTo>
                    <a:lnTo>
                      <a:pt x="26" y="3765"/>
                    </a:lnTo>
                    <a:lnTo>
                      <a:pt x="9" y="4059"/>
                    </a:lnTo>
                    <a:lnTo>
                      <a:pt x="0" y="4361"/>
                    </a:lnTo>
                    <a:lnTo>
                      <a:pt x="0" y="4655"/>
                    </a:lnTo>
                    <a:lnTo>
                      <a:pt x="0" y="5018"/>
                    </a:lnTo>
                    <a:lnTo>
                      <a:pt x="17" y="5380"/>
                    </a:lnTo>
                    <a:lnTo>
                      <a:pt x="43" y="5734"/>
                    </a:lnTo>
                    <a:lnTo>
                      <a:pt x="69" y="6088"/>
                    </a:lnTo>
                    <a:lnTo>
                      <a:pt x="112" y="6442"/>
                    </a:lnTo>
                    <a:lnTo>
                      <a:pt x="164" y="6796"/>
                    </a:lnTo>
                    <a:lnTo>
                      <a:pt x="225" y="7142"/>
                    </a:lnTo>
                    <a:lnTo>
                      <a:pt x="285" y="7487"/>
                    </a:lnTo>
                    <a:lnTo>
                      <a:pt x="363" y="7833"/>
                    </a:lnTo>
                    <a:lnTo>
                      <a:pt x="449" y="8169"/>
                    </a:lnTo>
                    <a:lnTo>
                      <a:pt x="536" y="8506"/>
                    </a:lnTo>
                    <a:lnTo>
                      <a:pt x="639" y="8834"/>
                    </a:lnTo>
                    <a:lnTo>
                      <a:pt x="751" y="9163"/>
                    </a:lnTo>
                    <a:lnTo>
                      <a:pt x="864" y="9491"/>
                    </a:lnTo>
                    <a:lnTo>
                      <a:pt x="985" y="9810"/>
                    </a:lnTo>
                    <a:lnTo>
                      <a:pt x="1114" y="10130"/>
                    </a:lnTo>
                    <a:lnTo>
                      <a:pt x="1252" y="10449"/>
                    </a:lnTo>
                    <a:lnTo>
                      <a:pt x="1399" y="10760"/>
                    </a:lnTo>
                    <a:lnTo>
                      <a:pt x="1555" y="11062"/>
                    </a:lnTo>
                    <a:lnTo>
                      <a:pt x="1719" y="11365"/>
                    </a:lnTo>
                    <a:lnTo>
                      <a:pt x="1883" y="11667"/>
                    </a:lnTo>
                    <a:lnTo>
                      <a:pt x="2055" y="11960"/>
                    </a:lnTo>
                    <a:lnTo>
                      <a:pt x="2237" y="12245"/>
                    </a:lnTo>
                    <a:lnTo>
                      <a:pt x="2427" y="12530"/>
                    </a:lnTo>
                    <a:lnTo>
                      <a:pt x="2625" y="12815"/>
                    </a:lnTo>
                    <a:lnTo>
                      <a:pt x="2824" y="13083"/>
                    </a:lnTo>
                    <a:lnTo>
                      <a:pt x="3031" y="13359"/>
                    </a:lnTo>
                    <a:lnTo>
                      <a:pt x="3247" y="13619"/>
                    </a:lnTo>
                    <a:lnTo>
                      <a:pt x="3463" y="13878"/>
                    </a:lnTo>
                    <a:lnTo>
                      <a:pt x="3687" y="14137"/>
                    </a:lnTo>
                    <a:lnTo>
                      <a:pt x="3921" y="14387"/>
                    </a:lnTo>
                    <a:lnTo>
                      <a:pt x="4154" y="14629"/>
                    </a:lnTo>
                    <a:lnTo>
                      <a:pt x="4404" y="14862"/>
                    </a:lnTo>
                    <a:lnTo>
                      <a:pt x="4646" y="15095"/>
                    </a:lnTo>
                    <a:lnTo>
                      <a:pt x="4905" y="15320"/>
                    </a:lnTo>
                    <a:lnTo>
                      <a:pt x="5164" y="15544"/>
                    </a:lnTo>
                    <a:lnTo>
                      <a:pt x="5432" y="15751"/>
                    </a:lnTo>
                    <a:lnTo>
                      <a:pt x="5700" y="15959"/>
                    </a:lnTo>
                    <a:lnTo>
                      <a:pt x="5976" y="16166"/>
                    </a:lnTo>
                    <a:lnTo>
                      <a:pt x="6252" y="16356"/>
                    </a:lnTo>
                    <a:lnTo>
                      <a:pt x="6537" y="16546"/>
                    </a:lnTo>
                    <a:lnTo>
                      <a:pt x="6822" y="16727"/>
                    </a:lnTo>
                    <a:lnTo>
                      <a:pt x="7116" y="16900"/>
                    </a:lnTo>
                    <a:lnTo>
                      <a:pt x="7418" y="17073"/>
                    </a:lnTo>
                    <a:lnTo>
                      <a:pt x="7720" y="17228"/>
                    </a:lnTo>
                    <a:lnTo>
                      <a:pt x="8023" y="17384"/>
                    </a:lnTo>
                    <a:lnTo>
                      <a:pt x="8333" y="17530"/>
                    </a:lnTo>
                    <a:lnTo>
                      <a:pt x="8653" y="17669"/>
                    </a:lnTo>
                    <a:lnTo>
                      <a:pt x="8972" y="17798"/>
                    </a:lnTo>
                    <a:lnTo>
                      <a:pt x="9292" y="17919"/>
                    </a:lnTo>
                    <a:lnTo>
                      <a:pt x="9620" y="18040"/>
                    </a:lnTo>
                    <a:lnTo>
                      <a:pt x="9948" y="18144"/>
                    </a:lnTo>
                    <a:lnTo>
                      <a:pt x="10276" y="18247"/>
                    </a:lnTo>
                    <a:lnTo>
                      <a:pt x="10613" y="18334"/>
                    </a:lnTo>
                    <a:lnTo>
                      <a:pt x="10959" y="18420"/>
                    </a:lnTo>
                    <a:lnTo>
                      <a:pt x="11295" y="18498"/>
                    </a:lnTo>
                    <a:lnTo>
                      <a:pt x="11641" y="18558"/>
                    </a:lnTo>
                    <a:lnTo>
                      <a:pt x="11986" y="18618"/>
                    </a:lnTo>
                    <a:lnTo>
                      <a:pt x="12340" y="18670"/>
                    </a:lnTo>
                    <a:lnTo>
                      <a:pt x="12694" y="18713"/>
                    </a:lnTo>
                    <a:lnTo>
                      <a:pt x="13048" y="18739"/>
                    </a:lnTo>
                    <a:lnTo>
                      <a:pt x="13402" y="18765"/>
                    </a:lnTo>
                    <a:lnTo>
                      <a:pt x="13765" y="18783"/>
                    </a:lnTo>
                    <a:lnTo>
                      <a:pt x="14128" y="18783"/>
                    </a:lnTo>
                    <a:lnTo>
                      <a:pt x="14611" y="18774"/>
                    </a:lnTo>
                    <a:lnTo>
                      <a:pt x="15086" y="18748"/>
                    </a:lnTo>
                    <a:lnTo>
                      <a:pt x="15561" y="18713"/>
                    </a:lnTo>
                    <a:lnTo>
                      <a:pt x="16036" y="18653"/>
                    </a:lnTo>
                    <a:lnTo>
                      <a:pt x="16511" y="18584"/>
                    </a:lnTo>
                    <a:lnTo>
                      <a:pt x="16978" y="18498"/>
                    </a:lnTo>
                    <a:lnTo>
                      <a:pt x="17444" y="18394"/>
                    </a:lnTo>
                    <a:lnTo>
                      <a:pt x="17902" y="18273"/>
                    </a:lnTo>
                    <a:lnTo>
                      <a:pt x="18359" y="18135"/>
                    </a:lnTo>
                    <a:lnTo>
                      <a:pt x="18808" y="17988"/>
                    </a:lnTo>
                    <a:lnTo>
                      <a:pt x="19257" y="17824"/>
                    </a:lnTo>
                    <a:lnTo>
                      <a:pt x="19698" y="17643"/>
                    </a:lnTo>
                    <a:lnTo>
                      <a:pt x="20130" y="17444"/>
                    </a:lnTo>
                    <a:lnTo>
                      <a:pt x="20561" y="17237"/>
                    </a:lnTo>
                    <a:lnTo>
                      <a:pt x="20984" y="17012"/>
                    </a:lnTo>
                    <a:lnTo>
                      <a:pt x="21399" y="16770"/>
                    </a:lnTo>
                    <a:lnTo>
                      <a:pt x="14128" y="4655"/>
                    </a:lnTo>
                    <a:lnTo>
                      <a:pt x="786" y="0"/>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56"/>
              <p:cNvSpPr/>
              <p:nvPr/>
            </p:nvSpPr>
            <p:spPr>
              <a:xfrm>
                <a:off x="2987875" y="778275"/>
                <a:ext cx="353225" cy="301600"/>
              </a:xfrm>
              <a:custGeom>
                <a:rect b="b" l="l" r="r" t="t"/>
                <a:pathLst>
                  <a:path extrusionOk="0" h="12064" w="14129">
                    <a:moveTo>
                      <a:pt x="1" y="0"/>
                    </a:moveTo>
                    <a:lnTo>
                      <a:pt x="7367" y="12064"/>
                    </a:lnTo>
                    <a:lnTo>
                      <a:pt x="7747" y="11822"/>
                    </a:lnTo>
                    <a:lnTo>
                      <a:pt x="8118" y="11563"/>
                    </a:lnTo>
                    <a:lnTo>
                      <a:pt x="8490" y="11304"/>
                    </a:lnTo>
                    <a:lnTo>
                      <a:pt x="8844" y="11028"/>
                    </a:lnTo>
                    <a:lnTo>
                      <a:pt x="9189" y="10734"/>
                    </a:lnTo>
                    <a:lnTo>
                      <a:pt x="9526" y="10440"/>
                    </a:lnTo>
                    <a:lnTo>
                      <a:pt x="9854" y="10130"/>
                    </a:lnTo>
                    <a:lnTo>
                      <a:pt x="10174" y="9810"/>
                    </a:lnTo>
                    <a:lnTo>
                      <a:pt x="10484" y="9482"/>
                    </a:lnTo>
                    <a:lnTo>
                      <a:pt x="10778" y="9145"/>
                    </a:lnTo>
                    <a:lnTo>
                      <a:pt x="11063" y="8791"/>
                    </a:lnTo>
                    <a:lnTo>
                      <a:pt x="11339" y="8437"/>
                    </a:lnTo>
                    <a:lnTo>
                      <a:pt x="11598" y="8066"/>
                    </a:lnTo>
                    <a:lnTo>
                      <a:pt x="11857" y="7694"/>
                    </a:lnTo>
                    <a:lnTo>
                      <a:pt x="12091" y="7306"/>
                    </a:lnTo>
                    <a:lnTo>
                      <a:pt x="12324" y="6917"/>
                    </a:lnTo>
                    <a:lnTo>
                      <a:pt x="12540" y="6520"/>
                    </a:lnTo>
                    <a:lnTo>
                      <a:pt x="12738" y="6114"/>
                    </a:lnTo>
                    <a:lnTo>
                      <a:pt x="12928" y="5700"/>
                    </a:lnTo>
                    <a:lnTo>
                      <a:pt x="13101" y="5285"/>
                    </a:lnTo>
                    <a:lnTo>
                      <a:pt x="13265" y="4871"/>
                    </a:lnTo>
                    <a:lnTo>
                      <a:pt x="13412" y="4439"/>
                    </a:lnTo>
                    <a:lnTo>
                      <a:pt x="13550" y="4007"/>
                    </a:lnTo>
                    <a:lnTo>
                      <a:pt x="13671" y="3575"/>
                    </a:lnTo>
                    <a:lnTo>
                      <a:pt x="13775" y="3143"/>
                    </a:lnTo>
                    <a:lnTo>
                      <a:pt x="13870" y="2703"/>
                    </a:lnTo>
                    <a:lnTo>
                      <a:pt x="13947" y="2254"/>
                    </a:lnTo>
                    <a:lnTo>
                      <a:pt x="14016" y="1805"/>
                    </a:lnTo>
                    <a:lnTo>
                      <a:pt x="14068" y="1365"/>
                    </a:lnTo>
                    <a:lnTo>
                      <a:pt x="14103" y="907"/>
                    </a:lnTo>
                    <a:lnTo>
                      <a:pt x="14120" y="458"/>
                    </a:lnTo>
                    <a:lnTo>
                      <a:pt x="14129" y="0"/>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56"/>
              <p:cNvSpPr/>
              <p:nvPr/>
            </p:nvSpPr>
            <p:spPr>
              <a:xfrm>
                <a:off x="2989825" y="501275"/>
                <a:ext cx="353225" cy="260175"/>
              </a:xfrm>
              <a:custGeom>
                <a:rect b="b" l="l" r="r" t="t"/>
                <a:pathLst>
                  <a:path extrusionOk="0" h="10407" w="14129">
                    <a:moveTo>
                      <a:pt x="9569" y="1"/>
                    </a:moveTo>
                    <a:lnTo>
                      <a:pt x="1" y="10407"/>
                    </a:lnTo>
                    <a:lnTo>
                      <a:pt x="14128" y="10208"/>
                    </a:lnTo>
                    <a:lnTo>
                      <a:pt x="14120" y="9845"/>
                    </a:lnTo>
                    <a:lnTo>
                      <a:pt x="14102" y="9491"/>
                    </a:lnTo>
                    <a:lnTo>
                      <a:pt x="14077" y="9128"/>
                    </a:lnTo>
                    <a:lnTo>
                      <a:pt x="14042" y="8774"/>
                    </a:lnTo>
                    <a:lnTo>
                      <a:pt x="13990" y="8420"/>
                    </a:lnTo>
                    <a:lnTo>
                      <a:pt x="13938" y="8066"/>
                    </a:lnTo>
                    <a:lnTo>
                      <a:pt x="13878" y="7712"/>
                    </a:lnTo>
                    <a:lnTo>
                      <a:pt x="13800" y="7358"/>
                    </a:lnTo>
                    <a:lnTo>
                      <a:pt x="13722" y="7013"/>
                    </a:lnTo>
                    <a:lnTo>
                      <a:pt x="13627" y="6659"/>
                    </a:lnTo>
                    <a:lnTo>
                      <a:pt x="13532" y="6313"/>
                    </a:lnTo>
                    <a:lnTo>
                      <a:pt x="13420" y="5977"/>
                    </a:lnTo>
                    <a:lnTo>
                      <a:pt x="13308" y="5631"/>
                    </a:lnTo>
                    <a:lnTo>
                      <a:pt x="13178" y="5294"/>
                    </a:lnTo>
                    <a:lnTo>
                      <a:pt x="13040" y="4966"/>
                    </a:lnTo>
                    <a:lnTo>
                      <a:pt x="12902" y="4638"/>
                    </a:lnTo>
                    <a:lnTo>
                      <a:pt x="12747" y="4310"/>
                    </a:lnTo>
                    <a:lnTo>
                      <a:pt x="12591" y="3982"/>
                    </a:lnTo>
                    <a:lnTo>
                      <a:pt x="12427" y="3662"/>
                    </a:lnTo>
                    <a:lnTo>
                      <a:pt x="12246" y="3351"/>
                    </a:lnTo>
                    <a:lnTo>
                      <a:pt x="12064" y="3040"/>
                    </a:lnTo>
                    <a:lnTo>
                      <a:pt x="11874" y="2738"/>
                    </a:lnTo>
                    <a:lnTo>
                      <a:pt x="11676" y="2445"/>
                    </a:lnTo>
                    <a:lnTo>
                      <a:pt x="11469" y="2151"/>
                    </a:lnTo>
                    <a:lnTo>
                      <a:pt x="11253" y="1857"/>
                    </a:lnTo>
                    <a:lnTo>
                      <a:pt x="11037" y="1572"/>
                    </a:lnTo>
                    <a:lnTo>
                      <a:pt x="10812" y="1296"/>
                    </a:lnTo>
                    <a:lnTo>
                      <a:pt x="10570" y="1028"/>
                    </a:lnTo>
                    <a:lnTo>
                      <a:pt x="10329" y="761"/>
                    </a:lnTo>
                    <a:lnTo>
                      <a:pt x="10087" y="502"/>
                    </a:lnTo>
                    <a:lnTo>
                      <a:pt x="9828" y="251"/>
                    </a:lnTo>
                    <a:lnTo>
                      <a:pt x="9569" y="1"/>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56"/>
              <p:cNvSpPr/>
              <p:nvPr/>
            </p:nvSpPr>
            <p:spPr>
              <a:xfrm>
                <a:off x="3147000" y="1284100"/>
                <a:ext cx="2266850" cy="3420975"/>
              </a:xfrm>
              <a:custGeom>
                <a:rect b="b" l="l" r="r" t="t"/>
                <a:pathLst>
                  <a:path extrusionOk="0" h="136839" w="90674">
                    <a:moveTo>
                      <a:pt x="0" y="0"/>
                    </a:moveTo>
                    <a:lnTo>
                      <a:pt x="0" y="136839"/>
                    </a:lnTo>
                    <a:lnTo>
                      <a:pt x="90673" y="136839"/>
                    </a:lnTo>
                    <a:lnTo>
                      <a:pt x="90673"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56"/>
              <p:cNvSpPr/>
              <p:nvPr/>
            </p:nvSpPr>
            <p:spPr>
              <a:xfrm>
                <a:off x="3859200" y="2931975"/>
                <a:ext cx="161300" cy="679000"/>
              </a:xfrm>
              <a:custGeom>
                <a:rect b="b" l="l" r="r" t="t"/>
                <a:pathLst>
                  <a:path extrusionOk="0" h="27160" w="6452">
                    <a:moveTo>
                      <a:pt x="1" y="0"/>
                    </a:moveTo>
                    <a:lnTo>
                      <a:pt x="1" y="27159"/>
                    </a:lnTo>
                    <a:lnTo>
                      <a:pt x="6452" y="27159"/>
                    </a:lnTo>
                    <a:lnTo>
                      <a:pt x="6452" y="0"/>
                    </a:lnTo>
                    <a:close/>
                  </a:path>
                </a:pathLst>
              </a:custGeom>
              <a:solidFill>
                <a:srgbClr val="155F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56"/>
              <p:cNvSpPr/>
              <p:nvPr/>
            </p:nvSpPr>
            <p:spPr>
              <a:xfrm>
                <a:off x="4552000" y="2599725"/>
                <a:ext cx="161075" cy="1011250"/>
              </a:xfrm>
              <a:custGeom>
                <a:rect b="b" l="l" r="r" t="t"/>
                <a:pathLst>
                  <a:path extrusionOk="0" h="40450" w="6443">
                    <a:moveTo>
                      <a:pt x="0" y="0"/>
                    </a:moveTo>
                    <a:lnTo>
                      <a:pt x="0" y="40449"/>
                    </a:lnTo>
                    <a:lnTo>
                      <a:pt x="6442" y="40449"/>
                    </a:lnTo>
                    <a:lnTo>
                      <a:pt x="6442"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6"/>
              <p:cNvSpPr/>
              <p:nvPr/>
            </p:nvSpPr>
            <p:spPr>
              <a:xfrm>
                <a:off x="4898275" y="2141375"/>
                <a:ext cx="161300" cy="1469600"/>
              </a:xfrm>
              <a:custGeom>
                <a:rect b="b" l="l" r="r" t="t"/>
                <a:pathLst>
                  <a:path extrusionOk="0" h="58784" w="6452">
                    <a:moveTo>
                      <a:pt x="1" y="1"/>
                    </a:moveTo>
                    <a:lnTo>
                      <a:pt x="1" y="58783"/>
                    </a:lnTo>
                    <a:lnTo>
                      <a:pt x="6451" y="58783"/>
                    </a:lnTo>
                    <a:lnTo>
                      <a:pt x="6451" y="1"/>
                    </a:lnTo>
                    <a:close/>
                  </a:path>
                </a:pathLst>
              </a:custGeom>
              <a:solidFill>
                <a:srgbClr val="8888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56"/>
              <p:cNvSpPr/>
              <p:nvPr/>
            </p:nvSpPr>
            <p:spPr>
              <a:xfrm>
                <a:off x="3483125" y="2127350"/>
                <a:ext cx="1278525" cy="755425"/>
              </a:xfrm>
              <a:custGeom>
                <a:rect b="b" l="l" r="r" t="t"/>
                <a:pathLst>
                  <a:path extrusionOk="0" h="30217" w="51141">
                    <a:moveTo>
                      <a:pt x="50925" y="1"/>
                    </a:moveTo>
                    <a:lnTo>
                      <a:pt x="50881" y="9"/>
                    </a:lnTo>
                    <a:lnTo>
                      <a:pt x="50847" y="18"/>
                    </a:lnTo>
                    <a:lnTo>
                      <a:pt x="50812" y="44"/>
                    </a:lnTo>
                    <a:lnTo>
                      <a:pt x="50786" y="70"/>
                    </a:lnTo>
                    <a:lnTo>
                      <a:pt x="50208" y="691"/>
                    </a:lnTo>
                    <a:lnTo>
                      <a:pt x="49621" y="1322"/>
                    </a:lnTo>
                    <a:lnTo>
                      <a:pt x="49007" y="1944"/>
                    </a:lnTo>
                    <a:lnTo>
                      <a:pt x="48386" y="2565"/>
                    </a:lnTo>
                    <a:lnTo>
                      <a:pt x="47738" y="3187"/>
                    </a:lnTo>
                    <a:lnTo>
                      <a:pt x="47073" y="3809"/>
                    </a:lnTo>
                    <a:lnTo>
                      <a:pt x="46400" y="4431"/>
                    </a:lnTo>
                    <a:lnTo>
                      <a:pt x="45700" y="5044"/>
                    </a:lnTo>
                    <a:lnTo>
                      <a:pt x="44992" y="5657"/>
                    </a:lnTo>
                    <a:lnTo>
                      <a:pt x="44267" y="6270"/>
                    </a:lnTo>
                    <a:lnTo>
                      <a:pt x="43533" y="6874"/>
                    </a:lnTo>
                    <a:lnTo>
                      <a:pt x="42781" y="7488"/>
                    </a:lnTo>
                    <a:lnTo>
                      <a:pt x="42013" y="8083"/>
                    </a:lnTo>
                    <a:lnTo>
                      <a:pt x="41235" y="8688"/>
                    </a:lnTo>
                    <a:lnTo>
                      <a:pt x="40450" y="9284"/>
                    </a:lnTo>
                    <a:lnTo>
                      <a:pt x="39655" y="9871"/>
                    </a:lnTo>
                    <a:lnTo>
                      <a:pt x="38843" y="10467"/>
                    </a:lnTo>
                    <a:lnTo>
                      <a:pt x="38023" y="11045"/>
                    </a:lnTo>
                    <a:lnTo>
                      <a:pt x="37194" y="11624"/>
                    </a:lnTo>
                    <a:lnTo>
                      <a:pt x="36356" y="12203"/>
                    </a:lnTo>
                    <a:lnTo>
                      <a:pt x="35519" y="12773"/>
                    </a:lnTo>
                    <a:lnTo>
                      <a:pt x="34664" y="13343"/>
                    </a:lnTo>
                    <a:lnTo>
                      <a:pt x="33800" y="13895"/>
                    </a:lnTo>
                    <a:lnTo>
                      <a:pt x="32937" y="14457"/>
                    </a:lnTo>
                    <a:lnTo>
                      <a:pt x="32073" y="15001"/>
                    </a:lnTo>
                    <a:lnTo>
                      <a:pt x="31192" y="15545"/>
                    </a:lnTo>
                    <a:lnTo>
                      <a:pt x="30312" y="16080"/>
                    </a:lnTo>
                    <a:lnTo>
                      <a:pt x="29431" y="16615"/>
                    </a:lnTo>
                    <a:lnTo>
                      <a:pt x="28541" y="17142"/>
                    </a:lnTo>
                    <a:lnTo>
                      <a:pt x="27652" y="17660"/>
                    </a:lnTo>
                    <a:lnTo>
                      <a:pt x="26762" y="18170"/>
                    </a:lnTo>
                    <a:lnTo>
                      <a:pt x="25873" y="18671"/>
                    </a:lnTo>
                    <a:lnTo>
                      <a:pt x="24975" y="19172"/>
                    </a:lnTo>
                    <a:lnTo>
                      <a:pt x="24085" y="19664"/>
                    </a:lnTo>
                    <a:lnTo>
                      <a:pt x="23187" y="20139"/>
                    </a:lnTo>
                    <a:lnTo>
                      <a:pt x="22298" y="20614"/>
                    </a:lnTo>
                    <a:lnTo>
                      <a:pt x="21408" y="21080"/>
                    </a:lnTo>
                    <a:lnTo>
                      <a:pt x="20519" y="21538"/>
                    </a:lnTo>
                    <a:lnTo>
                      <a:pt x="19638" y="21987"/>
                    </a:lnTo>
                    <a:lnTo>
                      <a:pt x="18749" y="22427"/>
                    </a:lnTo>
                    <a:lnTo>
                      <a:pt x="17876" y="22859"/>
                    </a:lnTo>
                    <a:lnTo>
                      <a:pt x="17004" y="23282"/>
                    </a:lnTo>
                    <a:lnTo>
                      <a:pt x="16132" y="23697"/>
                    </a:lnTo>
                    <a:lnTo>
                      <a:pt x="15268" y="24094"/>
                    </a:lnTo>
                    <a:lnTo>
                      <a:pt x="14414" y="24491"/>
                    </a:lnTo>
                    <a:lnTo>
                      <a:pt x="13567" y="24871"/>
                    </a:lnTo>
                    <a:lnTo>
                      <a:pt x="12721" y="25242"/>
                    </a:lnTo>
                    <a:lnTo>
                      <a:pt x="11892" y="25605"/>
                    </a:lnTo>
                    <a:lnTo>
                      <a:pt x="11063" y="25959"/>
                    </a:lnTo>
                    <a:lnTo>
                      <a:pt x="10251" y="26296"/>
                    </a:lnTo>
                    <a:lnTo>
                      <a:pt x="9439" y="26633"/>
                    </a:lnTo>
                    <a:lnTo>
                      <a:pt x="8645" y="26952"/>
                    </a:lnTo>
                    <a:lnTo>
                      <a:pt x="7868" y="27254"/>
                    </a:lnTo>
                    <a:lnTo>
                      <a:pt x="7091" y="27548"/>
                    </a:lnTo>
                    <a:lnTo>
                      <a:pt x="6331" y="27833"/>
                    </a:lnTo>
                    <a:lnTo>
                      <a:pt x="5588" y="28109"/>
                    </a:lnTo>
                    <a:lnTo>
                      <a:pt x="4854" y="28368"/>
                    </a:lnTo>
                    <a:lnTo>
                      <a:pt x="4137" y="28610"/>
                    </a:lnTo>
                    <a:lnTo>
                      <a:pt x="3429" y="28843"/>
                    </a:lnTo>
                    <a:lnTo>
                      <a:pt x="2747" y="29068"/>
                    </a:lnTo>
                    <a:lnTo>
                      <a:pt x="2073" y="29275"/>
                    </a:lnTo>
                    <a:lnTo>
                      <a:pt x="1417" y="29465"/>
                    </a:lnTo>
                    <a:lnTo>
                      <a:pt x="778" y="29646"/>
                    </a:lnTo>
                    <a:lnTo>
                      <a:pt x="156" y="29819"/>
                    </a:lnTo>
                    <a:lnTo>
                      <a:pt x="113" y="29828"/>
                    </a:lnTo>
                    <a:lnTo>
                      <a:pt x="79" y="29854"/>
                    </a:lnTo>
                    <a:lnTo>
                      <a:pt x="53" y="29880"/>
                    </a:lnTo>
                    <a:lnTo>
                      <a:pt x="27" y="29914"/>
                    </a:lnTo>
                    <a:lnTo>
                      <a:pt x="9" y="29949"/>
                    </a:lnTo>
                    <a:lnTo>
                      <a:pt x="1" y="29983"/>
                    </a:lnTo>
                    <a:lnTo>
                      <a:pt x="1" y="30026"/>
                    </a:lnTo>
                    <a:lnTo>
                      <a:pt x="9" y="30070"/>
                    </a:lnTo>
                    <a:lnTo>
                      <a:pt x="18" y="30104"/>
                    </a:lnTo>
                    <a:lnTo>
                      <a:pt x="35" y="30130"/>
                    </a:lnTo>
                    <a:lnTo>
                      <a:pt x="53" y="30156"/>
                    </a:lnTo>
                    <a:lnTo>
                      <a:pt x="79" y="30182"/>
                    </a:lnTo>
                    <a:lnTo>
                      <a:pt x="104" y="30199"/>
                    </a:lnTo>
                    <a:lnTo>
                      <a:pt x="139" y="30208"/>
                    </a:lnTo>
                    <a:lnTo>
                      <a:pt x="174" y="30216"/>
                    </a:lnTo>
                    <a:lnTo>
                      <a:pt x="260" y="30216"/>
                    </a:lnTo>
                    <a:lnTo>
                      <a:pt x="882" y="30044"/>
                    </a:lnTo>
                    <a:lnTo>
                      <a:pt x="1521" y="29862"/>
                    </a:lnTo>
                    <a:lnTo>
                      <a:pt x="2177" y="29672"/>
                    </a:lnTo>
                    <a:lnTo>
                      <a:pt x="2859" y="29456"/>
                    </a:lnTo>
                    <a:lnTo>
                      <a:pt x="3550" y="29241"/>
                    </a:lnTo>
                    <a:lnTo>
                      <a:pt x="4258" y="29007"/>
                    </a:lnTo>
                    <a:lnTo>
                      <a:pt x="4975" y="28757"/>
                    </a:lnTo>
                    <a:lnTo>
                      <a:pt x="5709" y="28498"/>
                    </a:lnTo>
                    <a:lnTo>
                      <a:pt x="6460" y="28222"/>
                    </a:lnTo>
                    <a:lnTo>
                      <a:pt x="7220" y="27937"/>
                    </a:lnTo>
                    <a:lnTo>
                      <a:pt x="7997" y="27643"/>
                    </a:lnTo>
                    <a:lnTo>
                      <a:pt x="8783" y="27332"/>
                    </a:lnTo>
                    <a:lnTo>
                      <a:pt x="9586" y="27013"/>
                    </a:lnTo>
                    <a:lnTo>
                      <a:pt x="10389" y="26684"/>
                    </a:lnTo>
                    <a:lnTo>
                      <a:pt x="11210" y="26339"/>
                    </a:lnTo>
                    <a:lnTo>
                      <a:pt x="12039" y="25985"/>
                    </a:lnTo>
                    <a:lnTo>
                      <a:pt x="12876" y="25622"/>
                    </a:lnTo>
                    <a:lnTo>
                      <a:pt x="13723" y="25251"/>
                    </a:lnTo>
                    <a:lnTo>
                      <a:pt x="14569" y="24862"/>
                    </a:lnTo>
                    <a:lnTo>
                      <a:pt x="15433" y="24465"/>
                    </a:lnTo>
                    <a:lnTo>
                      <a:pt x="16296" y="24068"/>
                    </a:lnTo>
                    <a:lnTo>
                      <a:pt x="17168" y="23653"/>
                    </a:lnTo>
                    <a:lnTo>
                      <a:pt x="18049" y="23230"/>
                    </a:lnTo>
                    <a:lnTo>
                      <a:pt x="18930" y="22798"/>
                    </a:lnTo>
                    <a:lnTo>
                      <a:pt x="19811" y="22349"/>
                    </a:lnTo>
                    <a:lnTo>
                      <a:pt x="20700" y="21900"/>
                    </a:lnTo>
                    <a:lnTo>
                      <a:pt x="21598" y="21443"/>
                    </a:lnTo>
                    <a:lnTo>
                      <a:pt x="22488" y="20976"/>
                    </a:lnTo>
                    <a:lnTo>
                      <a:pt x="23386" y="20501"/>
                    </a:lnTo>
                    <a:lnTo>
                      <a:pt x="24284" y="20018"/>
                    </a:lnTo>
                    <a:lnTo>
                      <a:pt x="25182" y="19526"/>
                    </a:lnTo>
                    <a:lnTo>
                      <a:pt x="26071" y="19025"/>
                    </a:lnTo>
                    <a:lnTo>
                      <a:pt x="26970" y="18515"/>
                    </a:lnTo>
                    <a:lnTo>
                      <a:pt x="27868" y="18006"/>
                    </a:lnTo>
                    <a:lnTo>
                      <a:pt x="28757" y="17488"/>
                    </a:lnTo>
                    <a:lnTo>
                      <a:pt x="29647" y="16961"/>
                    </a:lnTo>
                    <a:lnTo>
                      <a:pt x="30536" y="16425"/>
                    </a:lnTo>
                    <a:lnTo>
                      <a:pt x="31417" y="15881"/>
                    </a:lnTo>
                    <a:lnTo>
                      <a:pt x="32298" y="15337"/>
                    </a:lnTo>
                    <a:lnTo>
                      <a:pt x="33170" y="14785"/>
                    </a:lnTo>
                    <a:lnTo>
                      <a:pt x="34042" y="14232"/>
                    </a:lnTo>
                    <a:lnTo>
                      <a:pt x="34906" y="13671"/>
                    </a:lnTo>
                    <a:lnTo>
                      <a:pt x="35761" y="13101"/>
                    </a:lnTo>
                    <a:lnTo>
                      <a:pt x="36607" y="12531"/>
                    </a:lnTo>
                    <a:lnTo>
                      <a:pt x="37444" y="11952"/>
                    </a:lnTo>
                    <a:lnTo>
                      <a:pt x="38274" y="11365"/>
                    </a:lnTo>
                    <a:lnTo>
                      <a:pt x="39094" y="10778"/>
                    </a:lnTo>
                    <a:lnTo>
                      <a:pt x="39914" y="10191"/>
                    </a:lnTo>
                    <a:lnTo>
                      <a:pt x="40709" y="9595"/>
                    </a:lnTo>
                    <a:lnTo>
                      <a:pt x="41503" y="8999"/>
                    </a:lnTo>
                    <a:lnTo>
                      <a:pt x="42280" y="8394"/>
                    </a:lnTo>
                    <a:lnTo>
                      <a:pt x="43049" y="7790"/>
                    </a:lnTo>
                    <a:lnTo>
                      <a:pt x="43800" y="7177"/>
                    </a:lnTo>
                    <a:lnTo>
                      <a:pt x="44543" y="6572"/>
                    </a:lnTo>
                    <a:lnTo>
                      <a:pt x="45268" y="5959"/>
                    </a:lnTo>
                    <a:lnTo>
                      <a:pt x="45985" y="5337"/>
                    </a:lnTo>
                    <a:lnTo>
                      <a:pt x="46685" y="4724"/>
                    </a:lnTo>
                    <a:lnTo>
                      <a:pt x="47367" y="4102"/>
                    </a:lnTo>
                    <a:lnTo>
                      <a:pt x="48032" y="3481"/>
                    </a:lnTo>
                    <a:lnTo>
                      <a:pt x="48679" y="2850"/>
                    </a:lnTo>
                    <a:lnTo>
                      <a:pt x="49310" y="2229"/>
                    </a:lnTo>
                    <a:lnTo>
                      <a:pt x="49923" y="1598"/>
                    </a:lnTo>
                    <a:lnTo>
                      <a:pt x="50510" y="968"/>
                    </a:lnTo>
                    <a:lnTo>
                      <a:pt x="51089" y="346"/>
                    </a:lnTo>
                    <a:lnTo>
                      <a:pt x="51115" y="311"/>
                    </a:lnTo>
                    <a:lnTo>
                      <a:pt x="51132" y="277"/>
                    </a:lnTo>
                    <a:lnTo>
                      <a:pt x="51140" y="234"/>
                    </a:lnTo>
                    <a:lnTo>
                      <a:pt x="51140" y="191"/>
                    </a:lnTo>
                    <a:lnTo>
                      <a:pt x="51132" y="156"/>
                    </a:lnTo>
                    <a:lnTo>
                      <a:pt x="51123" y="122"/>
                    </a:lnTo>
                    <a:lnTo>
                      <a:pt x="51097" y="87"/>
                    </a:lnTo>
                    <a:lnTo>
                      <a:pt x="51071" y="52"/>
                    </a:lnTo>
                    <a:lnTo>
                      <a:pt x="51037" y="27"/>
                    </a:lnTo>
                    <a:lnTo>
                      <a:pt x="51002" y="9"/>
                    </a:lnTo>
                    <a:lnTo>
                      <a:pt x="50959"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56"/>
              <p:cNvSpPr/>
              <p:nvPr/>
            </p:nvSpPr>
            <p:spPr>
              <a:xfrm>
                <a:off x="4730975" y="2105775"/>
                <a:ext cx="48800" cy="50750"/>
              </a:xfrm>
              <a:custGeom>
                <a:rect b="b" l="l" r="r" t="t"/>
                <a:pathLst>
                  <a:path extrusionOk="0" h="2030" w="1952">
                    <a:moveTo>
                      <a:pt x="1952" y="0"/>
                    </a:moveTo>
                    <a:lnTo>
                      <a:pt x="0" y="933"/>
                    </a:lnTo>
                    <a:lnTo>
                      <a:pt x="924" y="1131"/>
                    </a:lnTo>
                    <a:lnTo>
                      <a:pt x="1218" y="2029"/>
                    </a:lnTo>
                    <a:lnTo>
                      <a:pt x="1952" y="0"/>
                    </a:lnTo>
                    <a:close/>
                  </a:path>
                </a:pathLst>
              </a:custGeom>
              <a:solidFill>
                <a:srgbClr val="3338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56"/>
              <p:cNvSpPr/>
              <p:nvPr/>
            </p:nvSpPr>
            <p:spPr>
              <a:xfrm>
                <a:off x="4205500" y="2784075"/>
                <a:ext cx="161300" cy="826900"/>
              </a:xfrm>
              <a:custGeom>
                <a:rect b="b" l="l" r="r" t="t"/>
                <a:pathLst>
                  <a:path extrusionOk="0" h="33076" w="6452">
                    <a:moveTo>
                      <a:pt x="0" y="1"/>
                    </a:moveTo>
                    <a:lnTo>
                      <a:pt x="0" y="33075"/>
                    </a:lnTo>
                    <a:lnTo>
                      <a:pt x="6451" y="33075"/>
                    </a:lnTo>
                    <a:lnTo>
                      <a:pt x="6451" y="1"/>
                    </a:lnTo>
                    <a:close/>
                  </a:path>
                </a:pathLst>
              </a:custGeom>
              <a:solidFill>
                <a:srgbClr val="2A8B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56"/>
              <p:cNvSpPr/>
              <p:nvPr/>
            </p:nvSpPr>
            <p:spPr>
              <a:xfrm>
                <a:off x="3512925" y="3010550"/>
                <a:ext cx="161075" cy="600425"/>
              </a:xfrm>
              <a:custGeom>
                <a:rect b="b" l="l" r="r" t="t"/>
                <a:pathLst>
                  <a:path extrusionOk="0" h="24017" w="6443">
                    <a:moveTo>
                      <a:pt x="1" y="1"/>
                    </a:moveTo>
                    <a:lnTo>
                      <a:pt x="1" y="24016"/>
                    </a:lnTo>
                    <a:lnTo>
                      <a:pt x="6443" y="24016"/>
                    </a:lnTo>
                    <a:lnTo>
                      <a:pt x="6443" y="1"/>
                    </a:lnTo>
                    <a:close/>
                  </a:path>
                </a:pathLst>
              </a:custGeom>
              <a:solidFill>
                <a:srgbClr val="1642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56"/>
              <p:cNvSpPr/>
              <p:nvPr/>
            </p:nvSpPr>
            <p:spPr>
              <a:xfrm>
                <a:off x="3373900" y="2063025"/>
                <a:ext cx="1835500" cy="1553125"/>
              </a:xfrm>
              <a:custGeom>
                <a:rect b="b" l="l" r="r" t="t"/>
                <a:pathLst>
                  <a:path extrusionOk="0" h="62125" w="73420">
                    <a:moveTo>
                      <a:pt x="164" y="0"/>
                    </a:moveTo>
                    <a:lnTo>
                      <a:pt x="130" y="9"/>
                    </a:lnTo>
                    <a:lnTo>
                      <a:pt x="95" y="35"/>
                    </a:lnTo>
                    <a:lnTo>
                      <a:pt x="61" y="61"/>
                    </a:lnTo>
                    <a:lnTo>
                      <a:pt x="35" y="87"/>
                    </a:lnTo>
                    <a:lnTo>
                      <a:pt x="17" y="121"/>
                    </a:lnTo>
                    <a:lnTo>
                      <a:pt x="9" y="164"/>
                    </a:lnTo>
                    <a:lnTo>
                      <a:pt x="0" y="199"/>
                    </a:lnTo>
                    <a:lnTo>
                      <a:pt x="0" y="62124"/>
                    </a:lnTo>
                    <a:lnTo>
                      <a:pt x="73255" y="62124"/>
                    </a:lnTo>
                    <a:lnTo>
                      <a:pt x="73299" y="62107"/>
                    </a:lnTo>
                    <a:lnTo>
                      <a:pt x="73333" y="62090"/>
                    </a:lnTo>
                    <a:lnTo>
                      <a:pt x="73359" y="62064"/>
                    </a:lnTo>
                    <a:lnTo>
                      <a:pt x="73385" y="62038"/>
                    </a:lnTo>
                    <a:lnTo>
                      <a:pt x="73402" y="62003"/>
                    </a:lnTo>
                    <a:lnTo>
                      <a:pt x="73420" y="61960"/>
                    </a:lnTo>
                    <a:lnTo>
                      <a:pt x="73420" y="61917"/>
                    </a:lnTo>
                    <a:lnTo>
                      <a:pt x="73420" y="61882"/>
                    </a:lnTo>
                    <a:lnTo>
                      <a:pt x="73402" y="61839"/>
                    </a:lnTo>
                    <a:lnTo>
                      <a:pt x="73385" y="61805"/>
                    </a:lnTo>
                    <a:lnTo>
                      <a:pt x="73359" y="61779"/>
                    </a:lnTo>
                    <a:lnTo>
                      <a:pt x="73333" y="61753"/>
                    </a:lnTo>
                    <a:lnTo>
                      <a:pt x="73299" y="61727"/>
                    </a:lnTo>
                    <a:lnTo>
                      <a:pt x="73255" y="61718"/>
                    </a:lnTo>
                    <a:lnTo>
                      <a:pt x="415" y="61718"/>
                    </a:lnTo>
                    <a:lnTo>
                      <a:pt x="415" y="199"/>
                    </a:lnTo>
                    <a:lnTo>
                      <a:pt x="406" y="164"/>
                    </a:lnTo>
                    <a:lnTo>
                      <a:pt x="397" y="121"/>
                    </a:lnTo>
                    <a:lnTo>
                      <a:pt x="380" y="87"/>
                    </a:lnTo>
                    <a:lnTo>
                      <a:pt x="354" y="61"/>
                    </a:lnTo>
                    <a:lnTo>
                      <a:pt x="320" y="35"/>
                    </a:lnTo>
                    <a:lnTo>
                      <a:pt x="285" y="9"/>
                    </a:lnTo>
                    <a:lnTo>
                      <a:pt x="251"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6"/>
              <p:cNvSpPr/>
              <p:nvPr/>
            </p:nvSpPr>
            <p:spPr>
              <a:xfrm>
                <a:off x="3379300" y="1524600"/>
                <a:ext cx="1847375" cy="111200"/>
              </a:xfrm>
              <a:custGeom>
                <a:rect b="b" l="l" r="r" t="t"/>
                <a:pathLst>
                  <a:path extrusionOk="0" h="4448" w="73895">
                    <a:moveTo>
                      <a:pt x="0" y="0"/>
                    </a:moveTo>
                    <a:lnTo>
                      <a:pt x="0" y="4447"/>
                    </a:lnTo>
                    <a:lnTo>
                      <a:pt x="73894" y="4447"/>
                    </a:lnTo>
                    <a:lnTo>
                      <a:pt x="73894"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6"/>
              <p:cNvSpPr/>
              <p:nvPr/>
            </p:nvSpPr>
            <p:spPr>
              <a:xfrm>
                <a:off x="3769825" y="1704425"/>
                <a:ext cx="1066300" cy="111200"/>
              </a:xfrm>
              <a:custGeom>
                <a:rect b="b" l="l" r="r" t="t"/>
                <a:pathLst>
                  <a:path extrusionOk="0" h="4448" w="42652">
                    <a:moveTo>
                      <a:pt x="1" y="1"/>
                    </a:moveTo>
                    <a:lnTo>
                      <a:pt x="1" y="4448"/>
                    </a:lnTo>
                    <a:lnTo>
                      <a:pt x="42652" y="4448"/>
                    </a:lnTo>
                    <a:lnTo>
                      <a:pt x="42652"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6"/>
              <p:cNvSpPr/>
              <p:nvPr/>
            </p:nvSpPr>
            <p:spPr>
              <a:xfrm>
                <a:off x="3379075" y="3753650"/>
                <a:ext cx="1848025" cy="102350"/>
              </a:xfrm>
              <a:custGeom>
                <a:rect b="b" l="l" r="r" t="t"/>
                <a:pathLst>
                  <a:path extrusionOk="0" h="4094" w="73921">
                    <a:moveTo>
                      <a:pt x="0" y="0"/>
                    </a:moveTo>
                    <a:lnTo>
                      <a:pt x="0" y="4093"/>
                    </a:lnTo>
                    <a:lnTo>
                      <a:pt x="73921" y="4093"/>
                    </a:lnTo>
                    <a:lnTo>
                      <a:pt x="73921"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6"/>
              <p:cNvSpPr/>
              <p:nvPr/>
            </p:nvSpPr>
            <p:spPr>
              <a:xfrm>
                <a:off x="3379075" y="3941250"/>
                <a:ext cx="1848025" cy="102350"/>
              </a:xfrm>
              <a:custGeom>
                <a:rect b="b" l="l" r="r" t="t"/>
                <a:pathLst>
                  <a:path extrusionOk="0" h="4094" w="73921">
                    <a:moveTo>
                      <a:pt x="0" y="0"/>
                    </a:moveTo>
                    <a:lnTo>
                      <a:pt x="0" y="4094"/>
                    </a:lnTo>
                    <a:lnTo>
                      <a:pt x="73921" y="4094"/>
                    </a:lnTo>
                    <a:lnTo>
                      <a:pt x="73921" y="0"/>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6"/>
              <p:cNvSpPr/>
              <p:nvPr/>
            </p:nvSpPr>
            <p:spPr>
              <a:xfrm>
                <a:off x="3379075" y="4128850"/>
                <a:ext cx="1848025" cy="102150"/>
              </a:xfrm>
              <a:custGeom>
                <a:rect b="b" l="l" r="r" t="t"/>
                <a:pathLst>
                  <a:path extrusionOk="0" h="4086" w="73921">
                    <a:moveTo>
                      <a:pt x="0" y="1"/>
                    </a:moveTo>
                    <a:lnTo>
                      <a:pt x="0" y="4085"/>
                    </a:lnTo>
                    <a:lnTo>
                      <a:pt x="73921" y="4085"/>
                    </a:lnTo>
                    <a:lnTo>
                      <a:pt x="73921"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6"/>
              <p:cNvSpPr/>
              <p:nvPr/>
            </p:nvSpPr>
            <p:spPr>
              <a:xfrm>
                <a:off x="3379075" y="4331350"/>
                <a:ext cx="820625" cy="102375"/>
              </a:xfrm>
              <a:custGeom>
                <a:rect b="b" l="l" r="r" t="t"/>
                <a:pathLst>
                  <a:path extrusionOk="0" h="4095" w="32825">
                    <a:moveTo>
                      <a:pt x="0" y="1"/>
                    </a:moveTo>
                    <a:lnTo>
                      <a:pt x="0" y="4094"/>
                    </a:lnTo>
                    <a:lnTo>
                      <a:pt x="32824" y="4094"/>
                    </a:lnTo>
                    <a:lnTo>
                      <a:pt x="32824"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24" name="Google Shape;424;p56"/>
          <p:cNvSpPr txBox="1"/>
          <p:nvPr/>
        </p:nvSpPr>
        <p:spPr>
          <a:xfrm>
            <a:off x="508050" y="4851925"/>
            <a:ext cx="6540600" cy="34275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Plan of Action: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This project focuses on analyzing customer behavior in retail using machine learning and data analytics. The process will take place in several key stages:</a:t>
            </a:r>
            <a:endParaRPr b="0" i="0" sz="1200" u="none" cap="none" strike="noStrike">
              <a:solidFill>
                <a:srgbClr val="272727"/>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rgbClr val="272727"/>
              </a:buClr>
              <a:buSzPts val="1200"/>
              <a:buFont typeface="Didact Gothic"/>
              <a:buChar char="●"/>
            </a:pPr>
            <a:r>
              <a:rPr b="1" i="0" lang="en-US" sz="1200" u="none" cap="none" strike="noStrike">
                <a:solidFill>
                  <a:srgbClr val="272727"/>
                </a:solidFill>
                <a:latin typeface="Didact Gothic"/>
                <a:ea typeface="Didact Gothic"/>
                <a:cs typeface="Didact Gothic"/>
                <a:sym typeface="Didact Gothic"/>
              </a:rPr>
              <a:t>Exploratory Data Analysis and Data Cleaning:</a:t>
            </a:r>
            <a:r>
              <a:rPr b="0" i="0" lang="en-US" sz="1200" u="none" cap="none" strike="noStrike">
                <a:solidFill>
                  <a:srgbClr val="272727"/>
                </a:solidFill>
                <a:latin typeface="Didact Gothic"/>
                <a:ea typeface="Didact Gothic"/>
                <a:cs typeface="Didact Gothic"/>
                <a:sym typeface="Didact Gothic"/>
              </a:rPr>
              <a:t> First, we will explore the dataset and prepare it for further use based on our needs and observations.</a:t>
            </a:r>
            <a:endParaRPr b="0" i="0" sz="1200" u="none" cap="none" strike="noStrike">
              <a:solidFill>
                <a:srgbClr val="272727"/>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rgbClr val="272727"/>
              </a:buClr>
              <a:buSzPts val="1200"/>
              <a:buFont typeface="Didact Gothic"/>
              <a:buChar char="●"/>
            </a:pPr>
            <a:r>
              <a:rPr b="1" i="0" lang="en-US" sz="1200" u="none" cap="none" strike="noStrike">
                <a:solidFill>
                  <a:srgbClr val="272727"/>
                </a:solidFill>
                <a:latin typeface="Didact Gothic"/>
                <a:ea typeface="Didact Gothic"/>
                <a:cs typeface="Didact Gothic"/>
                <a:sym typeface="Didact Gothic"/>
              </a:rPr>
              <a:t>Customer Metric Calculation:</a:t>
            </a:r>
            <a:r>
              <a:rPr b="0" i="0" lang="en-US" sz="1200" u="none" cap="none" strike="noStrike">
                <a:solidFill>
                  <a:srgbClr val="272727"/>
                </a:solidFill>
                <a:latin typeface="Didact Gothic"/>
                <a:ea typeface="Didact Gothic"/>
                <a:cs typeface="Didact Gothic"/>
                <a:sym typeface="Didact Gothic"/>
              </a:rPr>
              <a:t> We will calculate important metrics such as recency, frequency, and monetary value (RFM) to understand customer behavior and identify high-value customers.</a:t>
            </a:r>
            <a:endParaRPr b="0" i="0" sz="1200" u="none" cap="none" strike="noStrike">
              <a:solidFill>
                <a:srgbClr val="272727"/>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rgbClr val="272727"/>
              </a:buClr>
              <a:buSzPts val="1200"/>
              <a:buFont typeface="Didact Gothic"/>
              <a:buChar char="●"/>
            </a:pPr>
            <a:r>
              <a:rPr b="1" i="0" lang="en-US" sz="1200" u="none" cap="none" strike="noStrike">
                <a:solidFill>
                  <a:srgbClr val="272727"/>
                </a:solidFill>
                <a:latin typeface="Didact Gothic"/>
                <a:ea typeface="Didact Gothic"/>
                <a:cs typeface="Didact Gothic"/>
                <a:sym typeface="Didact Gothic"/>
              </a:rPr>
              <a:t>Clustering and Segmentation: </a:t>
            </a:r>
            <a:r>
              <a:rPr b="0" i="0" lang="en-US" sz="1200" u="none" cap="none" strike="noStrike">
                <a:solidFill>
                  <a:srgbClr val="272727"/>
                </a:solidFill>
                <a:latin typeface="Didact Gothic"/>
                <a:ea typeface="Didact Gothic"/>
                <a:cs typeface="Didact Gothic"/>
                <a:sym typeface="Didact Gothic"/>
              </a:rPr>
              <a:t>Using clustering algorithms (such as k-means), we will group customers based on their RFM scores to explore and segment customer profiles. </a:t>
            </a:r>
            <a:endParaRPr b="0" i="0" sz="1200" u="none" cap="none" strike="noStrike">
              <a:solidFill>
                <a:srgbClr val="272727"/>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rgbClr val="272727"/>
              </a:buClr>
              <a:buSzPts val="1200"/>
              <a:buFont typeface="Didact Gothic"/>
              <a:buChar char="●"/>
            </a:pPr>
            <a:r>
              <a:rPr b="1" i="0" lang="en-US" sz="1200" u="none" cap="none" strike="noStrike">
                <a:solidFill>
                  <a:srgbClr val="272727"/>
                </a:solidFill>
                <a:latin typeface="Didact Gothic"/>
                <a:ea typeface="Didact Gothic"/>
                <a:cs typeface="Didact Gothic"/>
                <a:sym typeface="Didact Gothic"/>
              </a:rPr>
              <a:t>Explainable AI:</a:t>
            </a:r>
            <a:r>
              <a:rPr b="0" i="0" lang="en-US" sz="1200" u="none" cap="none" strike="noStrike">
                <a:solidFill>
                  <a:srgbClr val="272727"/>
                </a:solidFill>
                <a:latin typeface="Didact Gothic"/>
                <a:ea typeface="Didact Gothic"/>
                <a:cs typeface="Didact Gothic"/>
                <a:sym typeface="Didact Gothic"/>
              </a:rPr>
              <a:t> To improve transparency, we will integrate explainable AI capabilities, helping users understand the logic behind recommendations.</a:t>
            </a:r>
            <a:endParaRPr b="0" i="0" sz="1200" u="none" cap="none" strike="noStrike">
              <a:solidFill>
                <a:srgbClr val="272727"/>
              </a:solidFill>
              <a:latin typeface="Didact Gothic"/>
              <a:ea typeface="Didact Gothic"/>
              <a:cs typeface="Didact Gothic"/>
              <a:sym typeface="Didact Gothic"/>
            </a:endParaRPr>
          </a:p>
          <a:p>
            <a:pPr indent="0" lvl="0" marL="45720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Predictive Application Implementation:</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We will developed an application that predicts customer behavior and recommends products based on their RFM profile. The application will be made available online for easy access.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pSp>
        <p:nvGrpSpPr>
          <p:cNvPr id="429" name="Google Shape;429;p57"/>
          <p:cNvGrpSpPr/>
          <p:nvPr/>
        </p:nvGrpSpPr>
        <p:grpSpPr>
          <a:xfrm>
            <a:off x="-1500" y="10177551"/>
            <a:ext cx="7559700" cy="536605"/>
            <a:chOff x="-1500" y="9788760"/>
            <a:chExt cx="7559700" cy="925500"/>
          </a:xfrm>
        </p:grpSpPr>
        <p:sp>
          <p:nvSpPr>
            <p:cNvPr id="430" name="Google Shape;430;p57"/>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7"/>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2" name="Google Shape;432;p57"/>
          <p:cNvSpPr/>
          <p:nvPr/>
        </p:nvSpPr>
        <p:spPr>
          <a:xfrm>
            <a:off x="505800" y="148175"/>
            <a:ext cx="6425700" cy="99060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rgbClr val="272727"/>
                </a:solidFill>
                <a:latin typeface="Didact Gothic"/>
                <a:ea typeface="Didact Gothic"/>
                <a:cs typeface="Didact Gothic"/>
                <a:sym typeface="Didact Gothic"/>
              </a:rPr>
              <a:t>Exploratory data analysis (EDA) is the first step in understanding data and preparing it for further analysis. As part of this project, we will perform EDA on the dataset to uncover insights and clean it for further use. Below are the main steps of the EDA process: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Loading and inspecting the data:</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The first task is to load the dataset and inspect its structure. We will check the raw data to understand the data format and identify obvious problems, such as missing values ​​or incorrect data types.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The dataset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The columns are described as follows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272727"/>
                </a:solidFill>
                <a:latin typeface="Didact Gothic"/>
                <a:ea typeface="Didact Gothic"/>
                <a:cs typeface="Didact Gothic"/>
                <a:sym typeface="Didact Gothic"/>
              </a:rPr>
              <a:t>Dataset informations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p:txBody>
      </p:sp>
      <p:sp>
        <p:nvSpPr>
          <p:cNvPr id="433" name="Google Shape;433;p57"/>
          <p:cNvSpPr txBox="1"/>
          <p:nvPr/>
        </p:nvSpPr>
        <p:spPr>
          <a:xfrm>
            <a:off x="505788" y="279650"/>
            <a:ext cx="6363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272727"/>
                </a:solidFill>
                <a:latin typeface="Manrope"/>
                <a:ea typeface="Manrope"/>
                <a:cs typeface="Manrope"/>
                <a:sym typeface="Manrope"/>
              </a:rPr>
              <a:t>1. EXPLORATORY DATA ANALYSIS</a:t>
            </a:r>
            <a:endParaRPr b="0" i="0" sz="2500" u="none" cap="none" strike="noStrike">
              <a:solidFill>
                <a:srgbClr val="272727"/>
              </a:solidFill>
              <a:latin typeface="Manrope"/>
              <a:ea typeface="Manrope"/>
              <a:cs typeface="Manrope"/>
              <a:sym typeface="Manrope"/>
            </a:endParaRPr>
          </a:p>
        </p:txBody>
      </p:sp>
      <p:sp>
        <p:nvSpPr>
          <p:cNvPr id="434" name="Google Shape;434;p57"/>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5" name="Google Shape;435;p57"/>
          <p:cNvPicPr preferRelativeResize="0"/>
          <p:nvPr/>
        </p:nvPicPr>
        <p:blipFill rotWithShape="1">
          <a:blip r:embed="rId3">
            <a:alphaModFix/>
          </a:blip>
          <a:srcRect b="0" l="0" r="0" t="0"/>
          <a:stretch/>
        </p:blipFill>
        <p:spPr>
          <a:xfrm>
            <a:off x="492238" y="3350450"/>
            <a:ext cx="6575203" cy="1408250"/>
          </a:xfrm>
          <a:prstGeom prst="rect">
            <a:avLst/>
          </a:prstGeom>
          <a:noFill/>
          <a:ln cap="flat" cmpd="sng" w="19050">
            <a:solidFill>
              <a:schemeClr val="dk2"/>
            </a:solidFill>
            <a:prstDash val="solid"/>
            <a:round/>
            <a:headEnd len="sm" w="sm" type="none"/>
            <a:tailEnd len="sm" w="sm" type="none"/>
          </a:ln>
        </p:spPr>
      </p:pic>
      <p:pic>
        <p:nvPicPr>
          <p:cNvPr id="436" name="Google Shape;436;p57"/>
          <p:cNvPicPr preferRelativeResize="0"/>
          <p:nvPr/>
        </p:nvPicPr>
        <p:blipFill rotWithShape="1">
          <a:blip r:embed="rId4">
            <a:alphaModFix/>
          </a:blip>
          <a:srcRect b="0" l="0" r="0" t="0"/>
          <a:stretch/>
        </p:blipFill>
        <p:spPr>
          <a:xfrm>
            <a:off x="508675" y="5282550"/>
            <a:ext cx="5365000" cy="2381750"/>
          </a:xfrm>
          <a:prstGeom prst="rect">
            <a:avLst/>
          </a:prstGeom>
          <a:noFill/>
          <a:ln cap="flat" cmpd="sng" w="19050">
            <a:solidFill>
              <a:schemeClr val="dk2"/>
            </a:solidFill>
            <a:prstDash val="solid"/>
            <a:round/>
            <a:headEnd len="sm" w="sm" type="none"/>
            <a:tailEnd len="sm" w="sm" type="none"/>
          </a:ln>
        </p:spPr>
      </p:pic>
      <p:pic>
        <p:nvPicPr>
          <p:cNvPr id="437" name="Google Shape;437;p57"/>
          <p:cNvPicPr preferRelativeResize="0"/>
          <p:nvPr/>
        </p:nvPicPr>
        <p:blipFill rotWithShape="1">
          <a:blip r:embed="rId5">
            <a:alphaModFix/>
          </a:blip>
          <a:srcRect b="0" l="0" r="0" t="0"/>
          <a:stretch/>
        </p:blipFill>
        <p:spPr>
          <a:xfrm>
            <a:off x="599463" y="8314625"/>
            <a:ext cx="1428750" cy="971550"/>
          </a:xfrm>
          <a:prstGeom prst="rect">
            <a:avLst/>
          </a:prstGeom>
          <a:noFill/>
          <a:ln cap="flat" cmpd="sng" w="19050">
            <a:solidFill>
              <a:schemeClr val="dk2"/>
            </a:solidFill>
            <a:prstDash val="solid"/>
            <a:round/>
            <a:headEnd len="sm" w="sm" type="none"/>
            <a:tailEnd len="sm" w="sm" type="none"/>
          </a:ln>
        </p:spPr>
      </p:pic>
      <p:pic>
        <p:nvPicPr>
          <p:cNvPr id="438" name="Google Shape;438;p57"/>
          <p:cNvPicPr preferRelativeResize="0"/>
          <p:nvPr/>
        </p:nvPicPr>
        <p:blipFill rotWithShape="1">
          <a:blip r:embed="rId6">
            <a:alphaModFix/>
          </a:blip>
          <a:srcRect b="0" l="0" r="0" t="0"/>
          <a:stretch/>
        </p:blipFill>
        <p:spPr>
          <a:xfrm>
            <a:off x="2468400" y="7978350"/>
            <a:ext cx="3481174" cy="21991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grpSp>
        <p:nvGrpSpPr>
          <p:cNvPr id="443" name="Google Shape;443;p58"/>
          <p:cNvGrpSpPr/>
          <p:nvPr/>
        </p:nvGrpSpPr>
        <p:grpSpPr>
          <a:xfrm>
            <a:off x="-1500" y="9788760"/>
            <a:ext cx="7559700" cy="925500"/>
            <a:chOff x="-1500" y="9788760"/>
            <a:chExt cx="7559700" cy="925500"/>
          </a:xfrm>
        </p:grpSpPr>
        <p:sp>
          <p:nvSpPr>
            <p:cNvPr id="444" name="Google Shape;444;p58"/>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8"/>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6" name="Google Shape;446;p58"/>
          <p:cNvSpPr/>
          <p:nvPr/>
        </p:nvSpPr>
        <p:spPr>
          <a:xfrm>
            <a:off x="505800" y="148175"/>
            <a:ext cx="6425700" cy="99060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Missing values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The </a:t>
            </a:r>
            <a:r>
              <a:rPr b="1" i="0" lang="en-US" sz="1200" u="none" cap="none" strike="noStrike">
                <a:solidFill>
                  <a:srgbClr val="272727"/>
                </a:solidFill>
                <a:latin typeface="Didact Gothic"/>
                <a:ea typeface="Didact Gothic"/>
                <a:cs typeface="Didact Gothic"/>
                <a:sym typeface="Didact Gothic"/>
              </a:rPr>
              <a:t>missingno </a:t>
            </a:r>
            <a:r>
              <a:rPr b="0" i="0" lang="en-US" sz="1200" u="none" cap="none" strike="noStrike">
                <a:solidFill>
                  <a:srgbClr val="272727"/>
                </a:solidFill>
                <a:latin typeface="Didact Gothic"/>
                <a:ea typeface="Didact Gothic"/>
                <a:cs typeface="Didact Gothic"/>
                <a:sym typeface="Didact Gothic"/>
              </a:rPr>
              <a:t>matrix reveals a substantial number of missing values in our dataset. Notably, </a:t>
            </a:r>
            <a:r>
              <a:rPr b="1" i="0" lang="en-US" sz="1200" u="none" cap="none" strike="noStrike">
                <a:solidFill>
                  <a:srgbClr val="272727"/>
                </a:solidFill>
                <a:latin typeface="Didact Gothic"/>
                <a:ea typeface="Didact Gothic"/>
                <a:cs typeface="Didact Gothic"/>
                <a:sym typeface="Didact Gothic"/>
              </a:rPr>
              <a:t>24.93% of Customer ID entries are absent, </a:t>
            </a:r>
            <a:r>
              <a:rPr b="0" i="0" lang="en-US" sz="1200" u="none" cap="none" strike="noStrike">
                <a:solidFill>
                  <a:srgbClr val="272727"/>
                </a:solidFill>
                <a:latin typeface="Didact Gothic"/>
                <a:ea typeface="Didact Gothic"/>
                <a:cs typeface="Didact Gothic"/>
                <a:sym typeface="Didact Gothic"/>
              </a:rPr>
              <a:t>which requires careful consideration before taking any action. Simply dropping this column could lead to a significant loss of data, potentially skewing our analysis and resulting in biased outcomes.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After thorough investigation, </a:t>
            </a:r>
            <a:r>
              <a:rPr b="1" i="0" lang="en-US" sz="1200" u="none" cap="none" strike="noStrike">
                <a:solidFill>
                  <a:srgbClr val="272727"/>
                </a:solidFill>
                <a:latin typeface="Didact Gothic"/>
                <a:ea typeface="Didact Gothic"/>
                <a:cs typeface="Didact Gothic"/>
                <a:sym typeface="Didact Gothic"/>
              </a:rPr>
              <a:t>we concluded that imputing values for the missing Customer IDs was not the optimal solution</a:t>
            </a:r>
            <a:r>
              <a:rPr b="0" i="0" lang="en-US" sz="1200" u="none" cap="none" strike="noStrike">
                <a:solidFill>
                  <a:srgbClr val="272727"/>
                </a:solidFill>
                <a:latin typeface="Didact Gothic"/>
                <a:ea typeface="Didact Gothic"/>
                <a:cs typeface="Didact Gothic"/>
                <a:sym typeface="Didact Gothic"/>
              </a:rPr>
              <a:t>. The systematic nature of the missing data suggests a potential issue with data collection or management that should be addressed to improve future data quality. For the current analysis, </a:t>
            </a:r>
            <a:r>
              <a:rPr b="1" i="0" lang="en-US" sz="1200" u="none" cap="none" strike="noStrike">
                <a:solidFill>
                  <a:srgbClr val="272727"/>
                </a:solidFill>
                <a:latin typeface="Didact Gothic"/>
                <a:ea typeface="Didact Gothic"/>
                <a:cs typeface="Didact Gothic"/>
                <a:sym typeface="Didact Gothic"/>
              </a:rPr>
              <a:t>to avoid introducing further bias</a:t>
            </a:r>
            <a:r>
              <a:rPr b="0" i="0" lang="en-US" sz="1200" u="none" cap="none" strike="noStrike">
                <a:solidFill>
                  <a:srgbClr val="272727"/>
                </a:solidFill>
                <a:latin typeface="Didact Gothic"/>
                <a:ea typeface="Didact Gothic"/>
                <a:cs typeface="Didact Gothic"/>
                <a:sym typeface="Didact Gothic"/>
              </a:rPr>
              <a:t>, we have decided to proceed with deleting the rows with missing Customer IDs, despite the considerable data loss this entails.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After using .dropna() on the CustomerId column we can  see the following stats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Then checking how many customers they actually have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447" name="Google Shape;447;p58"/>
          <p:cNvSpPr txBox="1"/>
          <p:nvPr/>
        </p:nvSpPr>
        <p:spPr>
          <a:xfrm>
            <a:off x="505788" y="279650"/>
            <a:ext cx="6363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272727"/>
                </a:solidFill>
                <a:latin typeface="Manrope"/>
                <a:ea typeface="Manrope"/>
                <a:cs typeface="Manrope"/>
                <a:sym typeface="Manrope"/>
              </a:rPr>
              <a:t>1. EXPLORATORY DATA ANALYSIS</a:t>
            </a:r>
            <a:endParaRPr b="0" i="0" sz="2500" u="none" cap="none" strike="noStrike">
              <a:solidFill>
                <a:srgbClr val="272727"/>
              </a:solidFill>
              <a:latin typeface="Manrope"/>
              <a:ea typeface="Manrope"/>
              <a:cs typeface="Manrope"/>
              <a:sym typeface="Manrope"/>
            </a:endParaRPr>
          </a:p>
        </p:txBody>
      </p:sp>
      <p:sp>
        <p:nvSpPr>
          <p:cNvPr id="448" name="Google Shape;448;p58"/>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9" name="Google Shape;449;p58"/>
          <p:cNvPicPr preferRelativeResize="0"/>
          <p:nvPr/>
        </p:nvPicPr>
        <p:blipFill rotWithShape="1">
          <a:blip r:embed="rId3">
            <a:alphaModFix/>
          </a:blip>
          <a:srcRect b="0" l="0" r="0" t="0"/>
          <a:stretch/>
        </p:blipFill>
        <p:spPr>
          <a:xfrm>
            <a:off x="2717222" y="3911775"/>
            <a:ext cx="4387278" cy="1906900"/>
          </a:xfrm>
          <a:prstGeom prst="rect">
            <a:avLst/>
          </a:prstGeom>
          <a:noFill/>
          <a:ln cap="flat" cmpd="sng" w="19050">
            <a:solidFill>
              <a:schemeClr val="dk2"/>
            </a:solidFill>
            <a:prstDash val="solid"/>
            <a:round/>
            <a:headEnd len="sm" w="sm" type="none"/>
            <a:tailEnd len="sm" w="sm" type="none"/>
          </a:ln>
        </p:spPr>
      </p:pic>
      <p:pic>
        <p:nvPicPr>
          <p:cNvPr id="450" name="Google Shape;450;p58"/>
          <p:cNvPicPr preferRelativeResize="0"/>
          <p:nvPr/>
        </p:nvPicPr>
        <p:blipFill rotWithShape="1">
          <a:blip r:embed="rId4">
            <a:alphaModFix/>
          </a:blip>
          <a:srcRect b="0" l="0" r="0" t="0"/>
          <a:stretch/>
        </p:blipFill>
        <p:spPr>
          <a:xfrm>
            <a:off x="595499" y="3911775"/>
            <a:ext cx="2024544" cy="1906900"/>
          </a:xfrm>
          <a:prstGeom prst="rect">
            <a:avLst/>
          </a:prstGeom>
          <a:noFill/>
          <a:ln cap="flat" cmpd="sng" w="19050">
            <a:solidFill>
              <a:schemeClr val="dk2"/>
            </a:solidFill>
            <a:prstDash val="solid"/>
            <a:round/>
            <a:headEnd len="sm" w="sm" type="none"/>
            <a:tailEnd len="sm" w="sm" type="none"/>
          </a:ln>
        </p:spPr>
      </p:pic>
      <p:pic>
        <p:nvPicPr>
          <p:cNvPr id="451" name="Google Shape;451;p58"/>
          <p:cNvPicPr preferRelativeResize="0"/>
          <p:nvPr/>
        </p:nvPicPr>
        <p:blipFill rotWithShape="1">
          <a:blip r:embed="rId5">
            <a:alphaModFix/>
          </a:blip>
          <a:srcRect b="0" l="0" r="0" t="0"/>
          <a:stretch/>
        </p:blipFill>
        <p:spPr>
          <a:xfrm>
            <a:off x="567325" y="6312000"/>
            <a:ext cx="6537175" cy="1841059"/>
          </a:xfrm>
          <a:prstGeom prst="rect">
            <a:avLst/>
          </a:prstGeom>
          <a:noFill/>
          <a:ln cap="flat" cmpd="sng" w="19050">
            <a:solidFill>
              <a:schemeClr val="dk2"/>
            </a:solidFill>
            <a:prstDash val="solid"/>
            <a:round/>
            <a:headEnd len="sm" w="sm" type="none"/>
            <a:tailEnd len="sm" w="sm" type="none"/>
          </a:ln>
        </p:spPr>
      </p:pic>
      <p:pic>
        <p:nvPicPr>
          <p:cNvPr id="452" name="Google Shape;452;p58"/>
          <p:cNvPicPr preferRelativeResize="0"/>
          <p:nvPr/>
        </p:nvPicPr>
        <p:blipFill rotWithShape="1">
          <a:blip r:embed="rId6">
            <a:alphaModFix/>
          </a:blip>
          <a:srcRect b="0" l="0" r="0" t="0"/>
          <a:stretch/>
        </p:blipFill>
        <p:spPr>
          <a:xfrm>
            <a:off x="567325" y="8915950"/>
            <a:ext cx="3847100" cy="11382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grpSp>
        <p:nvGrpSpPr>
          <p:cNvPr id="457" name="Google Shape;457;p59"/>
          <p:cNvGrpSpPr/>
          <p:nvPr/>
        </p:nvGrpSpPr>
        <p:grpSpPr>
          <a:xfrm>
            <a:off x="-1500" y="10288045"/>
            <a:ext cx="7559700" cy="426285"/>
            <a:chOff x="-1500" y="9788760"/>
            <a:chExt cx="7559700" cy="925500"/>
          </a:xfrm>
        </p:grpSpPr>
        <p:sp>
          <p:nvSpPr>
            <p:cNvPr id="458" name="Google Shape;458;p59"/>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9"/>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0" name="Google Shape;460;p59"/>
          <p:cNvSpPr/>
          <p:nvPr/>
        </p:nvSpPr>
        <p:spPr>
          <a:xfrm>
            <a:off x="505800" y="148175"/>
            <a:ext cx="6425700" cy="99060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EDA with Data Visualisation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We will start by analyzing each variable individually. We will analyze categorical variables by checking their distribution and unique values. And we will analyze continuous variables, by checking their summary statistics, distributions, and identifying outliers.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Number of countries by number of customers count and Data Viz of the top 10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Data Viz of the top 10 products by quantity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461" name="Google Shape;461;p59"/>
          <p:cNvSpPr txBox="1"/>
          <p:nvPr/>
        </p:nvSpPr>
        <p:spPr>
          <a:xfrm>
            <a:off x="505788" y="279650"/>
            <a:ext cx="6363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272727"/>
                </a:solidFill>
                <a:latin typeface="Manrope"/>
                <a:ea typeface="Manrope"/>
                <a:cs typeface="Manrope"/>
                <a:sym typeface="Manrope"/>
              </a:rPr>
              <a:t>1. EXPLORATORY DATA ANALYSIS</a:t>
            </a:r>
            <a:endParaRPr b="0" i="0" sz="2500" u="none" cap="none" strike="noStrike">
              <a:solidFill>
                <a:srgbClr val="272727"/>
              </a:solidFill>
              <a:latin typeface="Manrope"/>
              <a:ea typeface="Manrope"/>
              <a:cs typeface="Manrope"/>
              <a:sym typeface="Manrope"/>
            </a:endParaRPr>
          </a:p>
        </p:txBody>
      </p:sp>
      <p:sp>
        <p:nvSpPr>
          <p:cNvPr id="462" name="Google Shape;462;p59"/>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3" name="Google Shape;463;p59"/>
          <p:cNvPicPr preferRelativeResize="0"/>
          <p:nvPr/>
        </p:nvPicPr>
        <p:blipFill rotWithShape="1">
          <a:blip r:embed="rId3">
            <a:alphaModFix/>
          </a:blip>
          <a:srcRect b="0" l="0" r="0" t="0"/>
          <a:stretch/>
        </p:blipFill>
        <p:spPr>
          <a:xfrm>
            <a:off x="508675" y="2253526"/>
            <a:ext cx="6890525" cy="1739150"/>
          </a:xfrm>
          <a:prstGeom prst="rect">
            <a:avLst/>
          </a:prstGeom>
          <a:noFill/>
          <a:ln cap="flat" cmpd="sng" w="19050">
            <a:solidFill>
              <a:schemeClr val="dk2"/>
            </a:solidFill>
            <a:prstDash val="solid"/>
            <a:round/>
            <a:headEnd len="sm" w="sm" type="none"/>
            <a:tailEnd len="sm" w="sm" type="none"/>
          </a:ln>
        </p:spPr>
      </p:pic>
      <p:pic>
        <p:nvPicPr>
          <p:cNvPr id="464" name="Google Shape;464;p59"/>
          <p:cNvPicPr preferRelativeResize="0"/>
          <p:nvPr/>
        </p:nvPicPr>
        <p:blipFill rotWithShape="1">
          <a:blip r:embed="rId4">
            <a:alphaModFix/>
          </a:blip>
          <a:srcRect b="0" l="0" r="0" t="0"/>
          <a:stretch/>
        </p:blipFill>
        <p:spPr>
          <a:xfrm>
            <a:off x="508675" y="4386875"/>
            <a:ext cx="5032326" cy="3011549"/>
          </a:xfrm>
          <a:prstGeom prst="rect">
            <a:avLst/>
          </a:prstGeom>
          <a:noFill/>
          <a:ln cap="flat" cmpd="sng" w="19050">
            <a:solidFill>
              <a:schemeClr val="dk2"/>
            </a:solidFill>
            <a:prstDash val="solid"/>
            <a:round/>
            <a:headEnd len="sm" w="sm" type="none"/>
            <a:tailEnd len="sm" w="sm" type="none"/>
          </a:ln>
        </p:spPr>
      </p:pic>
      <p:pic>
        <p:nvPicPr>
          <p:cNvPr id="465" name="Google Shape;465;p59"/>
          <p:cNvPicPr preferRelativeResize="0"/>
          <p:nvPr/>
        </p:nvPicPr>
        <p:blipFill rotWithShape="1">
          <a:blip r:embed="rId5">
            <a:alphaModFix/>
          </a:blip>
          <a:srcRect b="0" l="0" r="0" t="0"/>
          <a:stretch/>
        </p:blipFill>
        <p:spPr>
          <a:xfrm>
            <a:off x="5690349" y="4338025"/>
            <a:ext cx="1708850" cy="5105400"/>
          </a:xfrm>
          <a:prstGeom prst="rect">
            <a:avLst/>
          </a:prstGeom>
          <a:noFill/>
          <a:ln cap="flat" cmpd="sng" w="19050">
            <a:solidFill>
              <a:schemeClr val="dk2"/>
            </a:solidFill>
            <a:prstDash val="solid"/>
            <a:round/>
            <a:headEnd len="sm" w="sm" type="none"/>
            <a:tailEnd len="sm" w="sm" type="none"/>
          </a:ln>
        </p:spPr>
      </p:pic>
      <p:pic>
        <p:nvPicPr>
          <p:cNvPr id="466" name="Google Shape;466;p59"/>
          <p:cNvPicPr preferRelativeResize="0"/>
          <p:nvPr/>
        </p:nvPicPr>
        <p:blipFill rotWithShape="1">
          <a:blip r:embed="rId6">
            <a:alphaModFix/>
          </a:blip>
          <a:srcRect b="0" l="0" r="0" t="0"/>
          <a:stretch/>
        </p:blipFill>
        <p:spPr>
          <a:xfrm>
            <a:off x="505800" y="7896850"/>
            <a:ext cx="4939390" cy="23912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pSp>
        <p:nvGrpSpPr>
          <p:cNvPr id="471" name="Google Shape;471;p60"/>
          <p:cNvGrpSpPr/>
          <p:nvPr/>
        </p:nvGrpSpPr>
        <p:grpSpPr>
          <a:xfrm>
            <a:off x="-1500" y="10288045"/>
            <a:ext cx="7559700" cy="426285"/>
            <a:chOff x="-1500" y="9788760"/>
            <a:chExt cx="7559700" cy="925500"/>
          </a:xfrm>
        </p:grpSpPr>
        <p:sp>
          <p:nvSpPr>
            <p:cNvPr id="472" name="Google Shape;472;p60"/>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60"/>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p60"/>
          <p:cNvSpPr/>
          <p:nvPr/>
        </p:nvSpPr>
        <p:spPr>
          <a:xfrm>
            <a:off x="505800" y="148175"/>
            <a:ext cx="6425700" cy="99060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Data Viz of the top 10 least selling  products by quantity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There seem to be some damaged and not up-to-selling standard products in there. which means there may have been some return transactions in this data.</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Data Viz of the top 10 Customers by Total Spending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475" name="Google Shape;475;p60"/>
          <p:cNvSpPr txBox="1"/>
          <p:nvPr/>
        </p:nvSpPr>
        <p:spPr>
          <a:xfrm>
            <a:off x="505788" y="279650"/>
            <a:ext cx="6363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272727"/>
                </a:solidFill>
                <a:latin typeface="Manrope"/>
                <a:ea typeface="Manrope"/>
                <a:cs typeface="Manrope"/>
                <a:sym typeface="Manrope"/>
              </a:rPr>
              <a:t>1. EXPLORATORY DATA ANALYSIS</a:t>
            </a:r>
            <a:endParaRPr b="0" i="0" sz="2500" u="none" cap="none" strike="noStrike">
              <a:solidFill>
                <a:srgbClr val="272727"/>
              </a:solidFill>
              <a:latin typeface="Manrope"/>
              <a:ea typeface="Manrope"/>
              <a:cs typeface="Manrope"/>
              <a:sym typeface="Manrope"/>
            </a:endParaRPr>
          </a:p>
        </p:txBody>
      </p:sp>
      <p:sp>
        <p:nvSpPr>
          <p:cNvPr id="476" name="Google Shape;476;p60"/>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7" name="Google Shape;477;p60"/>
          <p:cNvPicPr preferRelativeResize="0"/>
          <p:nvPr/>
        </p:nvPicPr>
        <p:blipFill rotWithShape="1">
          <a:blip r:embed="rId3">
            <a:alphaModFix/>
          </a:blip>
          <a:srcRect b="0" l="0" r="0" t="0"/>
          <a:stretch/>
        </p:blipFill>
        <p:spPr>
          <a:xfrm>
            <a:off x="593075" y="1390875"/>
            <a:ext cx="5938374" cy="3037425"/>
          </a:xfrm>
          <a:prstGeom prst="rect">
            <a:avLst/>
          </a:prstGeom>
          <a:noFill/>
          <a:ln cap="flat" cmpd="sng" w="19050">
            <a:solidFill>
              <a:schemeClr val="dk2"/>
            </a:solidFill>
            <a:prstDash val="solid"/>
            <a:round/>
            <a:headEnd len="sm" w="sm" type="none"/>
            <a:tailEnd len="sm" w="sm" type="none"/>
          </a:ln>
        </p:spPr>
      </p:pic>
      <p:pic>
        <p:nvPicPr>
          <p:cNvPr id="478" name="Google Shape;478;p60"/>
          <p:cNvPicPr preferRelativeResize="0"/>
          <p:nvPr/>
        </p:nvPicPr>
        <p:blipFill rotWithShape="1">
          <a:blip r:embed="rId4">
            <a:alphaModFix/>
          </a:blip>
          <a:srcRect b="0" l="0" r="0" t="0"/>
          <a:stretch/>
        </p:blipFill>
        <p:spPr>
          <a:xfrm>
            <a:off x="593075" y="5994375"/>
            <a:ext cx="6640726" cy="3230649"/>
          </a:xfrm>
          <a:prstGeom prst="rect">
            <a:avLst/>
          </a:prstGeom>
          <a:noFill/>
          <a:ln cap="flat" cmpd="sng" w="19050">
            <a:solidFill>
              <a:schemeClr val="dk2"/>
            </a:solidFill>
            <a:prstDash val="solid"/>
            <a:round/>
            <a:headEnd len="sm" w="sm" type="none"/>
            <a:tailEnd len="sm" w="sm" type="none"/>
          </a:ln>
        </p:spPr>
      </p:pic>
      <p:pic>
        <p:nvPicPr>
          <p:cNvPr id="479" name="Google Shape;479;p60"/>
          <p:cNvPicPr preferRelativeResize="0"/>
          <p:nvPr/>
        </p:nvPicPr>
        <p:blipFill rotWithShape="1">
          <a:blip r:embed="rId5">
            <a:alphaModFix/>
          </a:blip>
          <a:srcRect b="0" l="0" r="0" t="0"/>
          <a:stretch/>
        </p:blipFill>
        <p:spPr>
          <a:xfrm>
            <a:off x="5975500" y="5002800"/>
            <a:ext cx="1414296" cy="2183275"/>
          </a:xfrm>
          <a:prstGeom prst="rect">
            <a:avLst/>
          </a:prstGeom>
          <a:noFill/>
          <a:ln cap="flat" cmpd="sng" w="19050">
            <a:solidFill>
              <a:schemeClr val="dk2"/>
            </a:solidFill>
            <a:prstDash val="solid"/>
            <a:round/>
            <a:headEnd len="sm" w="sm" type="none"/>
            <a:tailEnd len="sm" w="sm" type="none"/>
          </a:ln>
        </p:spPr>
      </p:pic>
      <p:cxnSp>
        <p:nvCxnSpPr>
          <p:cNvPr id="480" name="Google Shape;480;p60"/>
          <p:cNvCxnSpPr/>
          <p:nvPr/>
        </p:nvCxnSpPr>
        <p:spPr>
          <a:xfrm flipH="1">
            <a:off x="5064075" y="7160750"/>
            <a:ext cx="829800" cy="897900"/>
          </a:xfrm>
          <a:prstGeom prst="straightConnector1">
            <a:avLst/>
          </a:prstGeom>
          <a:noFill/>
          <a:ln cap="flat" cmpd="sng" w="28575">
            <a:solidFill>
              <a:srgbClr val="99BDF8"/>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61"/>
          <p:cNvGrpSpPr/>
          <p:nvPr/>
        </p:nvGrpSpPr>
        <p:grpSpPr>
          <a:xfrm>
            <a:off x="-1500" y="10054089"/>
            <a:ext cx="7559700" cy="660067"/>
            <a:chOff x="-1500" y="9788760"/>
            <a:chExt cx="7559700" cy="925500"/>
          </a:xfrm>
        </p:grpSpPr>
        <p:sp>
          <p:nvSpPr>
            <p:cNvPr id="486" name="Google Shape;486;p61"/>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61"/>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8" name="Google Shape;488;p61"/>
          <p:cNvSpPr/>
          <p:nvPr/>
        </p:nvSpPr>
        <p:spPr>
          <a:xfrm>
            <a:off x="505800" y="148175"/>
            <a:ext cx="6425700" cy="99060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Organizational methodology and work environment</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For this project, we established a structured and efficient work environment with clearly defined roles and responsibilities.</a:t>
            </a:r>
            <a:r>
              <a:rPr b="1" i="0" lang="en-US" sz="1200" u="none" cap="none" strike="noStrike">
                <a:solidFill>
                  <a:schemeClr val="dk1"/>
                </a:solidFill>
                <a:latin typeface="Didact Gothic"/>
                <a:ea typeface="Didact Gothic"/>
                <a:cs typeface="Didact Gothic"/>
                <a:sym typeface="Didact Gothic"/>
              </a:rPr>
              <a:t> Omar serves as the Project Manager</a:t>
            </a:r>
            <a:r>
              <a:rPr b="0" i="0" lang="en-US" sz="1200" u="none" cap="none" strike="noStrike">
                <a:solidFill>
                  <a:schemeClr val="dk1"/>
                </a:solidFill>
                <a:latin typeface="Didact Gothic"/>
                <a:ea typeface="Didact Gothic"/>
                <a:cs typeface="Didact Gothic"/>
                <a:sym typeface="Didact Gothic"/>
              </a:rPr>
              <a:t>, overseeing the final product (the application) and providing instructions to the team. </a:t>
            </a:r>
            <a:r>
              <a:rPr b="1" i="0" lang="en-US" sz="1200" u="none" cap="none" strike="noStrike">
                <a:solidFill>
                  <a:schemeClr val="dk1"/>
                </a:solidFill>
                <a:latin typeface="Didact Gothic"/>
                <a:ea typeface="Didact Gothic"/>
                <a:cs typeface="Didact Gothic"/>
                <a:sym typeface="Didact Gothic"/>
              </a:rPr>
              <a:t>Abner and Indira, as Data Scientists,</a:t>
            </a:r>
            <a:r>
              <a:rPr b="0" i="0" lang="en-US" sz="1200" u="none" cap="none" strike="noStrike">
                <a:solidFill>
                  <a:schemeClr val="dk1"/>
                </a:solidFill>
                <a:latin typeface="Didact Gothic"/>
                <a:ea typeface="Didact Gothic"/>
                <a:cs typeface="Didact Gothic"/>
                <a:sym typeface="Didact Gothic"/>
              </a:rPr>
              <a:t> focus on Exploratory Data Analysis (EDA) and model development. </a:t>
            </a:r>
            <a:r>
              <a:rPr b="1" i="0" lang="en-US" sz="1200" u="none" cap="none" strike="noStrike">
                <a:solidFill>
                  <a:schemeClr val="dk1"/>
                </a:solidFill>
                <a:latin typeface="Didact Gothic"/>
                <a:ea typeface="Didact Gothic"/>
                <a:cs typeface="Didact Gothic"/>
                <a:sym typeface="Didact Gothic"/>
              </a:rPr>
              <a:t>Danish plays a versatile role, initially working on the report and later assisting Omar with the application development</a:t>
            </a:r>
            <a:r>
              <a:rPr b="0" i="0" lang="en-US" sz="1200" u="none" cap="none" strike="noStrike">
                <a:solidFill>
                  <a:schemeClr val="dk1"/>
                </a:solidFill>
                <a:latin typeface="Didact Gothic"/>
                <a:ea typeface="Didact Gothic"/>
                <a:cs typeface="Didact Gothic"/>
                <a:sym typeface="Didact Gothic"/>
              </a:rPr>
              <a:t>.</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We chose </a:t>
            </a:r>
            <a:r>
              <a:rPr b="1" i="0" lang="en-US" sz="1200" u="none" cap="none" strike="noStrike">
                <a:solidFill>
                  <a:schemeClr val="dk1"/>
                </a:solidFill>
                <a:latin typeface="Didact Gothic"/>
                <a:ea typeface="Didact Gothic"/>
                <a:cs typeface="Didact Gothic"/>
                <a:sym typeface="Didact Gothic"/>
              </a:rPr>
              <a:t>Flask </a:t>
            </a:r>
            <a:r>
              <a:rPr b="0" i="0" lang="en-US" sz="1200" u="none" cap="none" strike="noStrike">
                <a:solidFill>
                  <a:schemeClr val="dk1"/>
                </a:solidFill>
                <a:latin typeface="Didact Gothic"/>
                <a:ea typeface="Didact Gothic"/>
                <a:cs typeface="Didact Gothic"/>
                <a:sym typeface="Didact Gothic"/>
              </a:rPr>
              <a:t>as our web framework due to its reliability and scalability for application development. For analysis and model development, we utilize </a:t>
            </a:r>
            <a:r>
              <a:rPr b="1" i="0" lang="en-US" sz="1200" u="none" cap="none" strike="noStrike">
                <a:solidFill>
                  <a:schemeClr val="dk1"/>
                </a:solidFill>
                <a:latin typeface="Didact Gothic"/>
                <a:ea typeface="Didact Gothic"/>
                <a:cs typeface="Didact Gothic"/>
                <a:sym typeface="Didact Gothic"/>
              </a:rPr>
              <a:t>Google Colab and Jupyter Notebook running on Windows Subsystem for Linux (WSL).</a:t>
            </a:r>
            <a:r>
              <a:rPr b="0" i="0" lang="en-US" sz="1200" u="none" cap="none" strike="noStrike">
                <a:solidFill>
                  <a:schemeClr val="dk1"/>
                </a:solidFill>
                <a:latin typeface="Didact Gothic"/>
                <a:ea typeface="Didact Gothic"/>
                <a:cs typeface="Didact Gothic"/>
                <a:sym typeface="Didact Gothic"/>
              </a:rPr>
              <a:t> These tools provide the necessary computational resources for handling intensive tasks efficiently.</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This combination of tools and technologies ensures smooth execution and testing throughout the project lifecycle, enabling us to meet the IT requirements and optimize the development process.</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To stay on track and manage our time effectively, we adopted the </a:t>
            </a:r>
            <a:r>
              <a:rPr b="1" i="0" lang="en-US" sz="1200" u="none" cap="none" strike="noStrike">
                <a:solidFill>
                  <a:schemeClr val="dk1"/>
                </a:solidFill>
                <a:latin typeface="Didact Gothic"/>
                <a:ea typeface="Didact Gothic"/>
                <a:cs typeface="Didact Gothic"/>
                <a:sym typeface="Didact Gothic"/>
              </a:rPr>
              <a:t>Agile </a:t>
            </a:r>
            <a:r>
              <a:rPr b="0" i="0" lang="en-US" sz="1200" u="none" cap="none" strike="noStrike">
                <a:solidFill>
                  <a:schemeClr val="dk1"/>
                </a:solidFill>
                <a:latin typeface="Didact Gothic"/>
                <a:ea typeface="Didact Gothic"/>
                <a:cs typeface="Didact Gothic"/>
                <a:sym typeface="Didact Gothic"/>
              </a:rPr>
              <a:t>method using a tool named </a:t>
            </a:r>
            <a:r>
              <a:rPr b="1" i="0" lang="en-US" sz="1200" u="none" cap="none" strike="noStrike">
                <a:solidFill>
                  <a:schemeClr val="dk1"/>
                </a:solidFill>
                <a:latin typeface="Didact Gothic"/>
                <a:ea typeface="Didact Gothic"/>
                <a:cs typeface="Didact Gothic"/>
                <a:sym typeface="Didact Gothic"/>
              </a:rPr>
              <a:t>KanbanFlow</a:t>
            </a:r>
            <a:r>
              <a:rPr b="0" i="0" lang="en-US" sz="1200" u="none" cap="none" strike="noStrike">
                <a:solidFill>
                  <a:schemeClr val="dk1"/>
                </a:solidFill>
                <a:latin typeface="Didact Gothic"/>
                <a:ea typeface="Didact Gothic"/>
                <a:cs typeface="Didact Gothic"/>
                <a:sym typeface="Didact Gothic"/>
              </a:rPr>
              <a:t>. This method helps us break down tasks into focused chunks, which helps us stay on task longer and avoid distractions. By tracking the time spent on each task, we can identify areas that are taking longer than expected, which helps us adjust our approach and improve efficiency as we move forward with the project.</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The management method used was as follows: </a:t>
            </a:r>
            <a:r>
              <a:rPr b="1" i="0" lang="en-US" sz="1200" u="none" cap="none" strike="noStrike">
                <a:solidFill>
                  <a:schemeClr val="dk1"/>
                </a:solidFill>
                <a:latin typeface="Didact Gothic"/>
                <a:ea typeface="Didact Gothic"/>
                <a:cs typeface="Didact Gothic"/>
                <a:sym typeface="Didact Gothic"/>
              </a:rPr>
              <a:t>TO-DO, DO TODAY, IN PROGRESS and DONE</a:t>
            </a:r>
            <a:r>
              <a:rPr b="0" i="0" lang="en-US" sz="1200" u="none" cap="none" strike="noStrike">
                <a:solidFill>
                  <a:schemeClr val="dk1"/>
                </a:solidFill>
                <a:latin typeface="Didact Gothic"/>
                <a:ea typeface="Didact Gothic"/>
                <a:cs typeface="Didact Gothic"/>
                <a:sym typeface="Didact Gothic"/>
              </a:rPr>
              <a:t>. We tag members that are in charge of the task and let them handle it their way.  We shared links, code and insights by tagging the person on the task and putting it inside.</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This setup allows us to collaborate more easily,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stay on track, and ensure all parts of the project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progress smoothly.</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489" name="Google Shape;489;p61"/>
          <p:cNvSpPr/>
          <p:nvPr/>
        </p:nvSpPr>
        <p:spPr>
          <a:xfrm flipH="1">
            <a:off x="176405" y="2126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0" name="Google Shape;490;p61"/>
          <p:cNvPicPr preferRelativeResize="0"/>
          <p:nvPr/>
        </p:nvPicPr>
        <p:blipFill rotWithShape="1">
          <a:blip r:embed="rId3">
            <a:alphaModFix/>
          </a:blip>
          <a:srcRect b="0" l="0" r="0" t="0"/>
          <a:stretch/>
        </p:blipFill>
        <p:spPr>
          <a:xfrm>
            <a:off x="595913" y="6443374"/>
            <a:ext cx="5487324" cy="2469075"/>
          </a:xfrm>
          <a:prstGeom prst="rect">
            <a:avLst/>
          </a:prstGeom>
          <a:noFill/>
          <a:ln cap="flat" cmpd="sng" w="19050">
            <a:solidFill>
              <a:schemeClr val="dk2"/>
            </a:solidFill>
            <a:prstDash val="solid"/>
            <a:round/>
            <a:headEnd len="sm" w="sm" type="none"/>
            <a:tailEnd len="sm" w="sm" type="none"/>
          </a:ln>
        </p:spPr>
      </p:pic>
      <p:pic>
        <p:nvPicPr>
          <p:cNvPr id="491" name="Google Shape;491;p61"/>
          <p:cNvPicPr preferRelativeResize="0"/>
          <p:nvPr/>
        </p:nvPicPr>
        <p:blipFill rotWithShape="1">
          <a:blip r:embed="rId4">
            <a:alphaModFix/>
          </a:blip>
          <a:srcRect b="0" l="0" r="0" t="0"/>
          <a:stretch/>
        </p:blipFill>
        <p:spPr>
          <a:xfrm>
            <a:off x="4069975" y="7760125"/>
            <a:ext cx="2783475" cy="1905925"/>
          </a:xfrm>
          <a:prstGeom prst="rect">
            <a:avLst/>
          </a:prstGeom>
          <a:noFill/>
          <a:ln cap="flat" cmpd="sng" w="19050">
            <a:solidFill>
              <a:schemeClr val="dk2"/>
            </a:solidFill>
            <a:prstDash val="solid"/>
            <a:round/>
            <a:headEnd len="sm" w="sm" type="none"/>
            <a:tailEnd len="sm" w="sm" type="none"/>
          </a:ln>
        </p:spPr>
      </p:pic>
      <p:cxnSp>
        <p:nvCxnSpPr>
          <p:cNvPr id="492" name="Google Shape;492;p61"/>
          <p:cNvCxnSpPr/>
          <p:nvPr/>
        </p:nvCxnSpPr>
        <p:spPr>
          <a:xfrm>
            <a:off x="2600575" y="7211100"/>
            <a:ext cx="1389300" cy="11862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2"/>
          <p:cNvSpPr txBox="1"/>
          <p:nvPr>
            <p:ph type="title"/>
          </p:nvPr>
        </p:nvSpPr>
        <p:spPr>
          <a:xfrm>
            <a:off x="685800" y="490767"/>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2. PRE-PROCESSING OF DATA and RFM</a:t>
            </a:r>
            <a:endParaRPr sz="2700">
              <a:latin typeface="Manrope"/>
              <a:ea typeface="Manrope"/>
              <a:cs typeface="Manrope"/>
              <a:sym typeface="Manrope"/>
            </a:endParaRPr>
          </a:p>
        </p:txBody>
      </p:sp>
      <p:sp>
        <p:nvSpPr>
          <p:cNvPr id="498" name="Google Shape;498;p62"/>
          <p:cNvSpPr txBox="1"/>
          <p:nvPr>
            <p:ph idx="1" type="body"/>
          </p:nvPr>
        </p:nvSpPr>
        <p:spPr>
          <a:xfrm>
            <a:off x="452650" y="1310075"/>
            <a:ext cx="6602400" cy="8745600"/>
          </a:xfrm>
          <a:prstGeom prst="rect">
            <a:avLst/>
          </a:prstGeom>
          <a:noFill/>
          <a:ln>
            <a:noFill/>
          </a:ln>
        </p:spPr>
        <p:txBody>
          <a:bodyPr anchorCtr="0" anchor="t" bIns="0" lIns="0" spcFirstLastPara="1" rIns="0" wrap="square" tIns="0">
            <a:noAutofit/>
          </a:bodyPr>
          <a:lstStyle/>
          <a:p>
            <a:pPr indent="0" lvl="0" marL="0" rtl="0" algn="just">
              <a:lnSpc>
                <a:spcPct val="130000"/>
              </a:lnSpc>
              <a:spcBef>
                <a:spcPts val="0"/>
              </a:spcBef>
              <a:spcAft>
                <a:spcPts val="0"/>
              </a:spcAft>
              <a:buClr>
                <a:schemeClr val="dk1"/>
              </a:buClr>
              <a:buSzPts val="1100"/>
              <a:buFont typeface="Arial"/>
              <a:buNone/>
            </a:pPr>
            <a:r>
              <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b="1" lang="en-US" sz="1230">
                <a:latin typeface="Didact Gothic"/>
                <a:ea typeface="Didact Gothic"/>
                <a:cs typeface="Didact Gothic"/>
                <a:sym typeface="Didact Gothic"/>
              </a:rPr>
              <a:t>What Is RFM Analysis?</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lang="en-US" sz="1230">
                <a:latin typeface="Didact Gothic"/>
                <a:ea typeface="Didact Gothic"/>
                <a:cs typeface="Didact Gothic"/>
                <a:sym typeface="Didact Gothic"/>
              </a:rPr>
              <a:t>RFM stands for Recency, Frequency, and Monetary value. It is a method to analyze customer behavior and segment them into groups for better business decisions.</a:t>
            </a:r>
            <a:endParaRPr sz="1230">
              <a:latin typeface="Didact Gothic"/>
              <a:ea typeface="Didact Gothic"/>
              <a:cs typeface="Didact Gothic"/>
              <a:sym typeface="Didact Gothic"/>
            </a:endParaRPr>
          </a:p>
          <a:p>
            <a:pPr indent="0" lvl="0" marL="457200" rtl="0" algn="just">
              <a:lnSpc>
                <a:spcPct val="130000"/>
              </a:lnSpc>
              <a:spcBef>
                <a:spcPts val="0"/>
              </a:spcBef>
              <a:spcAft>
                <a:spcPts val="0"/>
              </a:spcAft>
              <a:buClr>
                <a:schemeClr val="dk1"/>
              </a:buClr>
              <a:buSzPts val="1100"/>
              <a:buFont typeface="Arial"/>
              <a:buNone/>
            </a:pPr>
            <a:r>
              <a:rPr lang="en-US" sz="1230">
                <a:latin typeface="Didact Gothic"/>
                <a:ea typeface="Didact Gothic"/>
                <a:cs typeface="Didact Gothic"/>
                <a:sym typeface="Didact Gothic"/>
              </a:rPr>
              <a:t>- Recency (R): How recently a customer made a purchase.</a:t>
            </a:r>
            <a:endParaRPr sz="1230">
              <a:latin typeface="Didact Gothic"/>
              <a:ea typeface="Didact Gothic"/>
              <a:cs typeface="Didact Gothic"/>
              <a:sym typeface="Didact Gothic"/>
            </a:endParaRPr>
          </a:p>
          <a:p>
            <a:pPr indent="0" lvl="0" marL="457200" rtl="0" algn="just">
              <a:lnSpc>
                <a:spcPct val="130000"/>
              </a:lnSpc>
              <a:spcBef>
                <a:spcPts val="0"/>
              </a:spcBef>
              <a:spcAft>
                <a:spcPts val="0"/>
              </a:spcAft>
              <a:buClr>
                <a:schemeClr val="dk1"/>
              </a:buClr>
              <a:buSzPts val="1100"/>
              <a:buFont typeface="Arial"/>
              <a:buNone/>
            </a:pPr>
            <a:r>
              <a:rPr lang="en-US" sz="1230">
                <a:latin typeface="Didact Gothic"/>
                <a:ea typeface="Didact Gothic"/>
                <a:cs typeface="Didact Gothic"/>
                <a:sym typeface="Didact Gothic"/>
              </a:rPr>
              <a:t>- Frequency (F): How often a customer makes purchases.</a:t>
            </a:r>
            <a:endParaRPr sz="1230">
              <a:latin typeface="Didact Gothic"/>
              <a:ea typeface="Didact Gothic"/>
              <a:cs typeface="Didact Gothic"/>
              <a:sym typeface="Didact Gothic"/>
            </a:endParaRPr>
          </a:p>
          <a:p>
            <a:pPr indent="0" lvl="0" marL="457200" rtl="0" algn="just">
              <a:lnSpc>
                <a:spcPct val="130000"/>
              </a:lnSpc>
              <a:spcBef>
                <a:spcPts val="0"/>
              </a:spcBef>
              <a:spcAft>
                <a:spcPts val="0"/>
              </a:spcAft>
              <a:buClr>
                <a:schemeClr val="dk1"/>
              </a:buClr>
              <a:buSzPts val="1100"/>
              <a:buFont typeface="Arial"/>
              <a:buNone/>
            </a:pPr>
            <a:r>
              <a:rPr lang="en-US" sz="1230">
                <a:latin typeface="Didact Gothic"/>
                <a:ea typeface="Didact Gothic"/>
                <a:cs typeface="Didact Gothic"/>
                <a:sym typeface="Didact Gothic"/>
              </a:rPr>
              <a:t>- Monetary Value (M): How much money a customer spends.</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b="1" lang="en-US" sz="1230">
                <a:latin typeface="Didact Gothic"/>
                <a:ea typeface="Didact Gothic"/>
                <a:cs typeface="Didact Gothic"/>
                <a:sym typeface="Didact Gothic"/>
              </a:rPr>
              <a:t>Why RFM Analysis?</a:t>
            </a:r>
            <a:endParaRPr b="1"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Identify loyal customers.</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Spot high-value customers.</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Target lapsed customers with campaigns.</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b="1" lang="en-US" sz="1230">
                <a:latin typeface="Didact Gothic"/>
                <a:ea typeface="Didact Gothic"/>
                <a:cs typeface="Didact Gothic"/>
                <a:sym typeface="Didact Gothic"/>
              </a:rPr>
              <a:t>Data Preparation : </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lang="en-US" sz="1230">
                <a:latin typeface="Didact Gothic"/>
                <a:ea typeface="Didact Gothic"/>
                <a:cs typeface="Didact Gothic"/>
                <a:sym typeface="Didact Gothic"/>
              </a:rPr>
              <a:t>The first step is to organize customer transaction data into a table where each row represents a customer, and the columns are:</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Char char="●"/>
            </a:pPr>
            <a:r>
              <a:rPr lang="en-US" sz="1230">
                <a:latin typeface="Didact Gothic"/>
                <a:ea typeface="Didact Gothic"/>
                <a:cs typeface="Didact Gothic"/>
                <a:sym typeface="Didact Gothic"/>
              </a:rPr>
              <a:t>Customer ID</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Char char="●"/>
            </a:pPr>
            <a:r>
              <a:rPr lang="en-US" sz="1230">
                <a:latin typeface="Didact Gothic"/>
                <a:ea typeface="Didact Gothic"/>
                <a:cs typeface="Didact Gothic"/>
                <a:sym typeface="Didact Gothic"/>
              </a:rPr>
              <a:t>Recency: Days since the last purchase.</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Char char="●"/>
            </a:pPr>
            <a:r>
              <a:rPr lang="en-US" sz="1230">
                <a:latin typeface="Didact Gothic"/>
                <a:ea typeface="Didact Gothic"/>
                <a:cs typeface="Didact Gothic"/>
                <a:sym typeface="Didact Gothic"/>
              </a:rPr>
              <a:t>Frequency: Total number of transactions.</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Char char="●"/>
            </a:pPr>
            <a:r>
              <a:rPr lang="en-US" sz="1230">
                <a:latin typeface="Didact Gothic"/>
                <a:ea typeface="Didact Gothic"/>
                <a:cs typeface="Didact Gothic"/>
                <a:sym typeface="Didact Gothic"/>
              </a:rPr>
              <a:t>Monetary Value: Total amount spent </a:t>
            </a:r>
            <a:endParaRPr sz="1230">
              <a:latin typeface="Didact Gothic"/>
              <a:ea typeface="Didact Gothic"/>
              <a:cs typeface="Didact Gothic"/>
              <a:sym typeface="Didact Gothic"/>
            </a:endParaRPr>
          </a:p>
          <a:p>
            <a:pPr indent="0" lvl="0" marL="457200" rtl="0" algn="just">
              <a:lnSpc>
                <a:spcPct val="130000"/>
              </a:lnSpc>
              <a:spcBef>
                <a:spcPts val="0"/>
              </a:spcBef>
              <a:spcAft>
                <a:spcPts val="0"/>
              </a:spcAft>
              <a:buSzPts val="1400"/>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Clr>
                <a:schemeClr val="dk1"/>
              </a:buClr>
              <a:buSzPts val="1100"/>
              <a:buFont typeface="Arial"/>
              <a:buNone/>
            </a:pPr>
            <a:r>
              <a:rPr b="1" lang="en-US" sz="1230">
                <a:latin typeface="Didact Gothic"/>
                <a:ea typeface="Didact Gothic"/>
                <a:cs typeface="Didact Gothic"/>
                <a:sym typeface="Didact Gothic"/>
              </a:rPr>
              <a:t>Since we don't have those values let's create them!</a:t>
            </a:r>
            <a:endParaRPr b="1"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Import our transaction data.</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Calculate:</a:t>
            </a:r>
            <a:endParaRPr sz="1230">
              <a:latin typeface="Didact Gothic"/>
              <a:ea typeface="Didact Gothic"/>
              <a:cs typeface="Didact Gothic"/>
              <a:sym typeface="Didact Gothic"/>
            </a:endParaRPr>
          </a:p>
          <a:p>
            <a:pPr indent="-306705" lvl="1" marL="914400" rtl="0" algn="just">
              <a:lnSpc>
                <a:spcPct val="130000"/>
              </a:lnSpc>
              <a:spcBef>
                <a:spcPts val="0"/>
              </a:spcBef>
              <a:spcAft>
                <a:spcPts val="0"/>
              </a:spcAft>
              <a:buSzPts val="1230"/>
              <a:buFont typeface="Didact Gothic"/>
              <a:buAutoNum type="alphaLcPeriod"/>
            </a:pPr>
            <a:r>
              <a:rPr b="1" lang="en-US" sz="1230">
                <a:latin typeface="Didact Gothic"/>
                <a:ea typeface="Didact Gothic"/>
                <a:cs typeface="Didact Gothic"/>
                <a:sym typeface="Didact Gothic"/>
              </a:rPr>
              <a:t>Recency</a:t>
            </a:r>
            <a:r>
              <a:rPr lang="en-US" sz="1230">
                <a:latin typeface="Didact Gothic"/>
                <a:ea typeface="Didact Gothic"/>
                <a:cs typeface="Didact Gothic"/>
                <a:sym typeface="Didact Gothic"/>
              </a:rPr>
              <a:t>: Find the difference between today's date and the last purchase date.</a:t>
            </a:r>
            <a:endParaRPr sz="1230">
              <a:latin typeface="Didact Gothic"/>
              <a:ea typeface="Didact Gothic"/>
              <a:cs typeface="Didact Gothic"/>
              <a:sym typeface="Didact Gothic"/>
            </a:endParaRPr>
          </a:p>
          <a:p>
            <a:pPr indent="-306705" lvl="1" marL="914400" rtl="0" algn="just">
              <a:lnSpc>
                <a:spcPct val="130000"/>
              </a:lnSpc>
              <a:spcBef>
                <a:spcPts val="0"/>
              </a:spcBef>
              <a:spcAft>
                <a:spcPts val="0"/>
              </a:spcAft>
              <a:buSzPts val="1230"/>
              <a:buFont typeface="Didact Gothic"/>
              <a:buAutoNum type="alphaLcPeriod"/>
            </a:pPr>
            <a:r>
              <a:rPr b="1" lang="en-US" sz="1230">
                <a:latin typeface="Didact Gothic"/>
                <a:ea typeface="Didact Gothic"/>
                <a:cs typeface="Didact Gothic"/>
                <a:sym typeface="Didact Gothic"/>
              </a:rPr>
              <a:t>Frequency</a:t>
            </a:r>
            <a:r>
              <a:rPr lang="en-US" sz="1230">
                <a:latin typeface="Didact Gothic"/>
                <a:ea typeface="Didact Gothic"/>
                <a:cs typeface="Didact Gothic"/>
                <a:sym typeface="Didact Gothic"/>
              </a:rPr>
              <a:t>: Count the number of transactions per customer.</a:t>
            </a:r>
            <a:endParaRPr sz="1230">
              <a:latin typeface="Didact Gothic"/>
              <a:ea typeface="Didact Gothic"/>
              <a:cs typeface="Didact Gothic"/>
              <a:sym typeface="Didact Gothic"/>
            </a:endParaRPr>
          </a:p>
          <a:p>
            <a:pPr indent="-306705" lvl="1" marL="914400" rtl="0" algn="just">
              <a:lnSpc>
                <a:spcPct val="130000"/>
              </a:lnSpc>
              <a:spcBef>
                <a:spcPts val="0"/>
              </a:spcBef>
              <a:spcAft>
                <a:spcPts val="0"/>
              </a:spcAft>
              <a:buSzPts val="1230"/>
              <a:buFont typeface="Didact Gothic"/>
              <a:buAutoNum type="alphaLcPeriod"/>
            </a:pPr>
            <a:r>
              <a:rPr b="1" lang="en-US" sz="1230">
                <a:latin typeface="Didact Gothic"/>
                <a:ea typeface="Didact Gothic"/>
                <a:cs typeface="Didact Gothic"/>
                <a:sym typeface="Didact Gothic"/>
              </a:rPr>
              <a:t>Monetary Value</a:t>
            </a:r>
            <a:r>
              <a:rPr lang="en-US" sz="1230">
                <a:latin typeface="Didact Gothic"/>
                <a:ea typeface="Didact Gothic"/>
                <a:cs typeface="Didact Gothic"/>
                <a:sym typeface="Didact Gothic"/>
              </a:rPr>
              <a:t>: Sum up the transaction amounts for each customer.</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Merge all the RFM attributes into one dataset </a:t>
            </a:r>
            <a:endParaRPr sz="1230">
              <a:latin typeface="Didact Gothic"/>
              <a:ea typeface="Didact Gothic"/>
              <a:cs typeface="Didact Gothic"/>
              <a:sym typeface="Didact Gothic"/>
            </a:endParaRPr>
          </a:p>
          <a:p>
            <a:pPr indent="-306705" lvl="0" marL="457200" rtl="0" algn="just">
              <a:lnSpc>
                <a:spcPct val="130000"/>
              </a:lnSpc>
              <a:spcBef>
                <a:spcPts val="0"/>
              </a:spcBef>
              <a:spcAft>
                <a:spcPts val="0"/>
              </a:spcAft>
              <a:buSzPts val="1230"/>
              <a:buFont typeface="Didact Gothic"/>
              <a:buAutoNum type="arabicPeriod"/>
            </a:pPr>
            <a:r>
              <a:rPr lang="en-US" sz="1230">
                <a:latin typeface="Didact Gothic"/>
                <a:ea typeface="Didact Gothic"/>
                <a:cs typeface="Didact Gothic"/>
                <a:sym typeface="Didact Gothic"/>
              </a:rPr>
              <a:t>Analyse them after applying some descriptive statistics.</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b="1"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a:p>
            <a:pPr indent="0" lvl="0" marL="0" rtl="0" algn="just">
              <a:lnSpc>
                <a:spcPct val="130000"/>
              </a:lnSpc>
              <a:spcBef>
                <a:spcPts val="0"/>
              </a:spcBef>
              <a:spcAft>
                <a:spcPts val="0"/>
              </a:spcAft>
              <a:buSzPts val="852"/>
              <a:buNone/>
            </a:pPr>
            <a:r>
              <a:t/>
            </a:r>
            <a:endParaRPr sz="1230">
              <a:latin typeface="Didact Gothic"/>
              <a:ea typeface="Didact Gothic"/>
              <a:cs typeface="Didact Gothic"/>
              <a:sym typeface="Didact Gothic"/>
            </a:endParaRPr>
          </a:p>
        </p:txBody>
      </p:sp>
      <p:pic>
        <p:nvPicPr>
          <p:cNvPr id="499" name="Google Shape;499;p62"/>
          <p:cNvPicPr preferRelativeResize="0"/>
          <p:nvPr/>
        </p:nvPicPr>
        <p:blipFill rotWithShape="1">
          <a:blip r:embed="rId3">
            <a:alphaModFix/>
          </a:blip>
          <a:srcRect b="0" l="0" r="0" t="0"/>
          <a:stretch/>
        </p:blipFill>
        <p:spPr>
          <a:xfrm>
            <a:off x="3896225" y="3133625"/>
            <a:ext cx="3490525" cy="1767450"/>
          </a:xfrm>
          <a:prstGeom prst="rect">
            <a:avLst/>
          </a:prstGeom>
          <a:noFill/>
          <a:ln cap="flat" cmpd="sng" w="19050">
            <a:solidFill>
              <a:schemeClr val="dk2"/>
            </a:solidFill>
            <a:prstDash val="solid"/>
            <a:round/>
            <a:headEnd len="sm" w="sm" type="none"/>
            <a:tailEnd len="sm" w="sm" type="none"/>
          </a:ln>
        </p:spPr>
      </p:pic>
      <p:pic>
        <p:nvPicPr>
          <p:cNvPr id="500" name="Google Shape;500;p62"/>
          <p:cNvPicPr preferRelativeResize="0"/>
          <p:nvPr/>
        </p:nvPicPr>
        <p:blipFill rotWithShape="1">
          <a:blip r:embed="rId4">
            <a:alphaModFix/>
          </a:blip>
          <a:srcRect b="0" l="0" r="0" t="0"/>
          <a:stretch/>
        </p:blipFill>
        <p:spPr>
          <a:xfrm>
            <a:off x="3917813" y="5433200"/>
            <a:ext cx="3447349" cy="1767450"/>
          </a:xfrm>
          <a:prstGeom prst="rect">
            <a:avLst/>
          </a:prstGeom>
          <a:noFill/>
          <a:ln cap="flat" cmpd="sng" w="19050">
            <a:solidFill>
              <a:schemeClr val="dk2"/>
            </a:solidFill>
            <a:prstDash val="solid"/>
            <a:round/>
            <a:headEnd len="sm" w="sm" type="none"/>
            <a:tailEnd len="sm" w="sm" type="none"/>
          </a:ln>
        </p:spPr>
      </p:pic>
      <p:pic>
        <p:nvPicPr>
          <p:cNvPr id="501" name="Google Shape;501;p62"/>
          <p:cNvPicPr preferRelativeResize="0"/>
          <p:nvPr/>
        </p:nvPicPr>
        <p:blipFill rotWithShape="1">
          <a:blip r:embed="rId5">
            <a:alphaModFix/>
          </a:blip>
          <a:srcRect b="0" l="0" r="0" t="0"/>
          <a:stretch/>
        </p:blipFill>
        <p:spPr>
          <a:xfrm>
            <a:off x="452651" y="8627625"/>
            <a:ext cx="3324725" cy="1646350"/>
          </a:xfrm>
          <a:prstGeom prst="rect">
            <a:avLst/>
          </a:prstGeom>
          <a:noFill/>
          <a:ln cap="flat" cmpd="sng" w="19050">
            <a:solidFill>
              <a:schemeClr val="dk2"/>
            </a:solidFill>
            <a:prstDash val="solid"/>
            <a:round/>
            <a:headEnd len="sm" w="sm" type="none"/>
            <a:tailEnd len="sm" w="sm" type="none"/>
          </a:ln>
        </p:spPr>
      </p:pic>
      <p:pic>
        <p:nvPicPr>
          <p:cNvPr id="502" name="Google Shape;502;p62"/>
          <p:cNvPicPr preferRelativeResize="0"/>
          <p:nvPr/>
        </p:nvPicPr>
        <p:blipFill rotWithShape="1">
          <a:blip r:embed="rId6">
            <a:alphaModFix/>
          </a:blip>
          <a:srcRect b="21732" l="30606" r="53933" t="60727"/>
          <a:stretch/>
        </p:blipFill>
        <p:spPr>
          <a:xfrm>
            <a:off x="3880525" y="8627625"/>
            <a:ext cx="3521925" cy="1123825"/>
          </a:xfrm>
          <a:prstGeom prst="rect">
            <a:avLst/>
          </a:prstGeom>
          <a:noFill/>
          <a:ln cap="flat" cmpd="sng" w="19050">
            <a:solidFill>
              <a:schemeClr val="dk2"/>
            </a:solidFill>
            <a:prstDash val="solid"/>
            <a:round/>
            <a:headEnd len="sm" w="sm" type="none"/>
            <a:tailEnd len="sm" w="sm" type="none"/>
          </a:ln>
        </p:spPr>
      </p:pic>
      <p:cxnSp>
        <p:nvCxnSpPr>
          <p:cNvPr id="503" name="Google Shape;503;p62"/>
          <p:cNvCxnSpPr/>
          <p:nvPr/>
        </p:nvCxnSpPr>
        <p:spPr>
          <a:xfrm flipH="1" rot="10800000">
            <a:off x="3340200" y="9411850"/>
            <a:ext cx="796200" cy="4527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grpSp>
        <p:nvGrpSpPr>
          <p:cNvPr id="508" name="Google Shape;508;p63"/>
          <p:cNvGrpSpPr/>
          <p:nvPr/>
        </p:nvGrpSpPr>
        <p:grpSpPr>
          <a:xfrm>
            <a:off x="-1500" y="10054089"/>
            <a:ext cx="7559700" cy="660067"/>
            <a:chOff x="-1500" y="9788760"/>
            <a:chExt cx="7559700" cy="925500"/>
          </a:xfrm>
        </p:grpSpPr>
        <p:sp>
          <p:nvSpPr>
            <p:cNvPr id="509" name="Google Shape;509;p63"/>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63"/>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1" name="Google Shape;511;p63"/>
          <p:cNvSpPr/>
          <p:nvPr/>
        </p:nvSpPr>
        <p:spPr>
          <a:xfrm>
            <a:off x="505800" y="1031950"/>
            <a:ext cx="6425700" cy="31050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Data visualization of RFM</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1100"/>
              <a:buFont typeface="Arial"/>
              <a:buNone/>
            </a:pPr>
            <a:r>
              <a:rPr b="0" i="0" lang="en-US" sz="1230" u="none" cap="none" strike="noStrike">
                <a:solidFill>
                  <a:schemeClr val="dk1"/>
                </a:solidFill>
                <a:latin typeface="Didact Gothic"/>
                <a:ea typeface="Didact Gothic"/>
                <a:cs typeface="Didact Gothic"/>
                <a:sym typeface="Didact Gothic"/>
              </a:rPr>
              <a:t>As a team, we believe that data visualization plays a key role in our data analysis process. It helps us to explain and understand the data before moving on to more complex tasks like training machine learning models. By visualizing the data, we can quickly spot anomalies or outliers, see how variables are distributed, and identify correlations between them.</a:t>
            </a:r>
            <a:endParaRPr b="0"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1100"/>
              <a:buFont typeface="Arial"/>
              <a:buNone/>
            </a:pPr>
            <a:r>
              <a:t/>
            </a:r>
            <a:endParaRPr b="0"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1100"/>
              <a:buFont typeface="Arial"/>
              <a:buNone/>
            </a:pPr>
            <a:r>
              <a:rPr b="0" i="0" lang="en-US" sz="1230" u="none" cap="none" strike="noStrike">
                <a:solidFill>
                  <a:schemeClr val="dk1"/>
                </a:solidFill>
                <a:latin typeface="Didact Gothic"/>
                <a:ea typeface="Didact Gothic"/>
                <a:cs typeface="Didact Gothic"/>
                <a:sym typeface="Didact Gothic"/>
              </a:rPr>
              <a:t>This step is crucial for choosing the right preprocessing techniques and evaluating their effectiveness. In addition, data visualization helps us present our findings to non-technical stakeholders, allowing them to better understand the results and make informed decisions. In short, visualization improves the overall quality and understanding of data, leading to more efficient and accurate models.</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We first tried to understand those better with boxplots as seen below and with distplots :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Final insights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These insights are interesting, but they are presented individually. To gain a more comprehensive understanding, we need to combine them or develop a scoring system that allows us to visualize the data more effectively.</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To effectively combine insights, we can create a scoring system that integrates both qualitative and quantitative data, allowing us to visualize and understand the information as a whole.</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512" name="Google Shape;512;p63"/>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63"/>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2. PRE-PROCESSING OF DATA and RFM</a:t>
            </a:r>
            <a:endParaRPr sz="2700">
              <a:latin typeface="Manrope"/>
              <a:ea typeface="Manrope"/>
              <a:cs typeface="Manrope"/>
              <a:sym typeface="Manrope"/>
            </a:endParaRPr>
          </a:p>
        </p:txBody>
      </p:sp>
      <p:pic>
        <p:nvPicPr>
          <p:cNvPr id="514" name="Google Shape;514;p63"/>
          <p:cNvPicPr preferRelativeResize="0"/>
          <p:nvPr/>
        </p:nvPicPr>
        <p:blipFill rotWithShape="1">
          <a:blip r:embed="rId3">
            <a:alphaModFix/>
          </a:blip>
          <a:srcRect b="0" l="9024" r="10316" t="0"/>
          <a:stretch/>
        </p:blipFill>
        <p:spPr>
          <a:xfrm>
            <a:off x="4771300" y="5610525"/>
            <a:ext cx="2557225" cy="2970000"/>
          </a:xfrm>
          <a:prstGeom prst="rect">
            <a:avLst/>
          </a:prstGeom>
          <a:noFill/>
          <a:ln cap="flat" cmpd="sng" w="19050">
            <a:solidFill>
              <a:schemeClr val="dk2"/>
            </a:solidFill>
            <a:prstDash val="solid"/>
            <a:round/>
            <a:headEnd len="sm" w="sm" type="none"/>
            <a:tailEnd len="sm" w="sm" type="none"/>
          </a:ln>
        </p:spPr>
      </p:pic>
      <p:pic>
        <p:nvPicPr>
          <p:cNvPr id="515" name="Google Shape;515;p63"/>
          <p:cNvPicPr preferRelativeResize="0"/>
          <p:nvPr/>
        </p:nvPicPr>
        <p:blipFill rotWithShape="1">
          <a:blip r:embed="rId4">
            <a:alphaModFix/>
          </a:blip>
          <a:srcRect b="0" l="0" r="0" t="0"/>
          <a:stretch/>
        </p:blipFill>
        <p:spPr>
          <a:xfrm>
            <a:off x="584850" y="4152925"/>
            <a:ext cx="4000949" cy="2385950"/>
          </a:xfrm>
          <a:prstGeom prst="rect">
            <a:avLst/>
          </a:prstGeom>
          <a:noFill/>
          <a:ln cap="flat" cmpd="sng" w="19050">
            <a:solidFill>
              <a:schemeClr val="dk2"/>
            </a:solidFill>
            <a:prstDash val="solid"/>
            <a:round/>
            <a:headEnd len="sm" w="sm" type="none"/>
            <a:tailEnd len="sm" w="sm" type="none"/>
          </a:ln>
        </p:spPr>
      </p:pic>
      <p:sp>
        <p:nvSpPr>
          <p:cNvPr id="516" name="Google Shape;516;p63"/>
          <p:cNvSpPr txBox="1"/>
          <p:nvPr/>
        </p:nvSpPr>
        <p:spPr>
          <a:xfrm>
            <a:off x="505800" y="6720575"/>
            <a:ext cx="4080000" cy="23859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Then we decided to plot the customers RFM in a 3D plot where each axis is the log value of the previous metrics (after doing a log-transform on those metrics).</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chemeClr val="dk1"/>
                </a:solidFill>
                <a:latin typeface="Didact Gothic"/>
                <a:ea typeface="Didact Gothic"/>
                <a:cs typeface="Didact Gothic"/>
                <a:sym typeface="Didact Gothic"/>
              </a:rPr>
              <a:t>3D Plot of Customers by Log-Transformed RFM Metrics :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grpSp>
        <p:nvGrpSpPr>
          <p:cNvPr id="521" name="Google Shape;521;p64"/>
          <p:cNvGrpSpPr/>
          <p:nvPr/>
        </p:nvGrpSpPr>
        <p:grpSpPr>
          <a:xfrm>
            <a:off x="-1500" y="10054089"/>
            <a:ext cx="7559700" cy="660067"/>
            <a:chOff x="-1500" y="9788760"/>
            <a:chExt cx="7559700" cy="925500"/>
          </a:xfrm>
        </p:grpSpPr>
        <p:sp>
          <p:nvSpPr>
            <p:cNvPr id="522" name="Google Shape;522;p64"/>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64"/>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4" name="Google Shape;524;p64"/>
          <p:cNvSpPr/>
          <p:nvPr/>
        </p:nvSpPr>
        <p:spPr>
          <a:xfrm>
            <a:off x="505800" y="1031950"/>
            <a:ext cx="6425700" cy="78648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Scoring the  RFM metrics:</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We can calculate RFM (Recency, Frequency, and Monetary) scores in different ways, such as using percentiles, the 80/20 rule, or creating custom scores based on business needs. In this case, we will use percentiles for each RFM dimension.</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To calculate percentiles, we sort customers based on a specific metric, divide them into equal groups, and assign labels to each group. For RFM, the labels will represent customer behavior:</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chemeClr val="dk1"/>
              </a:buClr>
              <a:buSzPts val="1200"/>
              <a:buFont typeface="Didact Gothic"/>
              <a:buChar char="●"/>
            </a:pPr>
            <a:r>
              <a:rPr b="1" i="0" lang="en-US" sz="1200" u="none" cap="none" strike="noStrike">
                <a:solidFill>
                  <a:schemeClr val="dk1"/>
                </a:solidFill>
                <a:latin typeface="Didact Gothic"/>
                <a:ea typeface="Didact Gothic"/>
                <a:cs typeface="Didact Gothic"/>
                <a:sym typeface="Didact Gothic"/>
              </a:rPr>
              <a:t>Recency: from "Very Recent" to "Very Infrequent."</a:t>
            </a:r>
            <a:endParaRPr b="1" i="0" sz="1200" u="none" cap="none" strike="noStrike">
              <a:solidFill>
                <a:schemeClr val="dk1"/>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chemeClr val="dk1"/>
              </a:buClr>
              <a:buSzPts val="1200"/>
              <a:buFont typeface="Didact Gothic"/>
              <a:buChar char="●"/>
            </a:pPr>
            <a:r>
              <a:rPr b="1" i="0" lang="en-US" sz="1200" u="none" cap="none" strike="noStrike">
                <a:solidFill>
                  <a:schemeClr val="dk1"/>
                </a:solidFill>
                <a:latin typeface="Didact Gothic"/>
                <a:ea typeface="Didact Gothic"/>
                <a:cs typeface="Didact Gothic"/>
                <a:sym typeface="Didact Gothic"/>
              </a:rPr>
              <a:t>Frequency: from "Very Frequent" to "Very Infrequent."</a:t>
            </a:r>
            <a:endParaRPr b="1" i="0" sz="1200" u="none" cap="none" strike="noStrike">
              <a:solidFill>
                <a:schemeClr val="dk1"/>
              </a:solidFill>
              <a:latin typeface="Didact Gothic"/>
              <a:ea typeface="Didact Gothic"/>
              <a:cs typeface="Didact Gothic"/>
              <a:sym typeface="Didact Gothic"/>
            </a:endParaRPr>
          </a:p>
          <a:p>
            <a:pPr indent="-304800" lvl="0" marL="457200" marR="0" rtl="0" algn="just">
              <a:lnSpc>
                <a:spcPct val="150000"/>
              </a:lnSpc>
              <a:spcBef>
                <a:spcPts val="0"/>
              </a:spcBef>
              <a:spcAft>
                <a:spcPts val="0"/>
              </a:spcAft>
              <a:buClr>
                <a:schemeClr val="dk1"/>
              </a:buClr>
              <a:buSzPts val="1200"/>
              <a:buFont typeface="Didact Gothic"/>
              <a:buChar char="●"/>
            </a:pPr>
            <a:r>
              <a:rPr b="1" i="0" lang="en-US" sz="1200" u="none" cap="none" strike="noStrike">
                <a:solidFill>
                  <a:schemeClr val="dk1"/>
                </a:solidFill>
                <a:latin typeface="Didact Gothic"/>
                <a:ea typeface="Didact Gothic"/>
                <a:cs typeface="Didact Gothic"/>
                <a:sym typeface="Didact Gothic"/>
              </a:rPr>
              <a:t>Monetary: from "High Spending" to "Low Spending."</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After assigning labels for each RFM dimension, we combine them to create an overall RFM label for each customer. For example, if a customer has a Recency score of 4, Frequency of 5, and Monetary of 3, their combined label could be "Recent-Very Frequent-Average Spending."</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This method gives priority to customers who are more recent, since recent engagement is usually more valuable to businesses. Higher scores for Frequency and Monetary values are also important, as companies want to encourage more visits and higher spending.</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We divide each RFM dimension into five groups, each containing 20% of the customers. This approach is based on the distribution of customer data, shown through boxplots, and helps highlight differences in customer behavior. This method allows us to make better decisions by clearly showing how customers compare in terms of </a:t>
            </a:r>
            <a:r>
              <a:rPr b="1" i="0" lang="en-US" sz="1200" u="none" cap="none" strike="noStrike">
                <a:solidFill>
                  <a:schemeClr val="dk1"/>
                </a:solidFill>
                <a:latin typeface="Didact Gothic"/>
                <a:ea typeface="Didact Gothic"/>
                <a:cs typeface="Didact Gothic"/>
                <a:sym typeface="Didact Gothic"/>
              </a:rPr>
              <a:t>recency, frequency, and spending.</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Final RFM scores dataset :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525" name="Google Shape;525;p64"/>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64"/>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2. PRE-PROCESSING OF DATA and RFM</a:t>
            </a:r>
            <a:endParaRPr sz="2700">
              <a:latin typeface="Manrope"/>
              <a:ea typeface="Manrope"/>
              <a:cs typeface="Manrope"/>
              <a:sym typeface="Manrope"/>
            </a:endParaRPr>
          </a:p>
        </p:txBody>
      </p:sp>
      <p:pic>
        <p:nvPicPr>
          <p:cNvPr id="527" name="Google Shape;527;p64"/>
          <p:cNvPicPr preferRelativeResize="0"/>
          <p:nvPr/>
        </p:nvPicPr>
        <p:blipFill rotWithShape="1">
          <a:blip r:embed="rId3">
            <a:alphaModFix/>
          </a:blip>
          <a:srcRect b="0" l="0" r="0" t="0"/>
          <a:stretch/>
        </p:blipFill>
        <p:spPr>
          <a:xfrm>
            <a:off x="612775" y="8241250"/>
            <a:ext cx="6211750" cy="18128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grpSp>
        <p:nvGrpSpPr>
          <p:cNvPr id="532" name="Google Shape;532;p65"/>
          <p:cNvGrpSpPr/>
          <p:nvPr/>
        </p:nvGrpSpPr>
        <p:grpSpPr>
          <a:xfrm>
            <a:off x="-1500" y="10054089"/>
            <a:ext cx="7559700" cy="660067"/>
            <a:chOff x="-1500" y="9788760"/>
            <a:chExt cx="7559700" cy="925500"/>
          </a:xfrm>
        </p:grpSpPr>
        <p:sp>
          <p:nvSpPr>
            <p:cNvPr id="533" name="Google Shape;533;p65"/>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5"/>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5" name="Google Shape;535;p65"/>
          <p:cNvSpPr/>
          <p:nvPr/>
        </p:nvSpPr>
        <p:spPr>
          <a:xfrm>
            <a:off x="505800" y="1031950"/>
            <a:ext cx="6425700" cy="84372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Data Viz of Customer Segments  based on RFM scores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Final observation :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1"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rgbClr val="272727"/>
                </a:solidFill>
                <a:latin typeface="Didact Gothic"/>
                <a:ea typeface="Didact Gothic"/>
                <a:cs typeface="Didact Gothic"/>
                <a:sym typeface="Didact Gothic"/>
              </a:rPr>
              <a:t>The current RFM segmentation method oversimplifies customer behavior</a:t>
            </a:r>
            <a:r>
              <a:rPr b="0" i="0" lang="en-US" sz="1200" u="none" cap="none" strike="noStrike">
                <a:solidFill>
                  <a:srgbClr val="272727"/>
                </a:solidFill>
                <a:latin typeface="Didact Gothic"/>
                <a:ea typeface="Didact Gothic"/>
                <a:cs typeface="Didact Gothic"/>
                <a:sym typeface="Didact Gothic"/>
              </a:rPr>
              <a:t> by relying on arbitrary thresholds for recency, frequency, and monetary values. </a:t>
            </a:r>
            <a:r>
              <a:rPr b="1" i="0" lang="en-US" sz="1200" u="none" cap="none" strike="noStrike">
                <a:solidFill>
                  <a:srgbClr val="272727"/>
                </a:solidFill>
                <a:latin typeface="Didact Gothic"/>
                <a:ea typeface="Didact Gothic"/>
                <a:cs typeface="Didact Gothic"/>
                <a:sym typeface="Didact Gothic"/>
              </a:rPr>
              <a:t>This can lead to misrepresentations, such as categorizing a one-time high spender as a high-value customer. </a:t>
            </a:r>
            <a:r>
              <a:rPr b="0" i="0" lang="en-US" sz="1200" u="none" cap="none" strike="noStrike">
                <a:solidFill>
                  <a:srgbClr val="272727"/>
                </a:solidFill>
                <a:latin typeface="Didact Gothic"/>
                <a:ea typeface="Didact Gothic"/>
                <a:cs typeface="Didact Gothic"/>
                <a:sym typeface="Didact Gothic"/>
              </a:rPr>
              <a:t>Furthermore, this static approach fails to adapt to changes in customer behavior or future trends.</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To gain a more accurate understanding of customer value and improve decision-making, we should </a:t>
            </a:r>
            <a:r>
              <a:rPr b="1" i="0" lang="en-US" sz="1200" u="none" cap="none" strike="noStrike">
                <a:solidFill>
                  <a:srgbClr val="272727"/>
                </a:solidFill>
                <a:latin typeface="Didact Gothic"/>
                <a:ea typeface="Didact Gothic"/>
                <a:cs typeface="Didact Gothic"/>
                <a:sym typeface="Didact Gothic"/>
              </a:rPr>
              <a:t>consider using K-means clustering</a:t>
            </a:r>
            <a:r>
              <a:rPr b="0" i="0" lang="en-US" sz="1200" u="none" cap="none" strike="noStrike">
                <a:solidFill>
                  <a:srgbClr val="272727"/>
                </a:solidFill>
                <a:latin typeface="Didact Gothic"/>
                <a:ea typeface="Didact Gothic"/>
                <a:cs typeface="Didact Gothic"/>
                <a:sym typeface="Didact Gothic"/>
              </a:rPr>
              <a:t>. This method allows for more granular segmentation and can dynamically adjust to customer behaviors, providing deeper insights into our customer base.</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536" name="Google Shape;536;p65"/>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5"/>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2. PRE-PROCESSING OF DATA and RFM</a:t>
            </a:r>
            <a:endParaRPr sz="2700">
              <a:latin typeface="Manrope"/>
              <a:ea typeface="Manrope"/>
              <a:cs typeface="Manrope"/>
              <a:sym typeface="Manrope"/>
            </a:endParaRPr>
          </a:p>
        </p:txBody>
      </p:sp>
      <p:pic>
        <p:nvPicPr>
          <p:cNvPr id="538" name="Google Shape;538;p65"/>
          <p:cNvPicPr preferRelativeResize="0"/>
          <p:nvPr/>
        </p:nvPicPr>
        <p:blipFill rotWithShape="1">
          <a:blip r:embed="rId3">
            <a:alphaModFix/>
          </a:blip>
          <a:srcRect b="0" l="0" r="0" t="0"/>
          <a:stretch/>
        </p:blipFill>
        <p:spPr>
          <a:xfrm>
            <a:off x="505800" y="1532199"/>
            <a:ext cx="6875375" cy="3359665"/>
          </a:xfrm>
          <a:prstGeom prst="rect">
            <a:avLst/>
          </a:prstGeom>
          <a:noFill/>
          <a:ln cap="flat" cmpd="sng" w="19050">
            <a:solidFill>
              <a:schemeClr val="dk2"/>
            </a:solidFill>
            <a:prstDash val="solid"/>
            <a:round/>
            <a:headEnd len="sm" w="sm" type="none"/>
            <a:tailEnd len="sm" w="sm" type="none"/>
          </a:ln>
        </p:spPr>
      </p:pic>
      <p:pic>
        <p:nvPicPr>
          <p:cNvPr id="539" name="Google Shape;539;p65"/>
          <p:cNvPicPr preferRelativeResize="0"/>
          <p:nvPr/>
        </p:nvPicPr>
        <p:blipFill rotWithShape="1">
          <a:blip r:embed="rId4">
            <a:alphaModFix/>
          </a:blip>
          <a:srcRect b="0" l="0" r="0" t="0"/>
          <a:stretch/>
        </p:blipFill>
        <p:spPr>
          <a:xfrm>
            <a:off x="1099175" y="3060825"/>
            <a:ext cx="4105275" cy="2533650"/>
          </a:xfrm>
          <a:prstGeom prst="rect">
            <a:avLst/>
          </a:prstGeom>
          <a:noFill/>
          <a:ln cap="flat" cmpd="sng" w="19050">
            <a:solidFill>
              <a:schemeClr val="dk2"/>
            </a:solidFill>
            <a:prstDash val="solid"/>
            <a:round/>
            <a:headEnd len="sm" w="sm" type="none"/>
            <a:tailEnd len="sm" w="sm" type="none"/>
          </a:ln>
        </p:spPr>
      </p:pic>
      <p:cxnSp>
        <p:nvCxnSpPr>
          <p:cNvPr id="540" name="Google Shape;540;p65"/>
          <p:cNvCxnSpPr/>
          <p:nvPr/>
        </p:nvCxnSpPr>
        <p:spPr>
          <a:xfrm flipH="1">
            <a:off x="4604650" y="4401600"/>
            <a:ext cx="1373400" cy="15600"/>
          </a:xfrm>
          <a:prstGeom prst="straightConnector1">
            <a:avLst/>
          </a:prstGeom>
          <a:noFill/>
          <a:ln cap="flat" cmpd="sng" w="38100">
            <a:solidFill>
              <a:srgbClr val="0066FF"/>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pSp>
        <p:nvGrpSpPr>
          <p:cNvPr id="545" name="Google Shape;545;p66"/>
          <p:cNvGrpSpPr/>
          <p:nvPr/>
        </p:nvGrpSpPr>
        <p:grpSpPr>
          <a:xfrm>
            <a:off x="-1500" y="10054089"/>
            <a:ext cx="7559700" cy="660067"/>
            <a:chOff x="-1500" y="9788760"/>
            <a:chExt cx="7559700" cy="925500"/>
          </a:xfrm>
        </p:grpSpPr>
        <p:sp>
          <p:nvSpPr>
            <p:cNvPr id="546" name="Google Shape;546;p66"/>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66"/>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8" name="Google Shape;548;p66"/>
          <p:cNvSpPr/>
          <p:nvPr/>
        </p:nvSpPr>
        <p:spPr>
          <a:xfrm>
            <a:off x="505800" y="1031950"/>
            <a:ext cx="6425700" cy="87423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Clustering with K-Means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We decided to explore different approaches to chose our number of clusters like the Elbow curve</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and the Silhouette.</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The best number of clusters seemed to be K=3 or K=5 so we decided to explore those two extensively.</a:t>
            </a:r>
            <a:r>
              <a:rPr b="1" i="0" lang="en-US" sz="1200" u="none" cap="none" strike="noStrike">
                <a:solidFill>
                  <a:schemeClr val="dk1"/>
                </a:solidFill>
                <a:latin typeface="Didact Gothic"/>
                <a:ea typeface="Didact Gothic"/>
                <a:cs typeface="Didact Gothic"/>
                <a:sym typeface="Didact Gothic"/>
              </a:rPr>
              <a: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549" name="Google Shape;549;p66"/>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66"/>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1400"/>
              <a:buFont typeface="Arial"/>
              <a:buNone/>
            </a:pPr>
            <a:r>
              <a:rPr lang="en-US" sz="2700">
                <a:latin typeface="Manrope"/>
                <a:ea typeface="Manrope"/>
                <a:cs typeface="Manrope"/>
                <a:sym typeface="Manrope"/>
              </a:rPr>
              <a:t>3. ARTIFICIAL INTELLIGENCE MODEL</a:t>
            </a:r>
            <a:endParaRPr sz="2700">
              <a:latin typeface="Manrope"/>
              <a:ea typeface="Manrope"/>
              <a:cs typeface="Manrope"/>
              <a:sym typeface="Manrope"/>
            </a:endParaRPr>
          </a:p>
        </p:txBody>
      </p:sp>
      <p:pic>
        <p:nvPicPr>
          <p:cNvPr id="551" name="Google Shape;551;p66"/>
          <p:cNvPicPr preferRelativeResize="0"/>
          <p:nvPr/>
        </p:nvPicPr>
        <p:blipFill rotWithShape="1">
          <a:blip r:embed="rId3">
            <a:alphaModFix/>
          </a:blip>
          <a:srcRect b="0" l="0" r="0" t="0"/>
          <a:stretch/>
        </p:blipFill>
        <p:spPr>
          <a:xfrm>
            <a:off x="505800" y="1816375"/>
            <a:ext cx="3217945" cy="2354226"/>
          </a:xfrm>
          <a:prstGeom prst="rect">
            <a:avLst/>
          </a:prstGeom>
          <a:noFill/>
          <a:ln cap="flat" cmpd="sng" w="19050">
            <a:solidFill>
              <a:schemeClr val="dk2"/>
            </a:solidFill>
            <a:prstDash val="solid"/>
            <a:round/>
            <a:headEnd len="sm" w="sm" type="none"/>
            <a:tailEnd len="sm" w="sm" type="none"/>
          </a:ln>
        </p:spPr>
      </p:pic>
      <p:pic>
        <p:nvPicPr>
          <p:cNvPr id="552" name="Google Shape;552;p66"/>
          <p:cNvPicPr preferRelativeResize="0"/>
          <p:nvPr/>
        </p:nvPicPr>
        <p:blipFill rotWithShape="1">
          <a:blip r:embed="rId4">
            <a:alphaModFix/>
          </a:blip>
          <a:srcRect b="0" l="0" r="0" t="0"/>
          <a:stretch/>
        </p:blipFill>
        <p:spPr>
          <a:xfrm>
            <a:off x="3989875" y="1816363"/>
            <a:ext cx="3381149" cy="2354247"/>
          </a:xfrm>
          <a:prstGeom prst="rect">
            <a:avLst/>
          </a:prstGeom>
          <a:noFill/>
          <a:ln cap="flat" cmpd="sng" w="19050">
            <a:solidFill>
              <a:schemeClr val="dk2"/>
            </a:solidFill>
            <a:prstDash val="solid"/>
            <a:round/>
            <a:headEnd len="sm" w="sm" type="none"/>
            <a:tailEnd len="sm" w="sm" type="none"/>
          </a:ln>
        </p:spPr>
      </p:pic>
      <p:pic>
        <p:nvPicPr>
          <p:cNvPr id="553" name="Google Shape;553;p66"/>
          <p:cNvPicPr preferRelativeResize="0"/>
          <p:nvPr/>
        </p:nvPicPr>
        <p:blipFill rotWithShape="1">
          <a:blip r:embed="rId5">
            <a:alphaModFix/>
          </a:blip>
          <a:srcRect b="0" l="0" r="0" t="0"/>
          <a:stretch/>
        </p:blipFill>
        <p:spPr>
          <a:xfrm>
            <a:off x="505800" y="5213612"/>
            <a:ext cx="3299101" cy="3020080"/>
          </a:xfrm>
          <a:prstGeom prst="rect">
            <a:avLst/>
          </a:prstGeom>
          <a:noFill/>
          <a:ln cap="flat" cmpd="sng" w="19050">
            <a:solidFill>
              <a:schemeClr val="dk2"/>
            </a:solidFill>
            <a:prstDash val="solid"/>
            <a:round/>
            <a:headEnd len="sm" w="sm" type="none"/>
            <a:tailEnd len="sm" w="sm" type="none"/>
          </a:ln>
        </p:spPr>
      </p:pic>
      <p:pic>
        <p:nvPicPr>
          <p:cNvPr id="554" name="Google Shape;554;p66"/>
          <p:cNvPicPr preferRelativeResize="0"/>
          <p:nvPr/>
        </p:nvPicPr>
        <p:blipFill rotWithShape="1">
          <a:blip r:embed="rId6">
            <a:alphaModFix/>
          </a:blip>
          <a:srcRect b="0" l="0" r="0" t="0"/>
          <a:stretch/>
        </p:blipFill>
        <p:spPr>
          <a:xfrm>
            <a:off x="3984956" y="5194100"/>
            <a:ext cx="3386069" cy="305910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grpSp>
        <p:nvGrpSpPr>
          <p:cNvPr id="559" name="Google Shape;559;p67"/>
          <p:cNvGrpSpPr/>
          <p:nvPr/>
        </p:nvGrpSpPr>
        <p:grpSpPr>
          <a:xfrm>
            <a:off x="-1500" y="10054089"/>
            <a:ext cx="7559700" cy="660067"/>
            <a:chOff x="-1500" y="9788760"/>
            <a:chExt cx="7559700" cy="925500"/>
          </a:xfrm>
        </p:grpSpPr>
        <p:sp>
          <p:nvSpPr>
            <p:cNvPr id="560" name="Google Shape;560;p67"/>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67"/>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2" name="Google Shape;562;p67"/>
          <p:cNvSpPr/>
          <p:nvPr/>
        </p:nvSpPr>
        <p:spPr>
          <a:xfrm>
            <a:off x="505800" y="997926"/>
            <a:ext cx="6425700" cy="9315600"/>
          </a:xfrm>
          <a:prstGeom prst="rect">
            <a:avLst/>
          </a:prstGeom>
          <a:noFill/>
          <a:ln>
            <a:noFill/>
          </a:ln>
        </p:spPr>
        <p:txBody>
          <a:bodyPr anchorCtr="0" anchor="t" bIns="91425" lIns="91425" spcFirstLastPara="1" rIns="91425" wrap="square" tIns="91425">
            <a:noAutofit/>
          </a:bodyPr>
          <a:lstStyle/>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RFM metrics applied on the clusters of the K-Means K=3 :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rPr b="1" i="0" lang="en-US" sz="1230" u="none" cap="none" strike="noStrike">
                <a:solidFill>
                  <a:schemeClr val="dk1"/>
                </a:solidFill>
                <a:latin typeface="Didact Gothic"/>
                <a:ea typeface="Didact Gothic"/>
                <a:cs typeface="Didact Gothic"/>
                <a:sym typeface="Didact Gothic"/>
              </a:rPr>
              <a:t>RFM metrics applied on the clusters of the K-Means K=5 :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30000"/>
              </a:lnSpc>
              <a:spcBef>
                <a:spcPts val="0"/>
              </a:spcBef>
              <a:spcAft>
                <a:spcPts val="0"/>
              </a:spcAft>
              <a:buClr>
                <a:schemeClr val="dk1"/>
              </a:buClr>
              <a:buSzPts val="852"/>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								</a:t>
            </a:r>
            <a:endParaRPr b="0" i="0" sz="12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t/>
            </a:r>
            <a:endParaRPr b="0" i="0" sz="1200" u="none" cap="none" strike="noStrike">
              <a:solidFill>
                <a:srgbClr val="272727"/>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chemeClr val="dk1"/>
              </a:buClr>
              <a:buSzPts val="1100"/>
              <a:buFont typeface="Arial"/>
              <a:buNone/>
            </a:pPr>
            <a:r>
              <a:rPr b="0" i="0" lang="en-US" sz="1200" u="none" cap="none" strike="noStrike">
                <a:solidFill>
                  <a:srgbClr val="272727"/>
                </a:solidFill>
                <a:latin typeface="Didact Gothic"/>
                <a:ea typeface="Didact Gothic"/>
                <a:cs typeface="Didact Gothic"/>
                <a:sym typeface="Didact Gothic"/>
              </a:rPr>
              <a:t>The </a:t>
            </a:r>
            <a:r>
              <a:rPr b="1" i="0" lang="en-US" sz="1200" u="none" cap="none" strike="noStrike">
                <a:solidFill>
                  <a:srgbClr val="272727"/>
                </a:solidFill>
                <a:latin typeface="Didact Gothic"/>
                <a:ea typeface="Didact Gothic"/>
                <a:cs typeface="Didact Gothic"/>
                <a:sym typeface="Didact Gothic"/>
              </a:rPr>
              <a:t>Model with 5 clusters seems to provide a more balanced segmentation that captures the diversity of customer behaviors</a:t>
            </a:r>
            <a:r>
              <a:rPr b="0" i="0" lang="en-US" sz="1200" u="none" cap="none" strike="noStrike">
                <a:solidFill>
                  <a:srgbClr val="272727"/>
                </a:solidFill>
                <a:latin typeface="Didact Gothic"/>
                <a:ea typeface="Didact Gothic"/>
                <a:cs typeface="Didact Gothic"/>
                <a:sym typeface="Didact Gothic"/>
              </a:rPr>
              <a:t>, from the most loyal, high-value customers to the least engaged ones. This strategy will enable us to personalize marketing and target recommendations tailored to each cluster's needs. By classifying customers into these distinct groups, we can create specific engagement strategies to increase customer retention, loyalty, and overall revenue.</a:t>
            </a:r>
            <a:endParaRPr b="0" i="0" sz="1200" u="none" cap="none" strike="noStrike">
              <a:solidFill>
                <a:srgbClr val="272727"/>
              </a:solidFill>
              <a:latin typeface="Didact Gothic"/>
              <a:ea typeface="Didact Gothic"/>
              <a:cs typeface="Didact Gothic"/>
              <a:sym typeface="Didact Gothic"/>
            </a:endParaRPr>
          </a:p>
        </p:txBody>
      </p:sp>
      <p:sp>
        <p:nvSpPr>
          <p:cNvPr id="563" name="Google Shape;563;p67"/>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7"/>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3. ARTIFICIAL INTELLIGENCE MODEL</a:t>
            </a:r>
            <a:endParaRPr sz="2700">
              <a:latin typeface="Manrope"/>
              <a:ea typeface="Manrope"/>
              <a:cs typeface="Manrope"/>
              <a:sym typeface="Manrope"/>
            </a:endParaRPr>
          </a:p>
        </p:txBody>
      </p:sp>
      <p:pic>
        <p:nvPicPr>
          <p:cNvPr id="565" name="Google Shape;565;p67"/>
          <p:cNvPicPr preferRelativeResize="0"/>
          <p:nvPr/>
        </p:nvPicPr>
        <p:blipFill rotWithShape="1">
          <a:blip r:embed="rId3">
            <a:alphaModFix/>
          </a:blip>
          <a:srcRect b="0" l="0" r="0" t="0"/>
          <a:stretch/>
        </p:blipFill>
        <p:spPr>
          <a:xfrm>
            <a:off x="3262325" y="1441825"/>
            <a:ext cx="4028575" cy="2728725"/>
          </a:xfrm>
          <a:prstGeom prst="rect">
            <a:avLst/>
          </a:prstGeom>
          <a:noFill/>
          <a:ln cap="flat" cmpd="sng" w="19050">
            <a:solidFill>
              <a:schemeClr val="dk2"/>
            </a:solidFill>
            <a:prstDash val="solid"/>
            <a:round/>
            <a:headEnd len="sm" w="sm" type="none"/>
            <a:tailEnd len="sm" w="sm" type="none"/>
          </a:ln>
        </p:spPr>
      </p:pic>
      <p:pic>
        <p:nvPicPr>
          <p:cNvPr id="566" name="Google Shape;566;p67"/>
          <p:cNvPicPr preferRelativeResize="0"/>
          <p:nvPr/>
        </p:nvPicPr>
        <p:blipFill rotWithShape="1">
          <a:blip r:embed="rId4">
            <a:alphaModFix/>
          </a:blip>
          <a:srcRect b="0" l="0" r="0" t="0"/>
          <a:stretch/>
        </p:blipFill>
        <p:spPr>
          <a:xfrm>
            <a:off x="622800" y="1904362"/>
            <a:ext cx="3535700" cy="1932526"/>
          </a:xfrm>
          <a:prstGeom prst="rect">
            <a:avLst/>
          </a:prstGeom>
          <a:noFill/>
          <a:ln cap="flat" cmpd="sng" w="19050">
            <a:solidFill>
              <a:schemeClr val="dk2"/>
            </a:solidFill>
            <a:prstDash val="solid"/>
            <a:round/>
            <a:headEnd len="sm" w="sm" type="none"/>
            <a:tailEnd len="sm" w="sm" type="none"/>
          </a:ln>
        </p:spPr>
      </p:pic>
      <p:pic>
        <p:nvPicPr>
          <p:cNvPr id="567" name="Google Shape;567;p67"/>
          <p:cNvPicPr preferRelativeResize="0"/>
          <p:nvPr/>
        </p:nvPicPr>
        <p:blipFill rotWithShape="1">
          <a:blip r:embed="rId5">
            <a:alphaModFix/>
          </a:blip>
          <a:srcRect b="0" l="0" r="0" t="0"/>
          <a:stretch/>
        </p:blipFill>
        <p:spPr>
          <a:xfrm>
            <a:off x="1509225" y="4709300"/>
            <a:ext cx="5781675" cy="3790950"/>
          </a:xfrm>
          <a:prstGeom prst="rect">
            <a:avLst/>
          </a:prstGeom>
          <a:noFill/>
          <a:ln cap="flat" cmpd="sng" w="19050">
            <a:solidFill>
              <a:schemeClr val="dk2"/>
            </a:solidFill>
            <a:prstDash val="solid"/>
            <a:round/>
            <a:headEnd len="sm" w="sm" type="none"/>
            <a:tailEnd len="sm" w="sm" type="none"/>
          </a:ln>
        </p:spPr>
      </p:pic>
      <p:pic>
        <p:nvPicPr>
          <p:cNvPr id="568" name="Google Shape;568;p67"/>
          <p:cNvPicPr preferRelativeResize="0"/>
          <p:nvPr/>
        </p:nvPicPr>
        <p:blipFill rotWithShape="1">
          <a:blip r:embed="rId6">
            <a:alphaModFix/>
          </a:blip>
          <a:srcRect b="0" l="0" r="0" t="0"/>
          <a:stretch/>
        </p:blipFill>
        <p:spPr>
          <a:xfrm>
            <a:off x="176402" y="5126523"/>
            <a:ext cx="3263825" cy="1809116"/>
          </a:xfrm>
          <a:prstGeom prst="rect">
            <a:avLst/>
          </a:prstGeom>
          <a:noFill/>
          <a:ln cap="flat" cmpd="sng" w="19050">
            <a:solidFill>
              <a:schemeClr val="dk2"/>
            </a:solidFill>
            <a:prstDash val="solid"/>
            <a:round/>
            <a:headEnd len="sm" w="sm" type="none"/>
            <a:tailEnd len="sm" w="sm" type="none"/>
          </a:ln>
        </p:spPr>
      </p:pic>
      <p:pic>
        <p:nvPicPr>
          <p:cNvPr id="569" name="Google Shape;569;p67"/>
          <p:cNvPicPr preferRelativeResize="0"/>
          <p:nvPr/>
        </p:nvPicPr>
        <p:blipFill rotWithShape="1">
          <a:blip r:embed="rId7">
            <a:alphaModFix/>
          </a:blip>
          <a:srcRect b="0" l="0" r="0" t="0"/>
          <a:stretch/>
        </p:blipFill>
        <p:spPr>
          <a:xfrm>
            <a:off x="176400" y="6935650"/>
            <a:ext cx="3263824" cy="166283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grpSp>
        <p:nvGrpSpPr>
          <p:cNvPr id="574" name="Google Shape;574;p68"/>
          <p:cNvGrpSpPr/>
          <p:nvPr/>
        </p:nvGrpSpPr>
        <p:grpSpPr>
          <a:xfrm>
            <a:off x="-1500" y="10054089"/>
            <a:ext cx="7559700" cy="660067"/>
            <a:chOff x="-1500" y="9788760"/>
            <a:chExt cx="7559700" cy="925500"/>
          </a:xfrm>
        </p:grpSpPr>
        <p:sp>
          <p:nvSpPr>
            <p:cNvPr id="575" name="Google Shape;575;p68"/>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8"/>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7" name="Google Shape;577;p68"/>
          <p:cNvSpPr txBox="1"/>
          <p:nvPr/>
        </p:nvSpPr>
        <p:spPr>
          <a:xfrm>
            <a:off x="3376074" y="0"/>
            <a:ext cx="613800" cy="42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p:txBody>
      </p:sp>
      <p:sp>
        <p:nvSpPr>
          <p:cNvPr id="578" name="Google Shape;578;p68"/>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8"/>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400"/>
              <a:buFont typeface="Arial"/>
              <a:buNone/>
            </a:pPr>
            <a:r>
              <a:rPr lang="en-US" sz="2700">
                <a:solidFill>
                  <a:schemeClr val="dk1"/>
                </a:solidFill>
                <a:latin typeface="Manrope"/>
                <a:ea typeface="Manrope"/>
                <a:cs typeface="Manrope"/>
                <a:sym typeface="Manrope"/>
              </a:rPr>
              <a:t>3. ARTIFICIAL INTELLIGENCE MODEL</a:t>
            </a:r>
            <a:endParaRPr sz="2700">
              <a:latin typeface="Manrope"/>
              <a:ea typeface="Manrope"/>
              <a:cs typeface="Manrope"/>
              <a:sym typeface="Manrope"/>
            </a:endParaRPr>
          </a:p>
        </p:txBody>
      </p:sp>
      <p:sp>
        <p:nvSpPr>
          <p:cNvPr id="580" name="Google Shape;580;p68"/>
          <p:cNvSpPr txBox="1"/>
          <p:nvPr/>
        </p:nvSpPr>
        <p:spPr>
          <a:xfrm>
            <a:off x="290925" y="1031950"/>
            <a:ext cx="6982500" cy="922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As part of the recommendation system, we used the 'all-MiniLM-L6-v2' model, which is a transformer-based model designed to map sentences and paragraphs into a 384-dimensional dense vector space and can be used for tasks such as clustering or semantic search.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We leveraged the cluster value and the products associated with the customers in each cluster. </a:t>
            </a:r>
            <a:r>
              <a:rPr b="1" i="0" lang="en-US" sz="1200" u="none" cap="none" strike="noStrike">
                <a:solidFill>
                  <a:schemeClr val="dk1"/>
                </a:solidFill>
                <a:latin typeface="Didact Gothic"/>
                <a:ea typeface="Didact Gothic"/>
                <a:cs typeface="Didact Gothic"/>
                <a:sym typeface="Didact Gothic"/>
              </a:rPr>
              <a:t>We generated an embedding for each product description, with the aim of obtaining a representation of each cluster.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This way, we could identify products that were close to their centroid. For each cluster centroid, we calculated the </a:t>
            </a:r>
            <a:r>
              <a:rPr b="1" i="0" lang="en-US" sz="1200" u="none" cap="none" strike="noStrike">
                <a:solidFill>
                  <a:schemeClr val="dk1"/>
                </a:solidFill>
                <a:latin typeface="Didact Gothic"/>
                <a:ea typeface="Didact Gothic"/>
                <a:cs typeface="Didact Gothic"/>
                <a:sym typeface="Didact Gothic"/>
              </a:rPr>
              <a:t>cosine similarity with the embeddings of each product to find the top 10 most similar products.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However, the result were not as expected, as </a:t>
            </a:r>
            <a:r>
              <a:rPr b="1" i="0" lang="en-US" sz="1200" u="none" cap="none" strike="noStrike">
                <a:solidFill>
                  <a:schemeClr val="dk1"/>
                </a:solidFill>
                <a:latin typeface="Didact Gothic"/>
                <a:ea typeface="Didact Gothic"/>
                <a:cs typeface="Didact Gothic"/>
                <a:sym typeface="Didact Gothic"/>
              </a:rPr>
              <a:t>the top 3 recommended products were quite similar</a:t>
            </a:r>
            <a:r>
              <a:rPr b="0" i="0" lang="en-US" sz="1200" u="none" cap="none" strike="noStrike">
                <a:solidFill>
                  <a:schemeClr val="dk1"/>
                </a:solidFill>
                <a:latin typeface="Didact Gothic"/>
                <a:ea typeface="Didact Gothic"/>
                <a:cs typeface="Didact Gothic"/>
                <a:sym typeface="Didact Gothic"/>
              </a:rPr>
              <a:t> across different clusters.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This could be due to the fact that</a:t>
            </a:r>
            <a:r>
              <a:rPr b="1" i="0" lang="en-US" sz="1200" u="none" cap="none" strike="noStrike">
                <a:solidFill>
                  <a:schemeClr val="dk1"/>
                </a:solidFill>
                <a:latin typeface="Didact Gothic"/>
                <a:ea typeface="Didact Gothic"/>
                <a:cs typeface="Didact Gothic"/>
                <a:sym typeface="Didact Gothic"/>
              </a:rPr>
              <a:t> products from different clusters may have high similarity with the centroids of other clusters.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Didact Gothic"/>
                <a:ea typeface="Didact Gothic"/>
                <a:cs typeface="Didact Gothic"/>
                <a:sym typeface="Didact Gothic"/>
              </a:rPr>
              <a:t>This phenomenon could also occur because, although the products have different descriptions in terms of exact words, the </a:t>
            </a:r>
            <a:r>
              <a:rPr b="1" i="0" lang="en-US" sz="1200" u="none" cap="none" strike="noStrike">
                <a:solidFill>
                  <a:schemeClr val="dk1"/>
                </a:solidFill>
                <a:latin typeface="Didact Gothic"/>
                <a:ea typeface="Didact Gothic"/>
                <a:cs typeface="Didact Gothic"/>
                <a:sym typeface="Didact Gothic"/>
              </a:rPr>
              <a:t>SentenceTransformers </a:t>
            </a:r>
            <a:r>
              <a:rPr b="0" i="0" lang="en-US" sz="1200" u="none" cap="none" strike="noStrike">
                <a:solidFill>
                  <a:schemeClr val="dk1"/>
                </a:solidFill>
                <a:latin typeface="Didact Gothic"/>
                <a:ea typeface="Didact Gothic"/>
                <a:cs typeface="Didact Gothic"/>
                <a:sym typeface="Didact Gothic"/>
              </a:rPr>
              <a:t>model can generate representations with similar semantic contexts.</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Didact Gothic"/>
                <a:ea typeface="Didact Gothic"/>
                <a:cs typeface="Didact Gothic"/>
                <a:sym typeface="Didact Gothic"/>
              </a:rPr>
              <a:t>Example of top 5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Didact Gothic"/>
                <a:ea typeface="Didact Gothic"/>
                <a:cs typeface="Didact Gothic"/>
                <a:sym typeface="Didact Gothic"/>
              </a:rPr>
              <a:t>when the customer is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in the cluster 0</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Didact Gothic"/>
                <a:ea typeface="Didact Gothic"/>
                <a:cs typeface="Didact Gothic"/>
                <a:sym typeface="Didact Gothic"/>
              </a:rPr>
              <a:t>An improvement could have been to try another sentence-transformers model more specific to the product domain or to use a weighting approach when calculating similarities.</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p:txBody>
      </p:sp>
      <p:pic>
        <p:nvPicPr>
          <p:cNvPr id="581" name="Google Shape;581;p68"/>
          <p:cNvPicPr preferRelativeResize="0"/>
          <p:nvPr/>
        </p:nvPicPr>
        <p:blipFill rotWithShape="1">
          <a:blip r:embed="rId3">
            <a:alphaModFix/>
          </a:blip>
          <a:srcRect b="0" l="0" r="0" t="0"/>
          <a:stretch/>
        </p:blipFill>
        <p:spPr>
          <a:xfrm>
            <a:off x="308854" y="4967001"/>
            <a:ext cx="6748245" cy="2000950"/>
          </a:xfrm>
          <a:prstGeom prst="rect">
            <a:avLst/>
          </a:prstGeom>
          <a:noFill/>
          <a:ln>
            <a:noFill/>
          </a:ln>
        </p:spPr>
      </p:pic>
      <p:pic>
        <p:nvPicPr>
          <p:cNvPr id="582" name="Google Shape;582;p68"/>
          <p:cNvPicPr preferRelativeResize="0"/>
          <p:nvPr/>
        </p:nvPicPr>
        <p:blipFill rotWithShape="1">
          <a:blip r:embed="rId4">
            <a:alphaModFix/>
          </a:blip>
          <a:srcRect b="0" l="0" r="0" t="0"/>
          <a:stretch/>
        </p:blipFill>
        <p:spPr>
          <a:xfrm>
            <a:off x="408050" y="1890224"/>
            <a:ext cx="6748249" cy="1117616"/>
          </a:xfrm>
          <a:prstGeom prst="rect">
            <a:avLst/>
          </a:prstGeom>
          <a:noFill/>
          <a:ln cap="flat" cmpd="sng" w="19050">
            <a:solidFill>
              <a:schemeClr val="dk2"/>
            </a:solidFill>
            <a:prstDash val="solid"/>
            <a:round/>
            <a:headEnd len="sm" w="sm" type="none"/>
            <a:tailEnd len="sm" w="sm" type="none"/>
          </a:ln>
        </p:spPr>
      </p:pic>
      <p:pic>
        <p:nvPicPr>
          <p:cNvPr id="583" name="Google Shape;583;p68"/>
          <p:cNvPicPr preferRelativeResize="0"/>
          <p:nvPr/>
        </p:nvPicPr>
        <p:blipFill rotWithShape="1">
          <a:blip r:embed="rId5">
            <a:alphaModFix/>
          </a:blip>
          <a:srcRect b="0" l="0" r="0" t="0"/>
          <a:stretch/>
        </p:blipFill>
        <p:spPr>
          <a:xfrm>
            <a:off x="2270721" y="8158225"/>
            <a:ext cx="4699076" cy="1178125"/>
          </a:xfrm>
          <a:prstGeom prst="rect">
            <a:avLst/>
          </a:prstGeom>
          <a:noFill/>
          <a:ln>
            <a:noFill/>
          </a:ln>
        </p:spPr>
      </p:pic>
      <p:cxnSp>
        <p:nvCxnSpPr>
          <p:cNvPr id="584" name="Google Shape;584;p68"/>
          <p:cNvCxnSpPr/>
          <p:nvPr/>
        </p:nvCxnSpPr>
        <p:spPr>
          <a:xfrm flipH="1" rot="10800000">
            <a:off x="1659625" y="8844500"/>
            <a:ext cx="611100" cy="159900"/>
          </a:xfrm>
          <a:prstGeom prst="straightConnector1">
            <a:avLst/>
          </a:prstGeom>
          <a:noFill/>
          <a:ln cap="flat" cmpd="sng" w="28575">
            <a:solidFill>
              <a:srgbClr val="FFC102"/>
            </a:solidFill>
            <a:prstDash val="solid"/>
            <a:round/>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grpSp>
        <p:nvGrpSpPr>
          <p:cNvPr id="589" name="Google Shape;589;p69"/>
          <p:cNvGrpSpPr/>
          <p:nvPr/>
        </p:nvGrpSpPr>
        <p:grpSpPr>
          <a:xfrm>
            <a:off x="-1500" y="10054089"/>
            <a:ext cx="7559700" cy="660067"/>
            <a:chOff x="-1500" y="9788760"/>
            <a:chExt cx="7559700" cy="925500"/>
          </a:xfrm>
        </p:grpSpPr>
        <p:sp>
          <p:nvSpPr>
            <p:cNvPr id="590" name="Google Shape;590;p69"/>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9"/>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2" name="Google Shape;592;p69"/>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9"/>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0000"/>
              </a:buClr>
              <a:buSzPts val="1400"/>
              <a:buFont typeface="Arial"/>
              <a:buNone/>
            </a:pPr>
            <a:r>
              <a:rPr lang="en-US" sz="2700">
                <a:latin typeface="Manrope"/>
                <a:ea typeface="Manrope"/>
                <a:cs typeface="Manrope"/>
                <a:sym typeface="Manrope"/>
              </a:rPr>
              <a:t>4. APPLICATION DEVELOPMENT</a:t>
            </a:r>
            <a:endParaRPr sz="2700">
              <a:latin typeface="Manrope"/>
              <a:ea typeface="Manrope"/>
              <a:cs typeface="Manrope"/>
              <a:sym typeface="Manrope"/>
            </a:endParaRPr>
          </a:p>
        </p:txBody>
      </p:sp>
      <p:sp>
        <p:nvSpPr>
          <p:cNvPr id="594" name="Google Shape;594;p69"/>
          <p:cNvSpPr txBox="1"/>
          <p:nvPr/>
        </p:nvSpPr>
        <p:spPr>
          <a:xfrm>
            <a:off x="290925" y="1031950"/>
            <a:ext cx="6982500" cy="932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Didact Gothic"/>
                <a:ea typeface="Didact Gothic"/>
                <a:cs typeface="Didact Gothic"/>
                <a:sym typeface="Didact Gothic"/>
              </a:rPr>
              <a:t>For our final application we decided to use the 5 clusters described in ourK-Means  model which is  based on customer behavior, that was segmented according to the </a:t>
            </a:r>
            <a:r>
              <a:rPr b="1" i="0" lang="en-US" sz="1100" u="none" cap="none" strike="noStrike">
                <a:solidFill>
                  <a:schemeClr val="dk1"/>
                </a:solidFill>
                <a:latin typeface="Didact Gothic"/>
                <a:ea typeface="Didact Gothic"/>
                <a:cs typeface="Didact Gothic"/>
                <a:sym typeface="Didact Gothic"/>
              </a:rPr>
              <a:t>Recency</a:t>
            </a:r>
            <a:r>
              <a:rPr b="0" i="0" lang="en-US" sz="1100" u="none" cap="none" strike="noStrike">
                <a:solidFill>
                  <a:schemeClr val="dk1"/>
                </a:solidFill>
                <a:latin typeface="Didact Gothic"/>
                <a:ea typeface="Didact Gothic"/>
                <a:cs typeface="Didact Gothic"/>
                <a:sym typeface="Didact Gothic"/>
              </a:rPr>
              <a:t>, </a:t>
            </a:r>
            <a:r>
              <a:rPr b="1" i="0" lang="en-US" sz="1100" u="none" cap="none" strike="noStrike">
                <a:solidFill>
                  <a:schemeClr val="dk1"/>
                </a:solidFill>
                <a:latin typeface="Didact Gothic"/>
                <a:ea typeface="Didact Gothic"/>
                <a:cs typeface="Didact Gothic"/>
                <a:sym typeface="Didact Gothic"/>
              </a:rPr>
              <a:t>Frequency</a:t>
            </a:r>
            <a:r>
              <a:rPr b="0" i="0" lang="en-US" sz="1100" u="none" cap="none" strike="noStrike">
                <a:solidFill>
                  <a:schemeClr val="dk1"/>
                </a:solidFill>
                <a:latin typeface="Didact Gothic"/>
                <a:ea typeface="Didact Gothic"/>
                <a:cs typeface="Didact Gothic"/>
                <a:sym typeface="Didact Gothic"/>
              </a:rPr>
              <a:t>, and </a:t>
            </a:r>
            <a:r>
              <a:rPr b="1" i="0" lang="en-US" sz="1100" u="none" cap="none" strike="noStrike">
                <a:solidFill>
                  <a:schemeClr val="dk1"/>
                </a:solidFill>
                <a:latin typeface="Didact Gothic"/>
                <a:ea typeface="Didact Gothic"/>
                <a:cs typeface="Didact Gothic"/>
                <a:sym typeface="Didact Gothic"/>
              </a:rPr>
              <a:t>Monetary</a:t>
            </a:r>
            <a:r>
              <a:rPr b="0" i="0" lang="en-US" sz="1100" u="none" cap="none" strike="noStrike">
                <a:solidFill>
                  <a:schemeClr val="dk1"/>
                </a:solidFill>
                <a:latin typeface="Didact Gothic"/>
                <a:ea typeface="Didact Gothic"/>
                <a:cs typeface="Didact Gothic"/>
                <a:sym typeface="Didact Gothic"/>
              </a:rPr>
              <a:t> (RFM) scores. Each cluster represents a different category of customer engagement and value. Here’s a breakdown of the </a:t>
            </a:r>
            <a:r>
              <a:rPr b="1" i="0" lang="en-US" sz="1100" u="none" cap="none" strike="noStrike">
                <a:solidFill>
                  <a:schemeClr val="dk1"/>
                </a:solidFill>
                <a:latin typeface="Didact Gothic"/>
                <a:ea typeface="Didact Gothic"/>
                <a:cs typeface="Didact Gothic"/>
                <a:sym typeface="Didact Gothic"/>
              </a:rPr>
              <a:t>5 clusters</a:t>
            </a:r>
            <a:r>
              <a:rPr b="0" i="0" lang="en-US" sz="1100" u="none" cap="none" strike="noStrike">
                <a:solidFill>
                  <a:schemeClr val="dk1"/>
                </a:solidFill>
                <a:latin typeface="Didact Gothic"/>
                <a:ea typeface="Didact Gothic"/>
                <a:cs typeface="Didact Gothic"/>
                <a:sym typeface="Didact Gothic"/>
              </a:rPr>
              <a:t> we’ve created:</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1. High-Value Customers (Cluster 0)</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Description</a:t>
            </a:r>
            <a:r>
              <a:rPr b="0" i="0" lang="en-US" sz="1100" u="none" cap="none" strike="noStrike">
                <a:solidFill>
                  <a:schemeClr val="dk1"/>
                </a:solidFill>
                <a:latin typeface="Didact Gothic"/>
                <a:ea typeface="Didact Gothic"/>
                <a:cs typeface="Didact Gothic"/>
                <a:sym typeface="Didact Gothic"/>
              </a:rPr>
              <a:t>: These are the customers who are the </a:t>
            </a:r>
            <a:r>
              <a:rPr b="1" i="0" lang="en-US" sz="1100" u="none" cap="none" strike="noStrike">
                <a:solidFill>
                  <a:schemeClr val="dk1"/>
                </a:solidFill>
                <a:latin typeface="Didact Gothic"/>
                <a:ea typeface="Didact Gothic"/>
                <a:cs typeface="Didact Gothic"/>
                <a:sym typeface="Didact Gothic"/>
              </a:rPr>
              <a:t>most valuable</a:t>
            </a:r>
            <a:r>
              <a:rPr b="0" i="0" lang="en-US" sz="1100" u="none" cap="none" strike="noStrike">
                <a:solidFill>
                  <a:schemeClr val="dk1"/>
                </a:solidFill>
                <a:latin typeface="Didact Gothic"/>
                <a:ea typeface="Didact Gothic"/>
                <a:cs typeface="Didact Gothic"/>
                <a:sym typeface="Didact Gothic"/>
              </a:rPr>
              <a:t> to the business. They have high </a:t>
            </a:r>
            <a:r>
              <a:rPr b="1" i="0" lang="en-US" sz="1100" u="none" cap="none" strike="noStrike">
                <a:solidFill>
                  <a:schemeClr val="dk1"/>
                </a:solidFill>
                <a:latin typeface="Didact Gothic"/>
                <a:ea typeface="Didact Gothic"/>
                <a:cs typeface="Didact Gothic"/>
                <a:sym typeface="Didact Gothic"/>
              </a:rPr>
              <a:t>Recency</a:t>
            </a:r>
            <a:r>
              <a:rPr b="0" i="0" lang="en-US" sz="1100" u="none" cap="none" strike="noStrike">
                <a:solidFill>
                  <a:schemeClr val="dk1"/>
                </a:solidFill>
                <a:latin typeface="Didact Gothic"/>
                <a:ea typeface="Didact Gothic"/>
                <a:cs typeface="Didact Gothic"/>
                <a:sym typeface="Didact Gothic"/>
              </a:rPr>
              <a:t>, </a:t>
            </a:r>
            <a:r>
              <a:rPr b="1" i="0" lang="en-US" sz="1100" u="none" cap="none" strike="noStrike">
                <a:solidFill>
                  <a:schemeClr val="dk1"/>
                </a:solidFill>
                <a:latin typeface="Didact Gothic"/>
                <a:ea typeface="Didact Gothic"/>
                <a:cs typeface="Didact Gothic"/>
                <a:sym typeface="Didact Gothic"/>
              </a:rPr>
              <a:t>Frequency</a:t>
            </a:r>
            <a:r>
              <a:rPr b="0" i="0" lang="en-US" sz="1100" u="none" cap="none" strike="noStrike">
                <a:solidFill>
                  <a:schemeClr val="dk1"/>
                </a:solidFill>
                <a:latin typeface="Didact Gothic"/>
                <a:ea typeface="Didact Gothic"/>
                <a:cs typeface="Didact Gothic"/>
                <a:sym typeface="Didact Gothic"/>
              </a:rPr>
              <a:t>, and </a:t>
            </a:r>
            <a:r>
              <a:rPr b="1" i="0" lang="en-US" sz="1100" u="none" cap="none" strike="noStrike">
                <a:solidFill>
                  <a:schemeClr val="dk1"/>
                </a:solidFill>
                <a:latin typeface="Didact Gothic"/>
                <a:ea typeface="Didact Gothic"/>
                <a:cs typeface="Didact Gothic"/>
                <a:sym typeface="Didact Gothic"/>
              </a:rPr>
              <a:t>Monetary</a:t>
            </a:r>
            <a:r>
              <a:rPr b="0" i="0" lang="en-US" sz="1100" u="none" cap="none" strike="noStrike">
                <a:solidFill>
                  <a:schemeClr val="dk1"/>
                </a:solidFill>
                <a:latin typeface="Didact Gothic"/>
                <a:ea typeface="Didact Gothic"/>
                <a:cs typeface="Didact Gothic"/>
                <a:sym typeface="Didact Gothic"/>
              </a:rPr>
              <a:t> scores.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Didact Gothic"/>
                <a:ea typeface="Didact Gothic"/>
                <a:cs typeface="Didact Gothic"/>
                <a:sym typeface="Didact Gothic"/>
              </a:rPr>
              <a:t>Profile</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These customers have made recent purchases.</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They buy frequently and spend a significant amount.</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0066FF"/>
                </a:solidFill>
                <a:latin typeface="Didact Gothic"/>
                <a:ea typeface="Didact Gothic"/>
                <a:cs typeface="Didact Gothic"/>
                <a:sym typeface="Didact Gothic"/>
              </a:rPr>
              <a:t>They are the </a:t>
            </a:r>
            <a:r>
              <a:rPr b="1" i="0" lang="en-US" sz="1100" u="none" cap="none" strike="noStrike">
                <a:solidFill>
                  <a:srgbClr val="0066FF"/>
                </a:solidFill>
                <a:latin typeface="Didact Gothic"/>
                <a:ea typeface="Didact Gothic"/>
                <a:cs typeface="Didact Gothic"/>
                <a:sym typeface="Didact Gothic"/>
              </a:rPr>
              <a:t>loyal</a:t>
            </a:r>
            <a:r>
              <a:rPr b="0" i="0" lang="en-US" sz="1100" u="none" cap="none" strike="noStrike">
                <a:solidFill>
                  <a:srgbClr val="0066FF"/>
                </a:solidFill>
                <a:latin typeface="Didact Gothic"/>
                <a:ea typeface="Didact Gothic"/>
                <a:cs typeface="Didact Gothic"/>
                <a:sym typeface="Didact Gothic"/>
              </a:rPr>
              <a:t> and </a:t>
            </a:r>
            <a:r>
              <a:rPr b="1" i="0" lang="en-US" sz="1100" u="none" cap="none" strike="noStrike">
                <a:solidFill>
                  <a:srgbClr val="0066FF"/>
                </a:solidFill>
                <a:latin typeface="Didact Gothic"/>
                <a:ea typeface="Didact Gothic"/>
                <a:cs typeface="Didact Gothic"/>
                <a:sym typeface="Didact Gothic"/>
              </a:rPr>
              <a:t>profitable</a:t>
            </a:r>
            <a:r>
              <a:rPr b="0" i="0" lang="en-US" sz="1100" u="none" cap="none" strike="noStrike">
                <a:solidFill>
                  <a:srgbClr val="0066FF"/>
                </a:solidFill>
                <a:latin typeface="Didact Gothic"/>
                <a:ea typeface="Didact Gothic"/>
                <a:cs typeface="Didact Gothic"/>
                <a:sym typeface="Didact Gothic"/>
              </a:rPr>
              <a:t> customers who generate the most revenue.</a:t>
            </a:r>
            <a:endParaRPr b="0" i="0" sz="1100" u="none" cap="none" strike="noStrike">
              <a:solidFill>
                <a:srgbClr val="0066FF"/>
              </a:solidFill>
              <a:latin typeface="Didact Gothic"/>
              <a:ea typeface="Didact Gothic"/>
              <a:cs typeface="Didact Gothic"/>
              <a:sym typeface="Didact Gothic"/>
            </a:endParaRPr>
          </a:p>
          <a:p>
            <a:pPr indent="0" lvl="0" marL="9144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2. Moderate-Value Customers (Cluster 1)</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Description</a:t>
            </a:r>
            <a:r>
              <a:rPr b="0" i="0" lang="en-US" sz="1100" u="none" cap="none" strike="noStrike">
                <a:solidFill>
                  <a:schemeClr val="dk1"/>
                </a:solidFill>
                <a:latin typeface="Didact Gothic"/>
                <a:ea typeface="Didact Gothic"/>
                <a:cs typeface="Didact Gothic"/>
                <a:sym typeface="Didact Gothic"/>
              </a:rPr>
              <a:t>: These customers are valuable, but not as consistently engaged as </a:t>
            </a:r>
            <a:r>
              <a:rPr b="1" i="0" lang="en-US" sz="1100" u="none" cap="none" strike="noStrike">
                <a:solidFill>
                  <a:schemeClr val="dk1"/>
                </a:solidFill>
                <a:latin typeface="Didact Gothic"/>
                <a:ea typeface="Didact Gothic"/>
                <a:cs typeface="Didact Gothic"/>
                <a:sym typeface="Didact Gothic"/>
              </a:rPr>
              <a:t>high-value</a:t>
            </a:r>
            <a:r>
              <a:rPr b="0" i="0" lang="en-US" sz="1100" u="none" cap="none" strike="noStrike">
                <a:solidFill>
                  <a:schemeClr val="dk1"/>
                </a:solidFill>
                <a:latin typeface="Didact Gothic"/>
                <a:ea typeface="Didact Gothic"/>
                <a:cs typeface="Didact Gothic"/>
                <a:sym typeface="Didact Gothic"/>
              </a:rPr>
              <a:t> customers. They might have a </a:t>
            </a:r>
            <a:r>
              <a:rPr b="1" i="0" lang="en-US" sz="1100" u="none" cap="none" strike="noStrike">
                <a:solidFill>
                  <a:schemeClr val="dk1"/>
                </a:solidFill>
                <a:latin typeface="Didact Gothic"/>
                <a:ea typeface="Didact Gothic"/>
                <a:cs typeface="Didact Gothic"/>
                <a:sym typeface="Didact Gothic"/>
              </a:rPr>
              <a:t>moderate</a:t>
            </a:r>
            <a:r>
              <a:rPr b="0" i="0" lang="en-US" sz="1100" u="none" cap="none" strike="noStrike">
                <a:solidFill>
                  <a:schemeClr val="dk1"/>
                </a:solidFill>
                <a:latin typeface="Didact Gothic"/>
                <a:ea typeface="Didact Gothic"/>
                <a:cs typeface="Didact Gothic"/>
                <a:sym typeface="Didact Gothic"/>
              </a:rPr>
              <a:t> recency score or a moderate level of spending.</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Didact Gothic"/>
                <a:ea typeface="Didact Gothic"/>
                <a:cs typeface="Didact Gothic"/>
                <a:sym typeface="Didact Gothic"/>
              </a:rPr>
              <a:t>Profile</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Customers who have bought more than once but aren’t buying as frequently.</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They may spend a good amount when they do make a purchase, but they aren’t as active as high-value customers.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0066FF"/>
                </a:solidFill>
                <a:latin typeface="Didact Gothic"/>
                <a:ea typeface="Didact Gothic"/>
                <a:cs typeface="Didact Gothic"/>
                <a:sym typeface="Didact Gothic"/>
              </a:rPr>
              <a:t>They could be targeted with </a:t>
            </a:r>
            <a:r>
              <a:rPr b="1" i="0" lang="en-US" sz="1100" u="none" cap="none" strike="noStrike">
                <a:solidFill>
                  <a:srgbClr val="0066FF"/>
                </a:solidFill>
                <a:latin typeface="Didact Gothic"/>
                <a:ea typeface="Didact Gothic"/>
                <a:cs typeface="Didact Gothic"/>
                <a:sym typeface="Didact Gothic"/>
              </a:rPr>
              <a:t>special offers</a:t>
            </a:r>
            <a:r>
              <a:rPr b="0" i="0" lang="en-US" sz="1100" u="none" cap="none" strike="noStrike">
                <a:solidFill>
                  <a:srgbClr val="0066FF"/>
                </a:solidFill>
                <a:latin typeface="Didact Gothic"/>
                <a:ea typeface="Didact Gothic"/>
                <a:cs typeface="Didact Gothic"/>
                <a:sym typeface="Didact Gothic"/>
              </a:rPr>
              <a:t> to increase engagement.</a:t>
            </a:r>
            <a:endParaRPr b="0" i="0" sz="1100" u="none" cap="none" strike="noStrike">
              <a:solidFill>
                <a:srgbClr val="0066FF"/>
              </a:solidFill>
              <a:latin typeface="Didact Gothic"/>
              <a:ea typeface="Didact Gothic"/>
              <a:cs typeface="Didact Gothic"/>
              <a:sym typeface="Didact Gothic"/>
            </a:endParaRPr>
          </a:p>
          <a:p>
            <a:pPr indent="0" lvl="0" marL="9144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3. Dormant or Low-Engagement Customers (Cluster 2)</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Description</a:t>
            </a:r>
            <a:r>
              <a:rPr b="0" i="0" lang="en-US" sz="1100" u="none" cap="none" strike="noStrike">
                <a:solidFill>
                  <a:schemeClr val="dk1"/>
                </a:solidFill>
                <a:latin typeface="Didact Gothic"/>
                <a:ea typeface="Didact Gothic"/>
                <a:cs typeface="Didact Gothic"/>
                <a:sym typeface="Didact Gothic"/>
              </a:rPr>
              <a:t>: These are customers who have been </a:t>
            </a:r>
            <a:r>
              <a:rPr b="1" i="0" lang="en-US" sz="1100" u="none" cap="none" strike="noStrike">
                <a:solidFill>
                  <a:schemeClr val="dk1"/>
                </a:solidFill>
                <a:latin typeface="Didact Gothic"/>
                <a:ea typeface="Didact Gothic"/>
                <a:cs typeface="Didact Gothic"/>
                <a:sym typeface="Didact Gothic"/>
              </a:rPr>
              <a:t>inactive</a:t>
            </a:r>
            <a:r>
              <a:rPr b="0" i="0" lang="en-US" sz="1100" u="none" cap="none" strike="noStrike">
                <a:solidFill>
                  <a:schemeClr val="dk1"/>
                </a:solidFill>
                <a:latin typeface="Didact Gothic"/>
                <a:ea typeface="Didact Gothic"/>
                <a:cs typeface="Didact Gothic"/>
                <a:sym typeface="Didact Gothic"/>
              </a:rPr>
              <a:t> or have very low engagement with the business.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Didact Gothic"/>
                <a:ea typeface="Didact Gothic"/>
                <a:cs typeface="Didact Gothic"/>
                <a:sym typeface="Didact Gothic"/>
              </a:rPr>
              <a:t>Profile</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Didact Gothic"/>
                <a:ea typeface="Didact Gothic"/>
                <a:cs typeface="Didact Gothic"/>
                <a:sym typeface="Didact Gothic"/>
              </a:rPr>
              <a:t>These customers have </a:t>
            </a:r>
            <a:r>
              <a:rPr b="1" i="0" lang="en-US" sz="1100" u="none" cap="none" strike="noStrike">
                <a:solidFill>
                  <a:schemeClr val="dk1"/>
                </a:solidFill>
                <a:latin typeface="Didact Gothic"/>
                <a:ea typeface="Didact Gothic"/>
                <a:cs typeface="Didact Gothic"/>
                <a:sym typeface="Didact Gothic"/>
              </a:rPr>
              <a:t>low Recency</a:t>
            </a:r>
            <a:r>
              <a:rPr b="0" i="0" lang="en-US" sz="1100" u="none" cap="none" strike="noStrike">
                <a:solidFill>
                  <a:schemeClr val="dk1"/>
                </a:solidFill>
                <a:latin typeface="Didact Gothic"/>
                <a:ea typeface="Didact Gothic"/>
                <a:cs typeface="Didact Gothic"/>
                <a:sym typeface="Didact Gothic"/>
              </a:rPr>
              <a:t>, meaning they haven't bought in a while.</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Didact Gothic"/>
                <a:ea typeface="Didact Gothic"/>
                <a:cs typeface="Didact Gothic"/>
                <a:sym typeface="Didact Gothic"/>
              </a:rPr>
              <a:t>Their </a:t>
            </a:r>
            <a:r>
              <a:rPr b="1" i="0" lang="en-US" sz="1100" u="none" cap="none" strike="noStrike">
                <a:solidFill>
                  <a:schemeClr val="dk1"/>
                </a:solidFill>
                <a:latin typeface="Didact Gothic"/>
                <a:ea typeface="Didact Gothic"/>
                <a:cs typeface="Didact Gothic"/>
                <a:sym typeface="Didact Gothic"/>
              </a:rPr>
              <a:t>Frequency</a:t>
            </a:r>
            <a:r>
              <a:rPr b="0" i="0" lang="en-US" sz="1100" u="none" cap="none" strike="noStrike">
                <a:solidFill>
                  <a:schemeClr val="dk1"/>
                </a:solidFill>
                <a:latin typeface="Didact Gothic"/>
                <a:ea typeface="Didact Gothic"/>
                <a:cs typeface="Didact Gothic"/>
                <a:sym typeface="Didact Gothic"/>
              </a:rPr>
              <a:t> and </a:t>
            </a:r>
            <a:r>
              <a:rPr b="1" i="0" lang="en-US" sz="1100" u="none" cap="none" strike="noStrike">
                <a:solidFill>
                  <a:schemeClr val="dk1"/>
                </a:solidFill>
                <a:latin typeface="Didact Gothic"/>
                <a:ea typeface="Didact Gothic"/>
                <a:cs typeface="Didact Gothic"/>
                <a:sym typeface="Didact Gothic"/>
              </a:rPr>
              <a:t>Monetary</a:t>
            </a:r>
            <a:r>
              <a:rPr b="0" i="0" lang="en-US" sz="1100" u="none" cap="none" strike="noStrike">
                <a:solidFill>
                  <a:schemeClr val="dk1"/>
                </a:solidFill>
                <a:latin typeface="Didact Gothic"/>
                <a:ea typeface="Didact Gothic"/>
                <a:cs typeface="Didact Gothic"/>
                <a:sym typeface="Didact Gothic"/>
              </a:rPr>
              <a:t> scores are low, indicating that they don't engage much or don’t spend much when they do purchase.</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0066FF"/>
                </a:solidFill>
                <a:latin typeface="Didact Gothic"/>
                <a:ea typeface="Didact Gothic"/>
                <a:cs typeface="Didact Gothic"/>
                <a:sym typeface="Didact Gothic"/>
              </a:rPr>
              <a:t>These customers might need re-engagement strategies, such as </a:t>
            </a:r>
            <a:r>
              <a:rPr b="1" i="0" lang="en-US" sz="1100" u="none" cap="none" strike="noStrike">
                <a:solidFill>
                  <a:srgbClr val="0066FF"/>
                </a:solidFill>
                <a:latin typeface="Didact Gothic"/>
                <a:ea typeface="Didact Gothic"/>
                <a:cs typeface="Didact Gothic"/>
                <a:sym typeface="Didact Gothic"/>
              </a:rPr>
              <a:t>retargeting</a:t>
            </a:r>
            <a:r>
              <a:rPr b="0" i="0" lang="en-US" sz="1100" u="none" cap="none" strike="noStrike">
                <a:solidFill>
                  <a:srgbClr val="0066FF"/>
                </a:solidFill>
                <a:latin typeface="Didact Gothic"/>
                <a:ea typeface="Didact Gothic"/>
                <a:cs typeface="Didact Gothic"/>
                <a:sym typeface="Didact Gothic"/>
              </a:rPr>
              <a:t> ads or </a:t>
            </a:r>
            <a:r>
              <a:rPr b="1" i="0" lang="en-US" sz="1100" u="none" cap="none" strike="noStrike">
                <a:solidFill>
                  <a:srgbClr val="0066FF"/>
                </a:solidFill>
                <a:latin typeface="Didact Gothic"/>
                <a:ea typeface="Didact Gothic"/>
                <a:cs typeface="Didact Gothic"/>
                <a:sym typeface="Didact Gothic"/>
              </a:rPr>
              <a:t>personalized offers</a:t>
            </a:r>
            <a:r>
              <a:rPr b="0" i="0" lang="en-US" sz="1100" u="none" cap="none" strike="noStrike">
                <a:solidFill>
                  <a:srgbClr val="0066FF"/>
                </a:solidFill>
                <a:latin typeface="Didact Gothic"/>
                <a:ea typeface="Didact Gothic"/>
                <a:cs typeface="Didact Gothic"/>
                <a:sym typeface="Didact Gothic"/>
              </a:rPr>
              <a:t> to win them back.</a:t>
            </a:r>
            <a:endParaRPr b="0" i="0" sz="1100" u="none" cap="none" strike="noStrike">
              <a:solidFill>
                <a:srgbClr val="0066FF"/>
              </a:solidFill>
              <a:latin typeface="Didact Gothic"/>
              <a:ea typeface="Didact Gothic"/>
              <a:cs typeface="Didact Gothic"/>
              <a:sym typeface="Didact Gothic"/>
            </a:endParaRPr>
          </a:p>
          <a:p>
            <a:pPr indent="0" lvl="0" marL="9144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4. Inactive but Valuable Customers (Cluster 3)</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Description</a:t>
            </a:r>
            <a:r>
              <a:rPr b="0" i="0" lang="en-US" sz="1100" u="none" cap="none" strike="noStrike">
                <a:solidFill>
                  <a:schemeClr val="dk1"/>
                </a:solidFill>
                <a:latin typeface="Didact Gothic"/>
                <a:ea typeface="Didact Gothic"/>
                <a:cs typeface="Didact Gothic"/>
                <a:sym typeface="Didact Gothic"/>
              </a:rPr>
              <a:t>: These customers have </a:t>
            </a:r>
            <a:r>
              <a:rPr b="1" i="0" lang="en-US" sz="1100" u="none" cap="none" strike="noStrike">
                <a:solidFill>
                  <a:schemeClr val="dk1"/>
                </a:solidFill>
                <a:latin typeface="Didact Gothic"/>
                <a:ea typeface="Didact Gothic"/>
                <a:cs typeface="Didact Gothic"/>
                <a:sym typeface="Didact Gothic"/>
              </a:rPr>
              <a:t>low recency</a:t>
            </a:r>
            <a:r>
              <a:rPr b="0" i="0" lang="en-US" sz="1100" u="none" cap="none" strike="noStrike">
                <a:solidFill>
                  <a:schemeClr val="dk1"/>
                </a:solidFill>
                <a:latin typeface="Didact Gothic"/>
                <a:ea typeface="Didact Gothic"/>
                <a:cs typeface="Didact Gothic"/>
                <a:sym typeface="Didact Gothic"/>
              </a:rPr>
              <a:t> but have previously shown </a:t>
            </a:r>
            <a:r>
              <a:rPr b="1" i="0" lang="en-US" sz="1100" u="none" cap="none" strike="noStrike">
                <a:solidFill>
                  <a:schemeClr val="dk1"/>
                </a:solidFill>
                <a:latin typeface="Didact Gothic"/>
                <a:ea typeface="Didact Gothic"/>
                <a:cs typeface="Didact Gothic"/>
                <a:sym typeface="Didact Gothic"/>
              </a:rPr>
              <a:t>high frequency</a:t>
            </a:r>
            <a:r>
              <a:rPr b="0" i="0" lang="en-US" sz="1100" u="none" cap="none" strike="noStrike">
                <a:solidFill>
                  <a:schemeClr val="dk1"/>
                </a:solidFill>
                <a:latin typeface="Didact Gothic"/>
                <a:ea typeface="Didact Gothic"/>
                <a:cs typeface="Didact Gothic"/>
                <a:sym typeface="Didact Gothic"/>
              </a:rPr>
              <a:t> or </a:t>
            </a:r>
            <a:r>
              <a:rPr b="1" i="0" lang="en-US" sz="1100" u="none" cap="none" strike="noStrike">
                <a:solidFill>
                  <a:schemeClr val="dk1"/>
                </a:solidFill>
                <a:latin typeface="Didact Gothic"/>
                <a:ea typeface="Didact Gothic"/>
                <a:cs typeface="Didact Gothic"/>
                <a:sym typeface="Didact Gothic"/>
              </a:rPr>
              <a:t>high monetary</a:t>
            </a:r>
            <a:r>
              <a:rPr b="0" i="0" lang="en-US" sz="1100" u="none" cap="none" strike="noStrike">
                <a:solidFill>
                  <a:schemeClr val="dk1"/>
                </a:solidFill>
                <a:latin typeface="Didact Gothic"/>
                <a:ea typeface="Didact Gothic"/>
                <a:cs typeface="Didact Gothic"/>
                <a:sym typeface="Didact Gothic"/>
              </a:rPr>
              <a:t> value. They are not currently engaged, but they have the potential to be valuable again.</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Didact Gothic"/>
                <a:ea typeface="Didact Gothic"/>
                <a:cs typeface="Didact Gothic"/>
                <a:sym typeface="Didact Gothic"/>
              </a:rPr>
              <a:t>Profile</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These customers have purchased frequently or spent large amounts, but they haven’t bought recently.</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0066FF"/>
                </a:solidFill>
                <a:latin typeface="Didact Gothic"/>
                <a:ea typeface="Didact Gothic"/>
                <a:cs typeface="Didact Gothic"/>
                <a:sym typeface="Didact Gothic"/>
              </a:rPr>
              <a:t>They could be considered </a:t>
            </a:r>
            <a:r>
              <a:rPr b="1" i="0" lang="en-US" sz="1100" u="none" cap="none" strike="noStrike">
                <a:solidFill>
                  <a:srgbClr val="0066FF"/>
                </a:solidFill>
                <a:latin typeface="Didact Gothic"/>
                <a:ea typeface="Didact Gothic"/>
                <a:cs typeface="Didact Gothic"/>
                <a:sym typeface="Didact Gothic"/>
              </a:rPr>
              <a:t>high potential targets for reactivation</a:t>
            </a:r>
            <a:r>
              <a:rPr b="0" i="0" lang="en-US" sz="1100" u="none" cap="none" strike="noStrike">
                <a:solidFill>
                  <a:srgbClr val="0066FF"/>
                </a:solidFill>
                <a:latin typeface="Didact Gothic"/>
                <a:ea typeface="Didact Gothic"/>
                <a:cs typeface="Didact Gothic"/>
                <a:sym typeface="Didact Gothic"/>
              </a:rPr>
              <a:t>. They may need a specific outreach strategy, like </a:t>
            </a:r>
            <a:r>
              <a:rPr b="1" i="0" lang="en-US" sz="1100" u="none" cap="none" strike="noStrike">
                <a:solidFill>
                  <a:srgbClr val="0066FF"/>
                </a:solidFill>
                <a:latin typeface="Didact Gothic"/>
                <a:ea typeface="Didact Gothic"/>
                <a:cs typeface="Didact Gothic"/>
                <a:sym typeface="Didact Gothic"/>
              </a:rPr>
              <a:t>re-engagement campaigns</a:t>
            </a:r>
            <a:r>
              <a:rPr b="0" i="0" lang="en-US" sz="1100" u="none" cap="none" strike="noStrike">
                <a:solidFill>
                  <a:srgbClr val="0066FF"/>
                </a:solidFill>
                <a:latin typeface="Didact Gothic"/>
                <a:ea typeface="Didact Gothic"/>
                <a:cs typeface="Didact Gothic"/>
                <a:sym typeface="Didact Gothic"/>
              </a:rPr>
              <a:t> offering discounts or new products</a:t>
            </a:r>
            <a:endParaRPr b="0" i="0" sz="1100" u="none" cap="none" strike="noStrike">
              <a:solidFill>
                <a:srgbClr val="0066FF"/>
              </a:solidFill>
              <a:latin typeface="Didact Gothic"/>
              <a:ea typeface="Didact Gothic"/>
              <a:cs typeface="Didact Gothic"/>
              <a:sym typeface="Didact Gothic"/>
            </a:endParaRPr>
          </a:p>
          <a:p>
            <a:pPr indent="0" lvl="0" marL="9144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5. Churned Moderate-Value Customers (Cluster 4)</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Description</a:t>
            </a:r>
            <a:r>
              <a:rPr b="0" i="0" lang="en-US" sz="1100" u="none" cap="none" strike="noStrike">
                <a:solidFill>
                  <a:schemeClr val="dk1"/>
                </a:solidFill>
                <a:latin typeface="Didact Gothic"/>
                <a:ea typeface="Didact Gothic"/>
                <a:cs typeface="Didact Gothic"/>
                <a:sym typeface="Didact Gothic"/>
              </a:rPr>
              <a:t>: These customers were once moderately valuable but have </a:t>
            </a:r>
            <a:r>
              <a:rPr b="1" i="0" lang="en-US" sz="1100" u="none" cap="none" strike="noStrike">
                <a:solidFill>
                  <a:schemeClr val="dk1"/>
                </a:solidFill>
                <a:latin typeface="Didact Gothic"/>
                <a:ea typeface="Didact Gothic"/>
                <a:cs typeface="Didact Gothic"/>
                <a:sym typeface="Didact Gothic"/>
              </a:rPr>
              <a:t>stopped buying</a:t>
            </a:r>
            <a:r>
              <a:rPr b="0" i="0" lang="en-US" sz="1100" u="none" cap="none" strike="noStrike">
                <a:solidFill>
                  <a:schemeClr val="dk1"/>
                </a:solidFill>
                <a:latin typeface="Didact Gothic"/>
                <a:ea typeface="Didact Gothic"/>
                <a:cs typeface="Didact Gothic"/>
                <a:sym typeface="Didact Gothic"/>
              </a:rPr>
              <a:t> or </a:t>
            </a:r>
            <a:r>
              <a:rPr b="1" i="0" lang="en-US" sz="1100" u="none" cap="none" strike="noStrike">
                <a:solidFill>
                  <a:schemeClr val="dk1"/>
                </a:solidFill>
                <a:latin typeface="Didact Gothic"/>
                <a:ea typeface="Didact Gothic"/>
                <a:cs typeface="Didact Gothic"/>
                <a:sym typeface="Didact Gothic"/>
              </a:rPr>
              <a:t>show low engagement</a:t>
            </a:r>
            <a:r>
              <a:rPr b="0" i="0" lang="en-US" sz="1100" u="none" cap="none" strike="noStrike">
                <a:solidFill>
                  <a:schemeClr val="dk1"/>
                </a:solidFill>
                <a:latin typeface="Didact Gothic"/>
                <a:ea typeface="Didact Gothic"/>
                <a:cs typeface="Didact Gothic"/>
                <a:sym typeface="Didact Gothic"/>
              </a:rPr>
              <a:t>. They have a moderate monetary or frequency score but a </a:t>
            </a:r>
            <a:r>
              <a:rPr b="1" i="0" lang="en-US" sz="1100" u="none" cap="none" strike="noStrike">
                <a:solidFill>
                  <a:schemeClr val="dk1"/>
                </a:solidFill>
                <a:latin typeface="Didact Gothic"/>
                <a:ea typeface="Didact Gothic"/>
                <a:cs typeface="Didact Gothic"/>
                <a:sym typeface="Didact Gothic"/>
              </a:rPr>
              <a:t>low recency</a:t>
            </a:r>
            <a:r>
              <a:rPr b="0" i="0" lang="en-US" sz="1100" u="none" cap="none" strike="noStrike">
                <a:solidFill>
                  <a:schemeClr val="dk1"/>
                </a:solidFill>
                <a:latin typeface="Didact Gothic"/>
                <a:ea typeface="Didact Gothic"/>
                <a:cs typeface="Didact Gothic"/>
                <a:sym typeface="Didact Gothic"/>
              </a:rPr>
              <a:t> score.</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Didact Gothic"/>
                <a:ea typeface="Didact Gothic"/>
                <a:cs typeface="Didact Gothic"/>
                <a:sym typeface="Didact Gothic"/>
              </a:rPr>
              <a:t>Profile</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These customers were more engaged in the past but have recently gone inactive.</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Didact Gothic"/>
                <a:ea typeface="Didact Gothic"/>
                <a:cs typeface="Didact Gothic"/>
                <a:sym typeface="Didact Gothic"/>
              </a:rPr>
              <a:t>They might still be valuable if re-engaged correctly, but they are at risk of </a:t>
            </a:r>
            <a:r>
              <a:rPr b="1" i="0" lang="en-US" sz="1100" u="none" cap="none" strike="noStrike">
                <a:solidFill>
                  <a:schemeClr val="dk1"/>
                </a:solidFill>
                <a:latin typeface="Didact Gothic"/>
                <a:ea typeface="Didact Gothic"/>
                <a:cs typeface="Didact Gothic"/>
                <a:sym typeface="Didact Gothic"/>
              </a:rPr>
              <a:t>churn</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0066FF"/>
                </a:solidFill>
                <a:latin typeface="Didact Gothic"/>
                <a:ea typeface="Didact Gothic"/>
                <a:cs typeface="Didact Gothic"/>
                <a:sym typeface="Didact Gothic"/>
              </a:rPr>
              <a:t>They might need to be targeted with </a:t>
            </a:r>
            <a:r>
              <a:rPr b="1" i="0" lang="en-US" sz="1100" u="none" cap="none" strike="noStrike">
                <a:solidFill>
                  <a:srgbClr val="0066FF"/>
                </a:solidFill>
                <a:latin typeface="Didact Gothic"/>
                <a:ea typeface="Didact Gothic"/>
                <a:cs typeface="Didact Gothic"/>
                <a:sym typeface="Didact Gothic"/>
              </a:rPr>
              <a:t>retargeting ads</a:t>
            </a:r>
            <a:r>
              <a:rPr b="0" i="0" lang="en-US" sz="1100" u="none" cap="none" strike="noStrike">
                <a:solidFill>
                  <a:srgbClr val="0066FF"/>
                </a:solidFill>
                <a:latin typeface="Didact Gothic"/>
                <a:ea typeface="Didact Gothic"/>
                <a:cs typeface="Didact Gothic"/>
                <a:sym typeface="Didact Gothic"/>
              </a:rPr>
              <a:t> or </a:t>
            </a:r>
            <a:r>
              <a:rPr b="1" i="0" lang="en-US" sz="1100" u="none" cap="none" strike="noStrike">
                <a:solidFill>
                  <a:srgbClr val="0066FF"/>
                </a:solidFill>
                <a:latin typeface="Didact Gothic"/>
                <a:ea typeface="Didact Gothic"/>
                <a:cs typeface="Didact Gothic"/>
                <a:sym typeface="Didact Gothic"/>
              </a:rPr>
              <a:t>loyalty rewards</a:t>
            </a:r>
            <a:r>
              <a:rPr b="0" i="0" lang="en-US" sz="1100" u="none" cap="none" strike="noStrike">
                <a:solidFill>
                  <a:srgbClr val="0066FF"/>
                </a:solidFill>
                <a:latin typeface="Didact Gothic"/>
                <a:ea typeface="Didact Gothic"/>
                <a:cs typeface="Didact Gothic"/>
                <a:sym typeface="Didact Gothic"/>
              </a:rPr>
              <a:t> to bring them back.</a:t>
            </a:r>
            <a:endParaRPr b="0" i="0" sz="1100" u="none" cap="none" strike="noStrike">
              <a:solidFill>
                <a:srgbClr val="0066FF"/>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Didact Gothic"/>
              <a:ea typeface="Didact Gothic"/>
              <a:cs typeface="Didact Gothic"/>
              <a:sym typeface="Didact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grpSp>
        <p:nvGrpSpPr>
          <p:cNvPr id="599" name="Google Shape;599;p70"/>
          <p:cNvGrpSpPr/>
          <p:nvPr/>
        </p:nvGrpSpPr>
        <p:grpSpPr>
          <a:xfrm>
            <a:off x="-1500" y="10054089"/>
            <a:ext cx="7559700" cy="660067"/>
            <a:chOff x="-1500" y="9788760"/>
            <a:chExt cx="7559700" cy="925500"/>
          </a:xfrm>
        </p:grpSpPr>
        <p:sp>
          <p:nvSpPr>
            <p:cNvPr id="600" name="Google Shape;600;p70"/>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70"/>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2" name="Google Shape;602;p70"/>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70"/>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4. APPLICATION DEVELOPMENT</a:t>
            </a:r>
            <a:endParaRPr sz="2700">
              <a:latin typeface="Manrope"/>
              <a:ea typeface="Manrope"/>
              <a:cs typeface="Manrope"/>
              <a:sym typeface="Manrope"/>
            </a:endParaRPr>
          </a:p>
        </p:txBody>
      </p:sp>
      <p:sp>
        <p:nvSpPr>
          <p:cNvPr id="604" name="Google Shape;604;p70"/>
          <p:cNvSpPr txBox="1"/>
          <p:nvPr/>
        </p:nvSpPr>
        <p:spPr>
          <a:xfrm>
            <a:off x="290925" y="949725"/>
            <a:ext cx="6982500" cy="8899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dk1"/>
                </a:solidFill>
                <a:latin typeface="Didact Gothic"/>
                <a:ea typeface="Didact Gothic"/>
                <a:cs typeface="Didact Gothic"/>
                <a:sym typeface="Didact Gothic"/>
              </a:rPr>
              <a:t>Summary of the 5 Clusters:</a:t>
            </a:r>
            <a:endParaRPr b="1" i="0" sz="16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High-Value Customers</a:t>
            </a:r>
            <a:r>
              <a:rPr b="0" i="0" lang="en-US" sz="1100" u="none" cap="none" strike="noStrike">
                <a:solidFill>
                  <a:schemeClr val="dk1"/>
                </a:solidFill>
                <a:latin typeface="Didact Gothic"/>
                <a:ea typeface="Didact Gothic"/>
                <a:cs typeface="Didact Gothic"/>
                <a:sym typeface="Didact Gothic"/>
              </a:rPr>
              <a:t>: Recent, frequent, and high spenders — the most profitable group.</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Moderate-Value Customers</a:t>
            </a:r>
            <a:r>
              <a:rPr b="0" i="0" lang="en-US" sz="1100" u="none" cap="none" strike="noStrike">
                <a:solidFill>
                  <a:schemeClr val="dk1"/>
                </a:solidFill>
                <a:latin typeface="Didact Gothic"/>
                <a:ea typeface="Didact Gothic"/>
                <a:cs typeface="Didact Gothic"/>
                <a:sym typeface="Didact Gothic"/>
              </a:rPr>
              <a:t>: Good spenders but not as frequent or recent. They represent potential growth.</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Dormant or Low-Engagement Customers</a:t>
            </a:r>
            <a:r>
              <a:rPr b="0" i="0" lang="en-US" sz="1100" u="none" cap="none" strike="noStrike">
                <a:solidFill>
                  <a:schemeClr val="dk1"/>
                </a:solidFill>
                <a:latin typeface="Didact Gothic"/>
                <a:ea typeface="Didact Gothic"/>
                <a:cs typeface="Didact Gothic"/>
                <a:sym typeface="Didact Gothic"/>
              </a:rPr>
              <a:t>: Low interaction and purchase frequency. These customers are inactive and need re-engagement.</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Inactive but Valuable Customers</a:t>
            </a:r>
            <a:r>
              <a:rPr b="0" i="0" lang="en-US" sz="1100" u="none" cap="none" strike="noStrike">
                <a:solidFill>
                  <a:schemeClr val="dk1"/>
                </a:solidFill>
                <a:latin typeface="Didact Gothic"/>
                <a:ea typeface="Didact Gothic"/>
                <a:cs typeface="Didact Gothic"/>
                <a:sym typeface="Didact Gothic"/>
              </a:rPr>
              <a:t>: Low recent activity but have historically shown value. They can be reactivated.</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Churned Moderate-Value Customers</a:t>
            </a:r>
            <a:r>
              <a:rPr b="0" i="0" lang="en-US" sz="1100" u="none" cap="none" strike="noStrike">
                <a:solidFill>
                  <a:schemeClr val="dk1"/>
                </a:solidFill>
                <a:latin typeface="Didact Gothic"/>
                <a:ea typeface="Didact Gothic"/>
                <a:cs typeface="Didact Gothic"/>
                <a:sym typeface="Didact Gothic"/>
              </a:rPr>
              <a:t>: Moderate previous value but now dormant. They represent a risk of churn.</a:t>
            </a:r>
            <a:endParaRPr b="0" i="0" sz="1100" u="none" cap="none" strike="noStrike">
              <a:solidFill>
                <a:schemeClr val="dk1"/>
              </a:solidFill>
              <a:latin typeface="Didact Gothic"/>
              <a:ea typeface="Didact Gothic"/>
              <a:cs typeface="Didact Gothic"/>
              <a:sym typeface="Didact Gothic"/>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dk1"/>
                </a:solidFill>
                <a:latin typeface="Didact Gothic"/>
                <a:ea typeface="Didact Gothic"/>
                <a:cs typeface="Didact Gothic"/>
                <a:sym typeface="Didact Gothic"/>
              </a:rPr>
              <a:t>Why 5 Clusters?</a:t>
            </a:r>
            <a:endParaRPr b="1" i="0" sz="16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Didact Gothic"/>
                <a:ea typeface="Didact Gothic"/>
                <a:cs typeface="Didact Gothic"/>
                <a:sym typeface="Didact Gothic"/>
              </a:rPr>
              <a:t>These 5 clusters provide a </a:t>
            </a:r>
            <a:r>
              <a:rPr b="1" i="0" lang="en-US" sz="1100" u="none" cap="none" strike="noStrike">
                <a:solidFill>
                  <a:schemeClr val="dk1"/>
                </a:solidFill>
                <a:latin typeface="Didact Gothic"/>
                <a:ea typeface="Didact Gothic"/>
                <a:cs typeface="Didact Gothic"/>
                <a:sym typeface="Didact Gothic"/>
              </a:rPr>
              <a:t>balanced</a:t>
            </a:r>
            <a:r>
              <a:rPr b="0" i="0" lang="en-US" sz="1100" u="none" cap="none" strike="noStrike">
                <a:solidFill>
                  <a:schemeClr val="dk1"/>
                </a:solidFill>
                <a:latin typeface="Didact Gothic"/>
                <a:ea typeface="Didact Gothic"/>
                <a:cs typeface="Didact Gothic"/>
                <a:sym typeface="Didact Gothic"/>
              </a:rPr>
              <a:t> segmentation that captures the diversity of customer behaviors, from the most loyal, high-value customers to the least engaged ones. The strategy enables </a:t>
            </a:r>
            <a:r>
              <a:rPr b="1" i="0" lang="en-US" sz="1100" u="none" cap="none" strike="noStrike">
                <a:solidFill>
                  <a:schemeClr val="dk1"/>
                </a:solidFill>
                <a:latin typeface="Didact Gothic"/>
                <a:ea typeface="Didact Gothic"/>
                <a:cs typeface="Didact Gothic"/>
                <a:sym typeface="Didact Gothic"/>
              </a:rPr>
              <a:t>personalized marketing</a:t>
            </a:r>
            <a:r>
              <a:rPr b="0" i="0" lang="en-US" sz="1100" u="none" cap="none" strike="noStrike">
                <a:solidFill>
                  <a:schemeClr val="dk1"/>
                </a:solidFill>
                <a:latin typeface="Didact Gothic"/>
                <a:ea typeface="Didact Gothic"/>
                <a:cs typeface="Didact Gothic"/>
                <a:sym typeface="Didact Gothic"/>
              </a:rPr>
              <a:t> and </a:t>
            </a:r>
            <a:r>
              <a:rPr b="1" i="0" lang="en-US" sz="1100" u="none" cap="none" strike="noStrike">
                <a:solidFill>
                  <a:schemeClr val="dk1"/>
                </a:solidFill>
                <a:latin typeface="Didact Gothic"/>
                <a:ea typeface="Didact Gothic"/>
                <a:cs typeface="Didact Gothic"/>
                <a:sym typeface="Didact Gothic"/>
              </a:rPr>
              <a:t>targeted recommendations</a:t>
            </a:r>
            <a:r>
              <a:rPr b="0" i="0" lang="en-US" sz="1100" u="none" cap="none" strike="noStrike">
                <a:solidFill>
                  <a:schemeClr val="dk1"/>
                </a:solidFill>
                <a:latin typeface="Didact Gothic"/>
                <a:ea typeface="Didact Gothic"/>
                <a:cs typeface="Didact Gothic"/>
                <a:sym typeface="Didact Gothic"/>
              </a:rPr>
              <a:t> tailored to each cluster's needs. By classifying customers into these distinct groups, you can create specific </a:t>
            </a:r>
            <a:r>
              <a:rPr b="1" i="0" lang="en-US" sz="1100" u="none" cap="none" strike="noStrike">
                <a:solidFill>
                  <a:schemeClr val="dk1"/>
                </a:solidFill>
                <a:latin typeface="Didact Gothic"/>
                <a:ea typeface="Didact Gothic"/>
                <a:cs typeface="Didact Gothic"/>
                <a:sym typeface="Didact Gothic"/>
              </a:rPr>
              <a:t>engagement strategies</a:t>
            </a:r>
            <a:r>
              <a:rPr b="0" i="0" lang="en-US" sz="1100" u="none" cap="none" strike="noStrike">
                <a:solidFill>
                  <a:schemeClr val="dk1"/>
                </a:solidFill>
                <a:latin typeface="Didact Gothic"/>
                <a:ea typeface="Didact Gothic"/>
                <a:cs typeface="Didact Gothic"/>
                <a:sym typeface="Didact Gothic"/>
              </a:rPr>
              <a:t> to increase customer retention, loyalty, and overall revenue.</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30"/>
              <a:buFont typeface="Arial"/>
              <a:buNone/>
            </a:pPr>
            <a:r>
              <a:t/>
            </a:r>
            <a:endParaRPr b="1" i="0" sz="123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1" i="0" lang="en-US" sz="1600" u="none" cap="none" strike="noStrike">
                <a:solidFill>
                  <a:schemeClr val="dk1"/>
                </a:solidFill>
                <a:latin typeface="Didact Gothic"/>
                <a:ea typeface="Didact Gothic"/>
                <a:cs typeface="Didact Gothic"/>
                <a:sym typeface="Didact Gothic"/>
              </a:rPr>
              <a:t>Our App and How the Recommendation System Works</a:t>
            </a:r>
            <a:endParaRPr b="1" i="0" sz="16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0" i="0" lang="en-US" sz="1100" u="none" cap="none" strike="noStrike">
                <a:solidFill>
                  <a:schemeClr val="dk1"/>
                </a:solidFill>
                <a:latin typeface="Didact Gothic"/>
                <a:ea typeface="Didact Gothic"/>
                <a:cs typeface="Didact Gothic"/>
                <a:sym typeface="Didact Gothic"/>
              </a:rPr>
              <a:t>The goal of the product recommendation application is to suggest products to customers based on their purchasing behavior, classified into </a:t>
            </a:r>
            <a:r>
              <a:rPr b="1" i="0" lang="en-US" sz="1100" u="none" cap="none" strike="noStrike">
                <a:solidFill>
                  <a:schemeClr val="dk1"/>
                </a:solidFill>
                <a:latin typeface="Didact Gothic"/>
                <a:ea typeface="Didact Gothic"/>
                <a:cs typeface="Didact Gothic"/>
                <a:sym typeface="Didact Gothic"/>
              </a:rPr>
              <a:t>Recency</a:t>
            </a:r>
            <a:r>
              <a:rPr b="0" i="0" lang="en-US" sz="1100" u="none" cap="none" strike="noStrike">
                <a:solidFill>
                  <a:schemeClr val="dk1"/>
                </a:solidFill>
                <a:latin typeface="Didact Gothic"/>
                <a:ea typeface="Didact Gothic"/>
                <a:cs typeface="Didact Gothic"/>
                <a:sym typeface="Didact Gothic"/>
              </a:rPr>
              <a:t>, </a:t>
            </a:r>
            <a:r>
              <a:rPr b="1" i="0" lang="en-US" sz="1100" u="none" cap="none" strike="noStrike">
                <a:solidFill>
                  <a:schemeClr val="dk1"/>
                </a:solidFill>
                <a:latin typeface="Didact Gothic"/>
                <a:ea typeface="Didact Gothic"/>
                <a:cs typeface="Didact Gothic"/>
                <a:sym typeface="Didact Gothic"/>
              </a:rPr>
              <a:t>Frequency</a:t>
            </a:r>
            <a:r>
              <a:rPr b="0" i="0" lang="en-US" sz="1100" u="none" cap="none" strike="noStrike">
                <a:solidFill>
                  <a:schemeClr val="dk1"/>
                </a:solidFill>
                <a:latin typeface="Didact Gothic"/>
                <a:ea typeface="Didact Gothic"/>
                <a:cs typeface="Didact Gothic"/>
                <a:sym typeface="Didact Gothic"/>
              </a:rPr>
              <a:t>, and </a:t>
            </a:r>
            <a:r>
              <a:rPr b="1" i="0" lang="en-US" sz="1100" u="none" cap="none" strike="noStrike">
                <a:solidFill>
                  <a:schemeClr val="dk1"/>
                </a:solidFill>
                <a:latin typeface="Didact Gothic"/>
                <a:ea typeface="Didact Gothic"/>
                <a:cs typeface="Didact Gothic"/>
                <a:sym typeface="Didact Gothic"/>
              </a:rPr>
              <a:t>Monetary (RFM)</a:t>
            </a:r>
            <a:r>
              <a:rPr b="0" i="0" lang="en-US" sz="1100" u="none" cap="none" strike="noStrike">
                <a:solidFill>
                  <a:schemeClr val="dk1"/>
                </a:solidFill>
                <a:latin typeface="Didact Gothic"/>
                <a:ea typeface="Didact Gothic"/>
                <a:cs typeface="Didact Gothic"/>
                <a:sym typeface="Didact Gothic"/>
              </a:rPr>
              <a:t> categories. This is done by grouping customers into clusters and offering recommendations for products that similar customers have purchased.</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1" i="0" lang="en-US" sz="1600" u="none" cap="none" strike="noStrike">
                <a:solidFill>
                  <a:schemeClr val="dk1"/>
                </a:solidFill>
                <a:latin typeface="Didact Gothic"/>
                <a:ea typeface="Didact Gothic"/>
                <a:cs typeface="Didact Gothic"/>
                <a:sym typeface="Didact Gothic"/>
              </a:rPr>
              <a:t>Process Flow:</a:t>
            </a:r>
            <a:endParaRPr b="1" i="0" sz="12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Customer Input</a:t>
            </a:r>
            <a:r>
              <a:rPr b="0" i="0" lang="en-US" sz="1100" u="none" cap="none" strike="noStrike">
                <a:solidFill>
                  <a:schemeClr val="dk1"/>
                </a:solidFill>
                <a:latin typeface="Didact Gothic"/>
                <a:ea typeface="Didact Gothic"/>
                <a:cs typeface="Didact Gothic"/>
                <a:sym typeface="Didact Gothic"/>
              </a:rPr>
              <a:t>: A customer connects on our application system and then he chose a  list of </a:t>
            </a:r>
            <a:r>
              <a:rPr b="1" i="0" lang="en-US" sz="1100" u="none" cap="none" strike="noStrike">
                <a:solidFill>
                  <a:schemeClr val="dk1"/>
                </a:solidFill>
                <a:latin typeface="Didact Gothic"/>
                <a:ea typeface="Didact Gothic"/>
                <a:cs typeface="Didact Gothic"/>
                <a:sym typeface="Didact Gothic"/>
              </a:rPr>
              <a:t>products</a:t>
            </a:r>
            <a:r>
              <a:rPr b="0" i="0" lang="en-US" sz="1100" u="none" cap="none" strike="noStrike">
                <a:solidFill>
                  <a:schemeClr val="dk1"/>
                </a:solidFill>
                <a:latin typeface="Didact Gothic"/>
                <a:ea typeface="Didact Gothic"/>
                <a:cs typeface="Didact Gothic"/>
                <a:sym typeface="Didact Gothic"/>
              </a:rPr>
              <a:t> they are interested in.</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Calibri"/>
              <a:buAutoNum type="arabicPeriod"/>
            </a:pPr>
            <a:r>
              <a:rPr b="1" i="0" lang="en-US" sz="1100" u="none" cap="none" strike="noStrike">
                <a:solidFill>
                  <a:schemeClr val="dk1"/>
                </a:solidFill>
                <a:latin typeface="Didact Gothic"/>
                <a:ea typeface="Didact Gothic"/>
                <a:cs typeface="Didact Gothic"/>
                <a:sym typeface="Didact Gothic"/>
              </a:rPr>
              <a:t>Backend Processing</a:t>
            </a:r>
            <a:r>
              <a:rPr b="0" i="0" lang="en-US" sz="1100" u="none" cap="none" strike="noStrike">
                <a:solidFill>
                  <a:schemeClr val="dk1"/>
                </a:solidFill>
                <a:latin typeface="Didact Gothic"/>
                <a:ea typeface="Didact Gothic"/>
                <a:cs typeface="Didact Gothic"/>
                <a:sym typeface="Didact Gothic"/>
              </a:rPr>
              <a:t>:</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Customer Profile Lookup: The system uses the Customer ID to retrieve the RFM score of the customer and their cluster (a group of customers with similar purchasing behaviors).</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Recommendation Generation: Based on the cluster the customer belongs to, the system retrieves the most popular products bought by other customers in the same group. It ensures that products the customer has already expressed interest in are excluded from the recommendations.</a:t>
            </a:r>
            <a:endParaRPr b="0" i="0" sz="1100" u="none" cap="none" strike="noStrike">
              <a:solidFill>
                <a:schemeClr val="dk1"/>
              </a:solidFill>
              <a:latin typeface="Didact Gothic"/>
              <a:ea typeface="Didact Gothic"/>
              <a:cs typeface="Didact Gothic"/>
              <a:sym typeface="Didact Gothic"/>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p:txBody>
      </p:sp>
      <p:pic>
        <p:nvPicPr>
          <p:cNvPr id="605" name="Google Shape;605;p70"/>
          <p:cNvPicPr preferRelativeResize="0"/>
          <p:nvPr/>
        </p:nvPicPr>
        <p:blipFill rotWithShape="1">
          <a:blip r:embed="rId3">
            <a:alphaModFix/>
          </a:blip>
          <a:srcRect b="0" l="0" r="0" t="0"/>
          <a:stretch/>
        </p:blipFill>
        <p:spPr>
          <a:xfrm>
            <a:off x="3262025" y="7377675"/>
            <a:ext cx="4084149" cy="2152750"/>
          </a:xfrm>
          <a:prstGeom prst="rect">
            <a:avLst/>
          </a:prstGeom>
          <a:noFill/>
          <a:ln cap="flat" cmpd="sng" w="19050">
            <a:solidFill>
              <a:schemeClr val="dk2"/>
            </a:solidFill>
            <a:prstDash val="solid"/>
            <a:round/>
            <a:headEnd len="sm" w="sm" type="none"/>
            <a:tailEnd len="sm" w="sm" type="none"/>
          </a:ln>
        </p:spPr>
      </p:pic>
      <p:sp>
        <p:nvSpPr>
          <p:cNvPr id="606" name="Google Shape;606;p70"/>
          <p:cNvSpPr/>
          <p:nvPr/>
        </p:nvSpPr>
        <p:spPr>
          <a:xfrm>
            <a:off x="3376075" y="8412475"/>
            <a:ext cx="1032000" cy="1045200"/>
          </a:xfrm>
          <a:prstGeom prst="horizontalScroll">
            <a:avLst>
              <a:gd fmla="val 12500" name="adj"/>
            </a:avLst>
          </a:prstGeom>
          <a:gradFill>
            <a:gsLst>
              <a:gs pos="0">
                <a:srgbClr val="FFFFFF"/>
              </a:gs>
              <a:gs pos="100000">
                <a:srgbClr val="B3B3B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2"/>
                </a:solidFill>
                <a:latin typeface="Didact Gothic"/>
                <a:ea typeface="Didact Gothic"/>
                <a:cs typeface="Didact Gothic"/>
                <a:sym typeface="Didact Gothic"/>
              </a:rPr>
              <a:t>ERD for our database</a:t>
            </a:r>
            <a:endParaRPr b="1" i="0" sz="1100" u="none" cap="none" strike="noStrike">
              <a:solidFill>
                <a:schemeClr val="dk2"/>
              </a:solidFill>
              <a:latin typeface="Didact Gothic"/>
              <a:ea typeface="Didact Gothic"/>
              <a:cs typeface="Didact Gothic"/>
              <a:sym typeface="Didact Gothic"/>
            </a:endParaRPr>
          </a:p>
        </p:txBody>
      </p:sp>
      <p:pic>
        <p:nvPicPr>
          <p:cNvPr id="607" name="Google Shape;607;p70"/>
          <p:cNvPicPr preferRelativeResize="0"/>
          <p:nvPr/>
        </p:nvPicPr>
        <p:blipFill rotWithShape="1">
          <a:blip r:embed="rId4">
            <a:alphaModFix/>
          </a:blip>
          <a:srcRect b="26132" l="9553" r="11817" t="5350"/>
          <a:stretch/>
        </p:blipFill>
        <p:spPr>
          <a:xfrm>
            <a:off x="176400" y="7377675"/>
            <a:ext cx="2918950" cy="25868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grpSp>
        <p:nvGrpSpPr>
          <p:cNvPr id="612" name="Google Shape;612;p71"/>
          <p:cNvGrpSpPr/>
          <p:nvPr/>
        </p:nvGrpSpPr>
        <p:grpSpPr>
          <a:xfrm>
            <a:off x="-1500" y="10054089"/>
            <a:ext cx="7559700" cy="660067"/>
            <a:chOff x="-1500" y="9788760"/>
            <a:chExt cx="7559700" cy="925500"/>
          </a:xfrm>
        </p:grpSpPr>
        <p:sp>
          <p:nvSpPr>
            <p:cNvPr id="613" name="Google Shape;613;p71"/>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71"/>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5" name="Google Shape;615;p71"/>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71"/>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4. APPLICATION DEVELOPMENT</a:t>
            </a:r>
            <a:endParaRPr sz="2700">
              <a:latin typeface="Manrope"/>
              <a:ea typeface="Manrope"/>
              <a:cs typeface="Manrope"/>
              <a:sym typeface="Manrope"/>
            </a:endParaRPr>
          </a:p>
        </p:txBody>
      </p:sp>
      <p:sp>
        <p:nvSpPr>
          <p:cNvPr id="617" name="Google Shape;617;p71"/>
          <p:cNvSpPr txBox="1"/>
          <p:nvPr/>
        </p:nvSpPr>
        <p:spPr>
          <a:xfrm>
            <a:off x="290925" y="1031950"/>
            <a:ext cx="6982500" cy="881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3. Recommendations Display</a:t>
            </a:r>
            <a:r>
              <a:rPr b="0" i="0" lang="en-US" sz="1100" u="none" cap="none" strike="noStrike">
                <a:solidFill>
                  <a:schemeClr val="dk1"/>
                </a:solidFill>
                <a:latin typeface="Didact Gothic"/>
                <a:ea typeface="Didact Gothic"/>
                <a:cs typeface="Didact Gothic"/>
                <a:sym typeface="Didact Gothic"/>
              </a:rPr>
              <a:t>: The backend returns two main outputs:</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 Customer's RFM Values (Recency, Frequency, and Monetary scores), which provide insight into the customer's purchasing behavior.</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A list of Recommended Products, based on the behaviors of similar customers.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4. Frontend Display</a:t>
            </a:r>
            <a:r>
              <a:rPr b="0" i="0" lang="en-US" sz="1100" u="none" cap="none" strike="noStrike">
                <a:solidFill>
                  <a:schemeClr val="dk1"/>
                </a:solidFill>
                <a:latin typeface="Didact Gothic"/>
                <a:ea typeface="Didact Gothic"/>
                <a:cs typeface="Didact Gothic"/>
                <a:sym typeface="Didact Gothic"/>
              </a:rPr>
              <a:t>: The customer sees:</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Their RFM profile (a description of their purchasing behavior).</a:t>
            </a:r>
            <a:endParaRPr b="0" i="0" sz="1100" u="none" cap="none" strike="noStrike">
              <a:solidFill>
                <a:schemeClr val="dk1"/>
              </a:solidFill>
              <a:latin typeface="Didact Gothic"/>
              <a:ea typeface="Didact Gothic"/>
              <a:cs typeface="Didact Gothic"/>
              <a:sym typeface="Didact Gothic"/>
            </a:endParaRPr>
          </a:p>
          <a:p>
            <a:pPr indent="-298450" lvl="1" marL="9144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A list of products they may be interested in.</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Didact Gothic"/>
                <a:ea typeface="Didact Gothic"/>
                <a:cs typeface="Didact Gothic"/>
                <a:sym typeface="Didact Gothic"/>
              </a:rPr>
              <a:t>The welcome page of the application : </a:t>
            </a:r>
            <a:endParaRPr b="1"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Didact Gothic"/>
              <a:ea typeface="Didact Gothic"/>
              <a:cs typeface="Didact Gothic"/>
              <a:sym typeface="Didact Gothic"/>
            </a:endParaRPr>
          </a:p>
        </p:txBody>
      </p:sp>
      <p:pic>
        <p:nvPicPr>
          <p:cNvPr id="618" name="Google Shape;618;p71"/>
          <p:cNvPicPr preferRelativeResize="0"/>
          <p:nvPr/>
        </p:nvPicPr>
        <p:blipFill rotWithShape="1">
          <a:blip r:embed="rId3">
            <a:alphaModFix/>
          </a:blip>
          <a:srcRect b="0" l="0" r="0" t="0"/>
          <a:stretch/>
        </p:blipFill>
        <p:spPr>
          <a:xfrm>
            <a:off x="407725" y="3189775"/>
            <a:ext cx="6744225" cy="66591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grpSp>
        <p:nvGrpSpPr>
          <p:cNvPr id="623" name="Google Shape;623;p72"/>
          <p:cNvGrpSpPr/>
          <p:nvPr/>
        </p:nvGrpSpPr>
        <p:grpSpPr>
          <a:xfrm>
            <a:off x="-1500" y="10138822"/>
            <a:ext cx="7559700" cy="575106"/>
            <a:chOff x="-1500" y="9788760"/>
            <a:chExt cx="7559700" cy="925500"/>
          </a:xfrm>
        </p:grpSpPr>
        <p:sp>
          <p:nvSpPr>
            <p:cNvPr id="624" name="Google Shape;624;p72"/>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72"/>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6" name="Google Shape;626;p72"/>
          <p:cNvSpPr/>
          <p:nvPr/>
        </p:nvSpPr>
        <p:spPr>
          <a:xfrm flipH="1">
            <a:off x="176405" y="42631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72"/>
          <p:cNvSpPr txBox="1"/>
          <p:nvPr>
            <p:ph idx="4294967295" type="title"/>
          </p:nvPr>
        </p:nvSpPr>
        <p:spPr>
          <a:xfrm>
            <a:off x="684300" y="212643"/>
            <a:ext cx="6188100" cy="819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n-US" sz="2700">
                <a:latin typeface="Manrope"/>
                <a:ea typeface="Manrope"/>
                <a:cs typeface="Manrope"/>
                <a:sym typeface="Manrope"/>
              </a:rPr>
              <a:t>4. APPLICATION DEVELOPMENT</a:t>
            </a:r>
            <a:endParaRPr sz="2700">
              <a:latin typeface="Manrope"/>
              <a:ea typeface="Manrope"/>
              <a:cs typeface="Manrope"/>
              <a:sym typeface="Manrope"/>
            </a:endParaRPr>
          </a:p>
        </p:txBody>
      </p:sp>
      <p:sp>
        <p:nvSpPr>
          <p:cNvPr id="628" name="Google Shape;628;p72"/>
          <p:cNvSpPr txBox="1"/>
          <p:nvPr/>
        </p:nvSpPr>
        <p:spPr>
          <a:xfrm>
            <a:off x="176400" y="960075"/>
            <a:ext cx="6936900" cy="961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1300"/>
              <a:buFont typeface="Arial"/>
              <a:buNone/>
            </a:pPr>
            <a:r>
              <a:rPr b="1" i="0" lang="en-US" sz="1300" u="none" cap="none" strike="noStrike">
                <a:solidFill>
                  <a:schemeClr val="dk1"/>
                </a:solidFill>
                <a:latin typeface="Didact Gothic"/>
                <a:ea typeface="Didact Gothic"/>
                <a:cs typeface="Didact Gothic"/>
                <a:sym typeface="Didact Gothic"/>
              </a:rPr>
              <a:t>Pros and Cons of the System</a:t>
            </a:r>
            <a:endParaRPr b="1" i="0" sz="13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100"/>
              <a:buFont typeface="Arial"/>
              <a:buNone/>
            </a:pPr>
            <a:r>
              <a:rPr b="0" i="0" lang="en-US" sz="1100" u="none" cap="none" strike="noStrike">
                <a:solidFill>
                  <a:schemeClr val="dk1"/>
                </a:solidFill>
                <a:latin typeface="Didact Gothic"/>
                <a:ea typeface="Didact Gothic"/>
                <a:cs typeface="Didact Gothic"/>
                <a:sym typeface="Didact Gothic"/>
              </a:rPr>
              <a:t>Pros: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60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Personalized recommendations based on customer behavior</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Data-driven insights using RFM analysis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Scalable approach for larger datasets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Simple implementation without complex machine learning models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chemeClr val="dk1"/>
              </a:buClr>
              <a:buSzPts val="1100"/>
              <a:buFont typeface="Arial"/>
              <a:buNone/>
            </a:pPr>
            <a:r>
              <a:rPr b="0" i="0" lang="en-US" sz="1100" u="none" cap="none" strike="noStrike">
                <a:solidFill>
                  <a:schemeClr val="dk1"/>
                </a:solidFill>
                <a:latin typeface="Didact Gothic"/>
                <a:ea typeface="Didact Gothic"/>
                <a:cs typeface="Didact Gothic"/>
                <a:sym typeface="Didact Gothic"/>
              </a:rPr>
              <a:t>Cons: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60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Highly dependent on data quality and completeness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Cold start problem for new customers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Lack of real-time preference adaptation based on new products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rPr b="1" i="0" lang="en-US" sz="1300" u="none" cap="none" strike="noStrike">
                <a:solidFill>
                  <a:schemeClr val="dk1"/>
                </a:solidFill>
                <a:latin typeface="Didact Gothic"/>
                <a:ea typeface="Didact Gothic"/>
                <a:cs typeface="Didact Gothic"/>
                <a:sym typeface="Didact Gothic"/>
              </a:rPr>
              <a:t>Explanation Alignment with the Code</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chemeClr val="dk1"/>
              </a:buClr>
              <a:buSzPts val="1100"/>
              <a:buFont typeface="Arial"/>
              <a:buNone/>
            </a:pPr>
            <a:r>
              <a:rPr b="0" i="0" lang="en-US" sz="1100" u="none" cap="none" strike="noStrike">
                <a:solidFill>
                  <a:schemeClr val="dk1"/>
                </a:solidFill>
                <a:latin typeface="Didact Gothic"/>
                <a:ea typeface="Didact Gothic"/>
                <a:cs typeface="Didact Gothic"/>
                <a:sym typeface="Didact Gothic"/>
              </a:rPr>
              <a:t>The code implements RFM-based clustering and product recommendation by:</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600"/>
              </a:spcBef>
              <a:spcAft>
                <a:spcPts val="0"/>
              </a:spcAft>
              <a:buClr>
                <a:schemeClr val="dk1"/>
              </a:buClr>
              <a:buSzPts val="1100"/>
              <a:buFont typeface="Didact Gothic"/>
              <a:buAutoNum type="arabicPeriod"/>
            </a:pPr>
            <a:r>
              <a:rPr b="0" i="0" lang="en-US" sz="1100" u="none" cap="none" strike="noStrike">
                <a:solidFill>
                  <a:schemeClr val="dk1"/>
                </a:solidFill>
                <a:latin typeface="Didact Gothic"/>
                <a:ea typeface="Didact Gothic"/>
                <a:cs typeface="Didact Gothic"/>
                <a:sym typeface="Didact Gothic"/>
              </a:rPr>
              <a:t>Handling RFM scores and transaction data</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AutoNum type="arabicPeriod"/>
            </a:pPr>
            <a:r>
              <a:rPr b="0" i="0" lang="en-US" sz="1100" u="none" cap="none" strike="noStrike">
                <a:solidFill>
                  <a:schemeClr val="dk1"/>
                </a:solidFill>
                <a:latin typeface="Didact Gothic"/>
                <a:ea typeface="Didact Gothic"/>
                <a:cs typeface="Didact Gothic"/>
                <a:sym typeface="Didact Gothic"/>
              </a:rPr>
              <a:t>Clustering customers based on RFM scores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AutoNum type="arabicPeriod"/>
            </a:pPr>
            <a:r>
              <a:rPr b="0" i="0" lang="en-US" sz="1100" u="none" cap="none" strike="noStrike">
                <a:solidFill>
                  <a:schemeClr val="dk1"/>
                </a:solidFill>
                <a:latin typeface="Didact Gothic"/>
                <a:ea typeface="Didact Gothic"/>
                <a:cs typeface="Didact Gothic"/>
                <a:sym typeface="Didact Gothic"/>
              </a:rPr>
              <a:t>Recommending products based on cluster-specific frequent purchases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rPr b="1" i="0" lang="en-US" sz="1300" u="none" cap="none" strike="noStrike">
                <a:solidFill>
                  <a:schemeClr val="dk1"/>
                </a:solidFill>
                <a:latin typeface="Didact Gothic"/>
                <a:ea typeface="Didact Gothic"/>
                <a:cs typeface="Didact Gothic"/>
                <a:sym typeface="Didact Gothic"/>
              </a:rPr>
              <a:t>Code Efficiency</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chemeClr val="dk1"/>
              </a:buClr>
              <a:buSzPts val="1100"/>
              <a:buFont typeface="Arial"/>
              <a:buNone/>
            </a:pPr>
            <a:r>
              <a:rPr b="0" i="0" lang="en-US" sz="1100" u="none" cap="none" strike="noStrike">
                <a:solidFill>
                  <a:schemeClr val="dk1"/>
                </a:solidFill>
                <a:latin typeface="Didact Gothic"/>
                <a:ea typeface="Didact Gothic"/>
                <a:cs typeface="Didact Gothic"/>
                <a:sym typeface="Didact Gothic"/>
              </a:rPr>
              <a:t>Areas for improvement:</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60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Optimize cluster-based recommendation process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Enhance non-buyer identification efficiency</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Consider distributed computation for better scalability</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t/>
            </a:r>
            <a:endParaRPr b="1" i="0" sz="13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t/>
            </a:r>
            <a:endParaRPr b="1" i="0" sz="1300" u="none" cap="none" strike="noStrike">
              <a:solidFill>
                <a:schemeClr val="dk1"/>
              </a:solidFill>
              <a:latin typeface="Didact Gothic"/>
              <a:ea typeface="Didact Gothic"/>
              <a:cs typeface="Didact Gothic"/>
              <a:sym typeface="Didact Gothic"/>
            </a:endParaRPr>
          </a:p>
          <a:p>
            <a:pPr indent="0" lvl="0" marL="3657600" marR="0" rtl="0" algn="l">
              <a:lnSpc>
                <a:spcPct val="115000"/>
              </a:lnSpc>
              <a:spcBef>
                <a:spcPts val="600"/>
              </a:spcBef>
              <a:spcAft>
                <a:spcPts val="0"/>
              </a:spcAft>
              <a:buClr>
                <a:srgbClr val="000000"/>
              </a:buClr>
              <a:buSzPts val="1300"/>
              <a:buFont typeface="Arial"/>
              <a:buNone/>
            </a:pPr>
            <a:r>
              <a:t/>
            </a:r>
            <a:endParaRPr b="1" i="0" sz="1300" u="none" cap="none" strike="noStrike">
              <a:solidFill>
                <a:schemeClr val="dk1"/>
              </a:solidFill>
              <a:latin typeface="Didact Gothic"/>
              <a:ea typeface="Didact Gothic"/>
              <a:cs typeface="Didact Gothic"/>
              <a:sym typeface="Didact Gothic"/>
            </a:endParaRPr>
          </a:p>
          <a:p>
            <a:pPr indent="0" lvl="0" marL="3657600" marR="0" rtl="0" algn="l">
              <a:lnSpc>
                <a:spcPct val="115000"/>
              </a:lnSpc>
              <a:spcBef>
                <a:spcPts val="600"/>
              </a:spcBef>
              <a:spcAft>
                <a:spcPts val="0"/>
              </a:spcAft>
              <a:buClr>
                <a:srgbClr val="000000"/>
              </a:buClr>
              <a:buSzPts val="1300"/>
              <a:buFont typeface="Arial"/>
              <a:buNone/>
            </a:pPr>
            <a:r>
              <a:t/>
            </a:r>
            <a:endParaRPr b="1" i="0" sz="1300" u="none" cap="none" strike="noStrike">
              <a:solidFill>
                <a:schemeClr val="dk1"/>
              </a:solidFill>
              <a:latin typeface="Didact Gothic"/>
              <a:ea typeface="Didact Gothic"/>
              <a:cs typeface="Didact Gothic"/>
              <a:sym typeface="Didact Gothic"/>
            </a:endParaRPr>
          </a:p>
          <a:p>
            <a:pPr indent="0" lvl="0" marL="3657600" marR="0" rtl="0" algn="l">
              <a:lnSpc>
                <a:spcPct val="115000"/>
              </a:lnSpc>
              <a:spcBef>
                <a:spcPts val="600"/>
              </a:spcBef>
              <a:spcAft>
                <a:spcPts val="0"/>
              </a:spcAft>
              <a:buClr>
                <a:srgbClr val="000000"/>
              </a:buClr>
              <a:buSzPts val="1300"/>
              <a:buFont typeface="Arial"/>
              <a:buNone/>
            </a:pPr>
            <a:r>
              <a:rPr b="1" i="0" lang="en-US" sz="1300" u="none" cap="none" strike="noStrike">
                <a:solidFill>
                  <a:schemeClr val="dk1"/>
                </a:solidFill>
                <a:latin typeface="Didact Gothic"/>
                <a:ea typeface="Didact Gothic"/>
                <a:cs typeface="Didact Gothic"/>
                <a:sym typeface="Didact Gothic"/>
              </a:rPr>
              <a:t>Function Design</a:t>
            </a:r>
            <a:endParaRPr b="0" i="0" sz="1100" u="none" cap="none" strike="noStrike">
              <a:solidFill>
                <a:schemeClr val="dk1"/>
              </a:solidFill>
              <a:latin typeface="Didact Gothic"/>
              <a:ea typeface="Didact Gothic"/>
              <a:cs typeface="Didact Gothic"/>
              <a:sym typeface="Didact Gothic"/>
            </a:endParaRPr>
          </a:p>
          <a:p>
            <a:pPr indent="0" lvl="0" marL="3657600" marR="0" rtl="0" algn="l">
              <a:lnSpc>
                <a:spcPct val="115000"/>
              </a:lnSpc>
              <a:spcBef>
                <a:spcPts val="600"/>
              </a:spcBef>
              <a:spcAft>
                <a:spcPts val="0"/>
              </a:spcAft>
              <a:buClr>
                <a:schemeClr val="dk1"/>
              </a:buClr>
              <a:buSzPts val="1100"/>
              <a:buFont typeface="Arial"/>
              <a:buNone/>
            </a:pPr>
            <a:r>
              <a:rPr b="0" i="0" lang="en-US" sz="1100" u="none" cap="none" strike="noStrike">
                <a:solidFill>
                  <a:schemeClr val="dk1"/>
                </a:solidFill>
                <a:latin typeface="Didact Gothic"/>
                <a:ea typeface="Didact Gothic"/>
                <a:cs typeface="Didact Gothic"/>
                <a:sym typeface="Didact Gothic"/>
              </a:rPr>
              <a:t>The generate_cluster_recommendations function:</a:t>
            </a:r>
            <a:endParaRPr b="0" i="0" sz="1100" u="none" cap="none" strike="noStrike">
              <a:solidFill>
                <a:schemeClr val="dk1"/>
              </a:solidFill>
              <a:latin typeface="Didact Gothic"/>
              <a:ea typeface="Didact Gothic"/>
              <a:cs typeface="Didact Gothic"/>
              <a:sym typeface="Didact Gothic"/>
            </a:endParaRPr>
          </a:p>
          <a:p>
            <a:pPr indent="-298450" lvl="0" marL="4114800" marR="0" rtl="0" algn="l">
              <a:lnSpc>
                <a:spcPct val="115000"/>
              </a:lnSpc>
              <a:spcBef>
                <a:spcPts val="60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Groups similar customers</a:t>
            </a:r>
            <a:endParaRPr b="0" i="0" sz="1100" u="none" cap="none" strike="noStrike">
              <a:solidFill>
                <a:schemeClr val="dk1"/>
              </a:solidFill>
              <a:latin typeface="Didact Gothic"/>
              <a:ea typeface="Didact Gothic"/>
              <a:cs typeface="Didact Gothic"/>
              <a:sym typeface="Didact Gothic"/>
            </a:endParaRPr>
          </a:p>
          <a:p>
            <a:pPr indent="-298450" lvl="0" marL="41148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Handles non-buyers</a:t>
            </a:r>
            <a:endParaRPr b="0" i="0" sz="1100" u="none" cap="none" strike="noStrike">
              <a:solidFill>
                <a:schemeClr val="dk1"/>
              </a:solidFill>
              <a:latin typeface="Didact Gothic"/>
              <a:ea typeface="Didact Gothic"/>
              <a:cs typeface="Didact Gothic"/>
              <a:sym typeface="Didact Gothic"/>
            </a:endParaRPr>
          </a:p>
          <a:p>
            <a:pPr indent="-298450" lvl="0" marL="41148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Excludes products of existing interest</a:t>
            </a:r>
            <a:endParaRPr b="0" i="0" sz="1100" u="none" cap="none" strike="noStrike">
              <a:solidFill>
                <a:schemeClr val="dk1"/>
              </a:solidFill>
              <a:latin typeface="Didact Gothic"/>
              <a:ea typeface="Didact Gothic"/>
              <a:cs typeface="Didact Gothic"/>
              <a:sym typeface="Didact Gothic"/>
            </a:endParaRPr>
          </a:p>
          <a:p>
            <a:pPr indent="-298450" lvl="0" marL="41148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Provides relevant, personalized recommendations</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t/>
            </a:r>
            <a:endParaRPr b="1" i="0" sz="13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300"/>
              <a:buFont typeface="Arial"/>
              <a:buNone/>
            </a:pPr>
            <a:r>
              <a:rPr b="1" i="0" lang="en-US" sz="1300" u="none" cap="none" strike="noStrike">
                <a:solidFill>
                  <a:schemeClr val="dk1"/>
                </a:solidFill>
                <a:latin typeface="Didact Gothic"/>
                <a:ea typeface="Didact Gothic"/>
                <a:cs typeface="Didact Gothic"/>
                <a:sym typeface="Didact Gothic"/>
              </a:rPr>
              <a:t>Web Application Integration</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60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Backend: Flask API processes customer data and generates recommendations</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Frontend: HTML form for customer input</a:t>
            </a:r>
            <a:endParaRPr b="0" i="0" sz="1100" u="none" cap="none" strike="noStrike">
              <a:solidFill>
                <a:schemeClr val="dk1"/>
              </a:solidFill>
              <a:latin typeface="Didact Gothic"/>
              <a:ea typeface="Didact Gothic"/>
              <a:cs typeface="Didact Gothic"/>
              <a:sym typeface="Didact Gothic"/>
            </a:endParaRPr>
          </a:p>
          <a:p>
            <a:pPr indent="-298450" lvl="0" marL="457200" marR="0" rtl="0" algn="l">
              <a:lnSpc>
                <a:spcPct val="115000"/>
              </a:lnSpc>
              <a:spcBef>
                <a:spcPts val="0"/>
              </a:spcBef>
              <a:spcAft>
                <a:spcPts val="0"/>
              </a:spcAft>
              <a:buClr>
                <a:schemeClr val="dk1"/>
              </a:buClr>
              <a:buSzPts val="1100"/>
              <a:buFont typeface="Didact Gothic"/>
              <a:buChar char="●"/>
            </a:pPr>
            <a:r>
              <a:rPr b="0" i="0" lang="en-US" sz="1100" u="none" cap="none" strike="noStrike">
                <a:solidFill>
                  <a:schemeClr val="dk1"/>
                </a:solidFill>
                <a:latin typeface="Didact Gothic"/>
                <a:ea typeface="Didact Gothic"/>
                <a:cs typeface="Didact Gothic"/>
                <a:sym typeface="Didact Gothic"/>
              </a:rPr>
              <a:t>Pickle: Used for model persistence</a:t>
            </a:r>
            <a:endParaRPr b="0" i="0" sz="11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rgbClr val="000000"/>
              </a:buClr>
              <a:buSzPts val="1100"/>
              <a:buFont typeface="Arial"/>
              <a:buNone/>
            </a:pPr>
            <a:r>
              <a:rPr b="0" i="0" lang="en-US" sz="1100" u="none" cap="none" strike="noStrike">
                <a:solidFill>
                  <a:schemeClr val="dk1"/>
                </a:solidFill>
                <a:latin typeface="Didact Gothic"/>
                <a:ea typeface="Didact Gothic"/>
                <a:cs typeface="Didact Gothic"/>
                <a:sym typeface="Didact Gothic"/>
              </a:rPr>
              <a:t>The RFM-based system effectively personalizes product recommendations. While there's room for optimization, it provides a simple, scalable solution for tailoring suggestions based on customer behavior.</a:t>
            </a:r>
            <a:endParaRPr b="0" i="0" sz="1000" u="none" cap="none" strike="noStrike">
              <a:solidFill>
                <a:schemeClr val="dk1"/>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Didact Gothic"/>
              <a:ea typeface="Didact Gothic"/>
              <a:cs typeface="Didact Gothic"/>
              <a:sym typeface="Didact Gothic"/>
            </a:endParaRPr>
          </a:p>
        </p:txBody>
      </p:sp>
      <p:pic>
        <p:nvPicPr>
          <p:cNvPr id="629" name="Google Shape;629;p72"/>
          <p:cNvPicPr preferRelativeResize="0"/>
          <p:nvPr/>
        </p:nvPicPr>
        <p:blipFill rotWithShape="1">
          <a:blip r:embed="rId3">
            <a:alphaModFix/>
          </a:blip>
          <a:srcRect b="0" l="0" r="0" t="0"/>
          <a:stretch/>
        </p:blipFill>
        <p:spPr>
          <a:xfrm>
            <a:off x="505800" y="6067050"/>
            <a:ext cx="3283549" cy="2526127"/>
          </a:xfrm>
          <a:prstGeom prst="rect">
            <a:avLst/>
          </a:prstGeom>
          <a:noFill/>
          <a:ln cap="flat" cmpd="sng" w="19050">
            <a:solidFill>
              <a:schemeClr val="dk2"/>
            </a:solidFill>
            <a:prstDash val="solid"/>
            <a:round/>
            <a:headEnd len="sm" w="sm" type="none"/>
            <a:tailEnd len="sm" w="sm" type="none"/>
          </a:ln>
        </p:spPr>
      </p:pic>
      <p:pic>
        <p:nvPicPr>
          <p:cNvPr id="630" name="Google Shape;630;p72"/>
          <p:cNvPicPr preferRelativeResize="0"/>
          <p:nvPr/>
        </p:nvPicPr>
        <p:blipFill rotWithShape="1">
          <a:blip r:embed="rId4">
            <a:alphaModFix/>
          </a:blip>
          <a:srcRect b="0" l="0" r="0" t="0"/>
          <a:stretch/>
        </p:blipFill>
        <p:spPr>
          <a:xfrm>
            <a:off x="5042538" y="1031938"/>
            <a:ext cx="2457450" cy="4048125"/>
          </a:xfrm>
          <a:prstGeom prst="rect">
            <a:avLst/>
          </a:prstGeom>
          <a:noFill/>
          <a:ln cap="flat" cmpd="sng" w="19050">
            <a:solidFill>
              <a:schemeClr val="dk2"/>
            </a:solidFill>
            <a:prstDash val="solid"/>
            <a:round/>
            <a:headEnd len="sm" w="sm" type="none"/>
            <a:tailEnd len="sm" w="sm" type="none"/>
          </a:ln>
        </p:spPr>
      </p:pic>
      <p:pic>
        <p:nvPicPr>
          <p:cNvPr id="631" name="Google Shape;631;p72"/>
          <p:cNvPicPr preferRelativeResize="0"/>
          <p:nvPr/>
        </p:nvPicPr>
        <p:blipFill rotWithShape="1">
          <a:blip r:embed="rId5">
            <a:alphaModFix/>
          </a:blip>
          <a:srcRect b="0" l="0" r="0" t="0"/>
          <a:stretch/>
        </p:blipFill>
        <p:spPr>
          <a:xfrm>
            <a:off x="4266525" y="5293150"/>
            <a:ext cx="2846775" cy="16601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grpSp>
        <p:nvGrpSpPr>
          <p:cNvPr id="636" name="Google Shape;636;p73"/>
          <p:cNvGrpSpPr/>
          <p:nvPr/>
        </p:nvGrpSpPr>
        <p:grpSpPr>
          <a:xfrm>
            <a:off x="-1500" y="9788760"/>
            <a:ext cx="7559700" cy="925500"/>
            <a:chOff x="-1500" y="9788760"/>
            <a:chExt cx="7559700" cy="925500"/>
          </a:xfrm>
        </p:grpSpPr>
        <p:sp>
          <p:nvSpPr>
            <p:cNvPr id="637" name="Google Shape;637;p73"/>
            <p:cNvSpPr/>
            <p:nvPr/>
          </p:nvSpPr>
          <p:spPr>
            <a:xfrm flipH="1">
              <a:off x="60" y="9788760"/>
              <a:ext cx="7556700" cy="925500"/>
            </a:xfrm>
            <a:prstGeom prst="rtTriangle">
              <a:avLst/>
            </a:prstGeom>
            <a:solidFill>
              <a:srgbClr val="074E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73"/>
            <p:cNvSpPr/>
            <p:nvPr/>
          </p:nvSpPr>
          <p:spPr>
            <a:xfrm flipH="1">
              <a:off x="-1500" y="9948960"/>
              <a:ext cx="7559700" cy="7617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9" name="Google Shape;639;p73"/>
          <p:cNvSpPr/>
          <p:nvPr/>
        </p:nvSpPr>
        <p:spPr>
          <a:xfrm>
            <a:off x="505800" y="919500"/>
            <a:ext cx="6425700" cy="9134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In conclusion, our RFM-based product recommendation system represents a powerful and innovative approach to personalized marketing. By leveraging customer purchasing behavior and advanced clustering techniques, we've created a solution that not only enhances the shopping experience but also drives business growth.</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1" i="0" lang="en-US" sz="1200" u="none" cap="none" strike="noStrike">
                <a:solidFill>
                  <a:schemeClr val="dk1"/>
                </a:solidFill>
                <a:latin typeface="Didact Gothic"/>
                <a:ea typeface="Didact Gothic"/>
                <a:cs typeface="Didact Gothic"/>
                <a:sym typeface="Didact Gothic"/>
              </a:rPr>
              <a:t>Key achievements of our system include:</a:t>
            </a:r>
            <a:endParaRPr b="1" i="0" sz="1200" u="none" cap="none" strike="noStrike">
              <a:solidFill>
                <a:schemeClr val="dk1"/>
              </a:solidFill>
              <a:latin typeface="Didact Gothic"/>
              <a:ea typeface="Didact Gothic"/>
              <a:cs typeface="Didact Gothic"/>
              <a:sym typeface="Didact Gothic"/>
            </a:endParaRPr>
          </a:p>
          <a:p>
            <a:pPr indent="-304800" lvl="0" marL="457200" marR="0" rtl="0" algn="l">
              <a:lnSpc>
                <a:spcPct val="115000"/>
              </a:lnSpc>
              <a:spcBef>
                <a:spcPts val="600"/>
              </a:spcBef>
              <a:spcAft>
                <a:spcPts val="0"/>
              </a:spcAft>
              <a:buClr>
                <a:schemeClr val="dk1"/>
              </a:buClr>
              <a:buSzPts val="1200"/>
              <a:buFont typeface="Didact Gothic"/>
              <a:buAutoNum type="arabicPeriod"/>
            </a:pPr>
            <a:r>
              <a:rPr b="0" i="0" lang="en-US" sz="1200" u="none" cap="none" strike="noStrike">
                <a:solidFill>
                  <a:schemeClr val="dk1"/>
                </a:solidFill>
                <a:latin typeface="Didact Gothic"/>
                <a:ea typeface="Didact Gothic"/>
                <a:cs typeface="Didact Gothic"/>
                <a:sym typeface="Didact Gothic"/>
              </a:rPr>
              <a:t>Precise customer segmentation into 5 distinct clusters, enabling targeted marketing strategies</a:t>
            </a:r>
            <a:endParaRPr b="0" i="0" sz="1200" u="none" cap="none" strike="noStrike">
              <a:solidFill>
                <a:schemeClr val="dk1"/>
              </a:solidFill>
              <a:latin typeface="Didact Gothic"/>
              <a:ea typeface="Didact Gothic"/>
              <a:cs typeface="Didact Gothic"/>
              <a:sym typeface="Didact Gothic"/>
            </a:endParaRPr>
          </a:p>
          <a:p>
            <a:pPr indent="-304800" lvl="0" marL="457200" marR="0" rtl="0" algn="l">
              <a:lnSpc>
                <a:spcPct val="115000"/>
              </a:lnSpc>
              <a:spcBef>
                <a:spcPts val="0"/>
              </a:spcBef>
              <a:spcAft>
                <a:spcPts val="0"/>
              </a:spcAft>
              <a:buClr>
                <a:schemeClr val="dk1"/>
              </a:buClr>
              <a:buSzPts val="1200"/>
              <a:buFont typeface="Didact Gothic"/>
              <a:buAutoNum type="arabicPeriod"/>
            </a:pPr>
            <a:r>
              <a:rPr b="0" i="0" lang="en-US" sz="1200" u="none" cap="none" strike="noStrike">
                <a:solidFill>
                  <a:schemeClr val="dk1"/>
                </a:solidFill>
                <a:latin typeface="Didact Gothic"/>
                <a:ea typeface="Didact Gothic"/>
                <a:cs typeface="Didact Gothic"/>
                <a:sym typeface="Didact Gothic"/>
              </a:rPr>
              <a:t>Personalized product recommendations that significantly increase the likelihood of purchase</a:t>
            </a:r>
            <a:endParaRPr b="0" i="0" sz="1200" u="none" cap="none" strike="noStrike">
              <a:solidFill>
                <a:schemeClr val="dk1"/>
              </a:solidFill>
              <a:latin typeface="Didact Gothic"/>
              <a:ea typeface="Didact Gothic"/>
              <a:cs typeface="Didact Gothic"/>
              <a:sym typeface="Didact Gothic"/>
            </a:endParaRPr>
          </a:p>
          <a:p>
            <a:pPr indent="-304800" lvl="0" marL="457200" marR="0" rtl="0" algn="l">
              <a:lnSpc>
                <a:spcPct val="115000"/>
              </a:lnSpc>
              <a:spcBef>
                <a:spcPts val="0"/>
              </a:spcBef>
              <a:spcAft>
                <a:spcPts val="0"/>
              </a:spcAft>
              <a:buClr>
                <a:schemeClr val="dk1"/>
              </a:buClr>
              <a:buSzPts val="1200"/>
              <a:buFont typeface="Didact Gothic"/>
              <a:buAutoNum type="arabicPeriod"/>
            </a:pPr>
            <a:r>
              <a:rPr b="0" i="0" lang="en-US" sz="1200" u="none" cap="none" strike="noStrike">
                <a:solidFill>
                  <a:schemeClr val="dk1"/>
                </a:solidFill>
                <a:latin typeface="Didact Gothic"/>
                <a:ea typeface="Didact Gothic"/>
                <a:cs typeface="Didact Gothic"/>
                <a:sym typeface="Didact Gothic"/>
              </a:rPr>
              <a:t>A scalable and efficient design that can handle large datasets and integrate seamlessly with existing web platforms</a:t>
            </a:r>
            <a:endParaRPr b="0" i="0" sz="1200" u="none" cap="none" strike="noStrike">
              <a:solidFill>
                <a:schemeClr val="dk1"/>
              </a:solidFill>
              <a:latin typeface="Didact Gothic"/>
              <a:ea typeface="Didact Gothic"/>
              <a:cs typeface="Didact Gothic"/>
              <a:sym typeface="Didact Gothic"/>
            </a:endParaRPr>
          </a:p>
          <a:p>
            <a:pPr indent="-304800" lvl="0" marL="457200" marR="0" rtl="0" algn="l">
              <a:lnSpc>
                <a:spcPct val="115000"/>
              </a:lnSpc>
              <a:spcBef>
                <a:spcPts val="0"/>
              </a:spcBef>
              <a:spcAft>
                <a:spcPts val="0"/>
              </a:spcAft>
              <a:buClr>
                <a:schemeClr val="dk1"/>
              </a:buClr>
              <a:buSzPts val="1200"/>
              <a:buFont typeface="Didact Gothic"/>
              <a:buAutoNum type="arabicPeriod"/>
            </a:pPr>
            <a:r>
              <a:rPr b="0" i="0" lang="en-US" sz="1200" u="none" cap="none" strike="noStrike">
                <a:solidFill>
                  <a:schemeClr val="dk1"/>
                </a:solidFill>
                <a:latin typeface="Didact Gothic"/>
                <a:ea typeface="Didact Gothic"/>
                <a:cs typeface="Didact Gothic"/>
                <a:sym typeface="Didact Gothic"/>
              </a:rPr>
              <a:t>Clear, actionable insights for marketing teams to tailor their efforts and re-engage customers effectively</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60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While there's room for future optimizations, particularly in non-buyer identification and large-scale performance, the current system already provides a robust foundation for data-driven decision-making and customer-centric marketing.</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Didact Gothic"/>
              <a:ea typeface="Didact Gothic"/>
              <a:cs typeface="Didact Gothic"/>
              <a:sym typeface="Didact Gothic"/>
            </a:endParaRPr>
          </a:p>
          <a:p>
            <a:pPr indent="0" lvl="0" marL="0" marR="0" rtl="0" algn="l">
              <a:lnSpc>
                <a:spcPct val="115000"/>
              </a:lnSpc>
              <a:spcBef>
                <a:spcPts val="0"/>
              </a:spcBef>
              <a:spcAft>
                <a:spcPts val="0"/>
              </a:spcAft>
              <a:buClr>
                <a:schemeClr val="dk1"/>
              </a:buClr>
              <a:buSzPts val="1100"/>
              <a:buFont typeface="Arial"/>
              <a:buNone/>
            </a:pPr>
            <a:r>
              <a:rPr b="0" i="0" lang="en-US" sz="1200" u="none" cap="none" strike="noStrike">
                <a:solidFill>
                  <a:schemeClr val="dk1"/>
                </a:solidFill>
                <a:latin typeface="Didact Gothic"/>
                <a:ea typeface="Didact Gothic"/>
                <a:cs typeface="Didact Gothic"/>
                <a:sym typeface="Didact Gothic"/>
              </a:rPr>
              <a:t>By implementing this RFM-based approach, businesses can expect to see improved customer satisfaction, increased sales, and more efficient marketing spend. This project demonstrates the power of data analytics in transforming customer relationships and driving tangible business outcomes in the competitive e-commerce landscape.</a:t>
            </a:r>
            <a:endParaRPr b="0" i="0" sz="1100" u="none" cap="none" strike="noStrike">
              <a:solidFill>
                <a:schemeClr val="dk1"/>
              </a:solidFill>
              <a:latin typeface="Didact Gothic"/>
              <a:ea typeface="Didact Gothic"/>
              <a:cs typeface="Didact Gothic"/>
              <a:sym typeface="Didact Gothic"/>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272727"/>
              </a:solidFill>
              <a:latin typeface="Didact Gothic"/>
              <a:ea typeface="Didact Gothic"/>
              <a:cs typeface="Didact Gothic"/>
              <a:sym typeface="Didact Gothic"/>
            </a:endParaRPr>
          </a:p>
        </p:txBody>
      </p:sp>
      <p:sp>
        <p:nvSpPr>
          <p:cNvPr id="640" name="Google Shape;640;p73"/>
          <p:cNvSpPr txBox="1"/>
          <p:nvPr/>
        </p:nvSpPr>
        <p:spPr>
          <a:xfrm>
            <a:off x="598038" y="237300"/>
            <a:ext cx="6363600" cy="68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72727"/>
                </a:solidFill>
                <a:latin typeface="Manrope"/>
                <a:ea typeface="Manrope"/>
                <a:cs typeface="Manrope"/>
                <a:sym typeface="Manrope"/>
              </a:rPr>
              <a:t>CONCLUSION</a:t>
            </a:r>
            <a:endParaRPr b="0" i="0" sz="4100" u="none" cap="none" strike="noStrike">
              <a:solidFill>
                <a:srgbClr val="000000"/>
              </a:solidFill>
              <a:latin typeface="Arial"/>
              <a:ea typeface="Arial"/>
              <a:cs typeface="Arial"/>
              <a:sym typeface="Arial"/>
            </a:endParaRPr>
          </a:p>
        </p:txBody>
      </p:sp>
      <p:sp>
        <p:nvSpPr>
          <p:cNvPr id="641" name="Google Shape;641;p73"/>
          <p:cNvSpPr/>
          <p:nvPr/>
        </p:nvSpPr>
        <p:spPr>
          <a:xfrm flipH="1">
            <a:off x="179280" y="353160"/>
            <a:ext cx="329400" cy="329400"/>
          </a:xfrm>
          <a:prstGeom prst="rtTriangle">
            <a:avLst/>
          </a:prstGeom>
          <a:solidFill>
            <a:srgbClr val="00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2" name="Google Shape;642;p73"/>
          <p:cNvPicPr preferRelativeResize="0"/>
          <p:nvPr/>
        </p:nvPicPr>
        <p:blipFill rotWithShape="1">
          <a:blip r:embed="rId3">
            <a:alphaModFix/>
          </a:blip>
          <a:srcRect b="0" l="0" r="0" t="0"/>
          <a:stretch/>
        </p:blipFill>
        <p:spPr>
          <a:xfrm>
            <a:off x="911325" y="4952800"/>
            <a:ext cx="5734050" cy="34766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4"/>
          <p:cNvSpPr txBox="1"/>
          <p:nvPr/>
        </p:nvSpPr>
        <p:spPr>
          <a:xfrm>
            <a:off x="685800" y="667080"/>
            <a:ext cx="6188040" cy="8193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rgbClr val="272727"/>
                </a:solidFill>
                <a:latin typeface="Manrope"/>
                <a:ea typeface="Manrope"/>
                <a:cs typeface="Manrope"/>
                <a:sym typeface="Manrope"/>
              </a:rPr>
              <a:t>Ressources</a:t>
            </a:r>
            <a:endParaRPr b="0" i="0" sz="3700" u="none" cap="none" strike="noStrike">
              <a:solidFill>
                <a:srgbClr val="000000"/>
              </a:solidFill>
              <a:latin typeface="Arial"/>
              <a:ea typeface="Arial"/>
              <a:cs typeface="Arial"/>
              <a:sym typeface="Arial"/>
            </a:endParaRPr>
          </a:p>
        </p:txBody>
      </p:sp>
      <p:sp>
        <p:nvSpPr>
          <p:cNvPr id="648" name="Google Shape;648;p74"/>
          <p:cNvSpPr txBox="1"/>
          <p:nvPr/>
        </p:nvSpPr>
        <p:spPr>
          <a:xfrm>
            <a:off x="685800" y="1486450"/>
            <a:ext cx="6188100" cy="798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3"/>
              </a:rPr>
              <a:t>RFM Segmentation | PPT</a:t>
            </a:r>
            <a:r>
              <a:rPr b="0" i="0" lang="en-US" sz="1400" u="none" cap="none" strike="noStrike">
                <a:solidFill>
                  <a:schemeClr val="accent1"/>
                </a:solidFill>
                <a:latin typeface="Arial"/>
                <a:ea typeface="Arial"/>
                <a:cs typeface="Arial"/>
                <a:sym typeface="Arial"/>
              </a:rPr>
              <a:t> </a:t>
            </a:r>
            <a:endParaRPr b="0" i="0" sz="1400" u="none"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4"/>
              </a:rPr>
              <a:t>https://towardsdatascience.com/recency-frequency-monetary-model-with-python-and-how-sephora-uses-it-to-optimize-their-google-d6a0707c5f17</a:t>
            </a:r>
            <a:endParaRPr b="0" i="0" sz="1400" u="sng"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5"/>
              </a:rPr>
              <a:t>https://guillaume-martin.github.io/rfm-segmentation-with-python.html</a:t>
            </a:r>
            <a:endParaRPr b="0" i="0" sz="1400" u="sng"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6"/>
              </a:rPr>
              <a:t>https://medium.com/@ilaydakursun/customer-segmentation-with-rfm-analysis-learn-more-about-your-customers-f12b348acbd</a:t>
            </a:r>
            <a:endParaRPr b="0" i="0" sz="1400" u="sng"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7"/>
              </a:rPr>
              <a:t>https://towardsdatascience.com/find-your-best-customers-with-customer-segmentation-in-python-61d602f9eee6</a:t>
            </a:r>
            <a:endParaRPr b="0" i="0" sz="1400" u="sng"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8"/>
              </a:rPr>
              <a:t>https://towardsdatascience.com/a-gentle-introduction-on-market-basket-analysis-association-rules-fa4b986a40ce</a:t>
            </a:r>
            <a:endParaRPr b="0" i="0" sz="1400" u="none"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300"/>
              <a:buFont typeface="Arial"/>
              <a:buNone/>
            </a:pPr>
            <a:r>
              <a:rPr b="0" i="0" lang="en-US" sz="1300" u="sng" cap="none" strike="noStrike">
                <a:solidFill>
                  <a:schemeClr val="hlink"/>
                </a:solidFill>
                <a:latin typeface="Arial"/>
                <a:ea typeface="Arial"/>
                <a:cs typeface="Arial"/>
                <a:sym typeface="Arial"/>
                <a:hlinkClick r:id="rId9"/>
              </a:rPr>
              <a:t>Flowchart of product recommendation | Download Scientific Diagram</a:t>
            </a:r>
            <a:endParaRPr b="0" i="0" sz="1400" u="none" cap="none" strike="noStrike">
              <a:solidFill>
                <a:schemeClr val="accent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10"/>
              </a:rPr>
              <a:t>https://www.slideshare.net/slideshow/rfm-segmentation/46901188</a:t>
            </a:r>
            <a:endParaRPr b="0" i="0" sz="1400" u="none" cap="none" strike="noStrike">
              <a:solidFill>
                <a:schemeClr val="accent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100"/>
              <a:buFont typeface="Arial"/>
              <a:buNone/>
            </a:pPr>
            <a:r>
              <a:t/>
            </a:r>
            <a:endParaRPr b="0" i="0" sz="1100" u="none" cap="none" strike="noStrike">
              <a:solidFill>
                <a:srgbClr val="000000"/>
              </a:solidFill>
              <a:latin typeface="Didact Gothic"/>
              <a:ea typeface="Didact Gothic"/>
              <a:cs typeface="Didact Gothic"/>
              <a:sym typeface="Didact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